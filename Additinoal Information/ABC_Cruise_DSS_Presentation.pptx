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9" autoAdjust="0"/>
    <p:restoredTop sz="85014" autoAdjust="0"/>
  </p:normalViewPr>
  <p:slideViewPr>
    <p:cSldViewPr snapToGrid="0" snapToObjects="1">
      <p:cViewPr varScale="1">
        <p:scale>
          <a:sx n="68" d="100"/>
          <a:sy n="68" d="100"/>
        </p:scale>
        <p:origin x="994" y="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Revenue ($M)</c:v>
                </c:pt>
              </c:strCache>
            </c:strRef>
          </c:tx>
          <c:spPr>
            <a:solidFill>
              <a:srgbClr val="0E7C86"/>
            </a:solidFill>
            <a:effectLst/>
          </c:spPr>
          <c:invertIfNegative val="0"/>
          <c:dLbls>
            <c:numFmt formatCode="&quot;$&quot;0.0&quot;M&quot;" sourceLinked="0"/>
            <c:spPr>
              <a:noFill/>
              <a:ln>
                <a:noFill/>
              </a:ln>
              <a:effectLst/>
            </c:spPr>
            <c:txPr>
              <a:bodyPr/>
              <a:lstStyle/>
              <a:p>
                <a:pPr>
                  <a:defRPr sz="1100" b="1" i="0" u="none" strike="noStrike">
                    <a:solidFill>
                      <a:srgbClr val="1629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Queen Victoria</c:v>
                </c:pt>
                <c:pt idx="1">
                  <c:v>Crystal Symphony</c:v>
                </c:pt>
                <c:pt idx="2">
                  <c:v>Seven Seas Splendor</c:v>
                </c:pt>
              </c:strCache>
            </c:strRef>
          </c:cat>
          <c:val>
            <c:numRef>
              <c:f>Sheet1!$B$2:$B$4</c:f>
              <c:numCache>
                <c:formatCode>General</c:formatCode>
                <c:ptCount val="3"/>
                <c:pt idx="0">
                  <c:v>30.4</c:v>
                </c:pt>
                <c:pt idx="1">
                  <c:v>32.299999999999997</c:v>
                </c:pt>
                <c:pt idx="2">
                  <c:v>35.299999999999997</c:v>
                </c:pt>
              </c:numCache>
            </c:numRef>
          </c:val>
          <c:extLst>
            <c:ext xmlns:c16="http://schemas.microsoft.com/office/drawing/2014/chart" uri="{C3380CC4-5D6E-409C-BE32-E72D297353CC}">
              <c16:uniqueId val="{00000000-FCDD-4E55-BD8F-AF071F09A2F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2"/>
        <c:crosses val="autoZero"/>
        <c:auto val="1"/>
        <c:lblAlgn val="ctr"/>
        <c:lblOffset val="100"/>
        <c:noMultiLvlLbl val="1"/>
      </c:catAx>
      <c:valAx>
        <c:axId val="2094734552"/>
        <c:scaling>
          <c:orientation val="minMax"/>
          <c:max val="4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Revenue ($M)</c:v>
                </c:pt>
              </c:strCache>
            </c:strRef>
          </c:tx>
          <c:spPr>
            <a:solidFill>
              <a:srgbClr val="0B2D4D"/>
            </a:solidFill>
            <a:effectLst/>
          </c:spPr>
          <c:invertIfNegative val="0"/>
          <c:dLbls>
            <c:numFmt formatCode="&quot;$&quot;0.0&quot;M&quot;" sourceLinked="0"/>
            <c:spPr>
              <a:noFill/>
              <a:ln>
                <a:noFill/>
              </a:ln>
              <a:effectLst/>
            </c:spPr>
            <c:txPr>
              <a:bodyPr/>
              <a:lstStyle/>
              <a:p>
                <a:pPr>
                  <a:defRPr sz="1000" b="1" i="0" u="none" strike="noStrike">
                    <a:solidFill>
                      <a:srgbClr val="1629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Halifax</c:v>
                </c:pt>
                <c:pt idx="1">
                  <c:v>Charlottetown</c:v>
                </c:pt>
                <c:pt idx="2">
                  <c:v>Saint John</c:v>
                </c:pt>
                <c:pt idx="3">
                  <c:v>Quebec City</c:v>
                </c:pt>
                <c:pt idx="4">
                  <c:v>Bermuda Casino</c:v>
                </c:pt>
                <c:pt idx="5">
                  <c:v>Atlantic Casino</c:v>
                </c:pt>
              </c:strCache>
            </c:strRef>
          </c:cat>
          <c:val>
            <c:numRef>
              <c:f>Sheet1!$B$2:$B$7</c:f>
              <c:numCache>
                <c:formatCode>General</c:formatCode>
                <c:ptCount val="6"/>
                <c:pt idx="0">
                  <c:v>19.2</c:v>
                </c:pt>
                <c:pt idx="1">
                  <c:v>14.5</c:v>
                </c:pt>
                <c:pt idx="2">
                  <c:v>12</c:v>
                </c:pt>
                <c:pt idx="3">
                  <c:v>11</c:v>
                </c:pt>
                <c:pt idx="4">
                  <c:v>9.3000000000000007</c:v>
                </c:pt>
                <c:pt idx="5">
                  <c:v>8.6999999999999993</c:v>
                </c:pt>
              </c:numCache>
            </c:numRef>
          </c:val>
          <c:extLst>
            <c:ext xmlns:c16="http://schemas.microsoft.com/office/drawing/2014/chart" uri="{C3380CC4-5D6E-409C-BE32-E72D297353CC}">
              <c16:uniqueId val="{00000000-2FB3-4BD6-A485-85932AF36CCC}"/>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6293A"/>
                </a:solidFill>
                <a:latin typeface="Arial"/>
              </a:defRPr>
            </a:pPr>
            <a:endParaRPr lang="en-US"/>
          </a:p>
        </c:txPr>
        <c:crossAx val="2094734552"/>
        <c:crosses val="autoZero"/>
        <c:auto val="1"/>
        <c:lblAlgn val="ctr"/>
        <c:lblOffset val="100"/>
        <c:noMultiLvlLbl val="1"/>
      </c:catAx>
      <c:valAx>
        <c:axId val="2094734552"/>
        <c:scaling>
          <c:orientation val="minMax"/>
          <c:max val="22"/>
          <c:min val="0"/>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C6B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Guests / month</c:v>
                </c:pt>
              </c:strCache>
            </c:strRef>
          </c:tx>
          <c:spPr>
            <a:ln w="38100" cap="flat">
              <a:solidFill>
                <a:srgbClr val="0E7C86"/>
              </a:solidFill>
              <a:prstDash val="solid"/>
              <a:round/>
            </a:ln>
            <a:effectLst/>
          </c:spPr>
          <c:marker>
            <c:symbol val="circle"/>
            <c:size val="5"/>
            <c:spPr>
              <a:solidFill>
                <a:srgbClr val="0E7C86"/>
              </a:solidFill>
              <a:ln w="9525" cap="flat">
                <a:solidFill>
                  <a:srgbClr val="0E7C86"/>
                </a:solidFill>
                <a:prstDash val="solid"/>
                <a:round/>
              </a:ln>
              <a:effectLst/>
            </c:spPr>
          </c:marker>
          <c:cat>
            <c:strRef>
              <c:f>Sheet1!$A$2:$A$14</c:f>
              <c:strCache>
                <c:ptCount val="13"/>
                <c:pt idx="0">
                  <c:v>Jun</c:v>
                </c:pt>
                <c:pt idx="1">
                  <c:v>Jul</c:v>
                </c:pt>
                <c:pt idx="2">
                  <c:v>Aug</c:v>
                </c:pt>
                <c:pt idx="3">
                  <c:v>Sep</c:v>
                </c:pt>
                <c:pt idx="4">
                  <c:v>Oct</c:v>
                </c:pt>
                <c:pt idx="5">
                  <c:v>Nov</c:v>
                </c:pt>
                <c:pt idx="6">
                  <c:v>Dec</c:v>
                </c:pt>
                <c:pt idx="7">
                  <c:v>Jan</c:v>
                </c:pt>
                <c:pt idx="8">
                  <c:v>Feb</c:v>
                </c:pt>
                <c:pt idx="9">
                  <c:v>Mar</c:v>
                </c:pt>
                <c:pt idx="10">
                  <c:v>Apr</c:v>
                </c:pt>
                <c:pt idx="11">
                  <c:v>May</c:v>
                </c:pt>
                <c:pt idx="12">
                  <c:v>Jun</c:v>
                </c:pt>
              </c:strCache>
            </c:strRef>
          </c:cat>
          <c:val>
            <c:numRef>
              <c:f>Sheet1!$B$2:$B$14</c:f>
              <c:numCache>
                <c:formatCode>General</c:formatCode>
                <c:ptCount val="13"/>
                <c:pt idx="0">
                  <c:v>13382</c:v>
                </c:pt>
                <c:pt idx="1">
                  <c:v>13307</c:v>
                </c:pt>
                <c:pt idx="2">
                  <c:v>13379</c:v>
                </c:pt>
                <c:pt idx="3">
                  <c:v>9924</c:v>
                </c:pt>
                <c:pt idx="4">
                  <c:v>9283</c:v>
                </c:pt>
                <c:pt idx="5">
                  <c:v>7357</c:v>
                </c:pt>
                <c:pt idx="6">
                  <c:v>11777</c:v>
                </c:pt>
                <c:pt idx="7">
                  <c:v>5588</c:v>
                </c:pt>
                <c:pt idx="8">
                  <c:v>7817</c:v>
                </c:pt>
                <c:pt idx="9">
                  <c:v>9737</c:v>
                </c:pt>
                <c:pt idx="10">
                  <c:v>7940</c:v>
                </c:pt>
                <c:pt idx="11">
                  <c:v>10394</c:v>
                </c:pt>
                <c:pt idx="12">
                  <c:v>9716</c:v>
                </c:pt>
              </c:numCache>
            </c:numRef>
          </c:val>
          <c:smooth val="1"/>
          <c:extLst>
            <c:ext xmlns:c16="http://schemas.microsoft.com/office/drawing/2014/chart" uri="{C3380CC4-5D6E-409C-BE32-E72D297353CC}">
              <c16:uniqueId val="{00000000-C9DD-418C-96BB-A1FD50494358}"/>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C6B7A"/>
                </a:solidFill>
                <a:latin typeface="Arial"/>
              </a:defRPr>
            </a:pPr>
            <a:endParaRPr lang="en-US"/>
          </a:p>
        </c:txPr>
        <c:crossAx val="2094734552"/>
        <c:crosses val="autoZero"/>
        <c:auto val="1"/>
        <c:lblAlgn val="ctr"/>
        <c:lblOffset val="100"/>
        <c:noMultiLvlLbl val="1"/>
      </c:catAx>
      <c:valAx>
        <c:axId val="2094734552"/>
        <c:scaling>
          <c:orientation val="minMax"/>
          <c:max val="150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stacked"/>
        <c:varyColors val="0"/>
        <c:ser>
          <c:idx val="0"/>
          <c:order val="0"/>
          <c:tx>
            <c:strRef>
              <c:f>Sheet1!$B$1</c:f>
              <c:strCache>
                <c:ptCount val="1"/>
                <c:pt idx="0">
                  <c:v>Commission paid</c:v>
                </c:pt>
              </c:strCache>
            </c:strRef>
          </c:tx>
          <c:spPr>
            <a:solidFill>
              <a:srgbClr val="E0A82E"/>
            </a:solidFill>
            <a:effectLst/>
          </c:spPr>
          <c:invertIfNegative val="0"/>
          <c:cat>
            <c:strRef>
              <c:f>Sheet1!$A$2:$A$3</c:f>
              <c:strCache>
                <c:ptCount val="2"/>
                <c:pt idx="0">
                  <c:v>Today (0% in-house)</c:v>
                </c:pt>
                <c:pt idx="1">
                  <c:v>Target (50% in-house)</c:v>
                </c:pt>
              </c:strCache>
            </c:strRef>
          </c:cat>
          <c:val>
            <c:numRef>
              <c:f>Sheet1!$B$2:$B$3</c:f>
              <c:numCache>
                <c:formatCode>General</c:formatCode>
                <c:ptCount val="2"/>
                <c:pt idx="0">
                  <c:v>11.1</c:v>
                </c:pt>
                <c:pt idx="1">
                  <c:v>5.6</c:v>
                </c:pt>
              </c:numCache>
            </c:numRef>
          </c:val>
          <c:extLst>
            <c:ext xmlns:c16="http://schemas.microsoft.com/office/drawing/2014/chart" uri="{C3380CC4-5D6E-409C-BE32-E72D297353CC}">
              <c16:uniqueId val="{00000000-BD20-4281-BFC1-4840377607DC}"/>
            </c:ext>
          </c:extLst>
        </c:ser>
        <c:ser>
          <c:idx val="1"/>
          <c:order val="1"/>
          <c:tx>
            <c:strRef>
              <c:f>Sheet1!$C$1</c:f>
              <c:strCache>
                <c:ptCount val="1"/>
                <c:pt idx="0">
                  <c:v>Commission saved</c:v>
                </c:pt>
              </c:strCache>
            </c:strRef>
          </c:tx>
          <c:spPr>
            <a:solidFill>
              <a:srgbClr val="0E7C86"/>
            </a:solidFill>
            <a:effectLst/>
          </c:spPr>
          <c:invertIfNegative val="0"/>
          <c:cat>
            <c:strRef>
              <c:f>Sheet1!$A$2:$A$3</c:f>
              <c:strCache>
                <c:ptCount val="2"/>
                <c:pt idx="0">
                  <c:v>Today (0% in-house)</c:v>
                </c:pt>
                <c:pt idx="1">
                  <c:v>Target (50% in-house)</c:v>
                </c:pt>
              </c:strCache>
            </c:strRef>
          </c:cat>
          <c:val>
            <c:numRef>
              <c:f>Sheet1!$C$2:$C$3</c:f>
              <c:numCache>
                <c:formatCode>General</c:formatCode>
                <c:ptCount val="2"/>
                <c:pt idx="0">
                  <c:v>0</c:v>
                </c:pt>
                <c:pt idx="1">
                  <c:v>5.5</c:v>
                </c:pt>
              </c:numCache>
            </c:numRef>
          </c:val>
          <c:extLst>
            <c:ext xmlns:c16="http://schemas.microsoft.com/office/drawing/2014/chart" uri="{C3380CC4-5D6E-409C-BE32-E72D297353CC}">
              <c16:uniqueId val="{00000001-BD20-4281-BFC1-4840377607DC}"/>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6293A"/>
                </a:solidFill>
                <a:latin typeface="Arial"/>
              </a:defRPr>
            </a:pPr>
            <a:endParaRPr lang="en-US"/>
          </a:p>
        </c:txPr>
        <c:crossAx val="2094734552"/>
        <c:crosses val="autoZero"/>
        <c:auto val="1"/>
        <c:lblAlgn val="ctr"/>
        <c:lblOffset val="100"/>
        <c:noMultiLvlLbl val="1"/>
      </c:catAx>
      <c:valAx>
        <c:axId val="2094734552"/>
        <c:scaling>
          <c:orientation val="minMax"/>
          <c:max val="12"/>
          <c:min val="0"/>
        </c:scaling>
        <c:delete val="0"/>
        <c:axPos val="l"/>
        <c:majorGridlines>
          <c:spPr>
            <a:ln w="6350" cap="flat">
              <a:solidFill>
                <a:srgbClr val="E2E8F0"/>
              </a:solidFill>
              <a:prstDash val="solid"/>
              <a:round/>
            </a:ln>
          </c:spPr>
        </c:majorGridlines>
        <c:title>
          <c:tx>
            <c:rich>
              <a:bodyPr/>
              <a:lstStyle/>
              <a:p>
                <a:pPr>
                  <a:defRPr sz="900" b="0" i="0" u="none" strike="noStrike">
                    <a:solidFill>
                      <a:srgbClr val="5C6B7A"/>
                    </a:solidFill>
                    <a:latin typeface="Arial"/>
                  </a:defRPr>
                </a:pPr>
                <a:r>
                  <a:rPr lang="en-US" sz="900" b="0" i="0" u="none" strike="noStrike">
                    <a:solidFill>
                      <a:srgbClr val="5C6B7A"/>
                    </a:solidFill>
                    <a:latin typeface="Arial"/>
                  </a:rPr>
                  <a:t>$ millions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C6B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C6B7A"/>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9123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(~0:30). Welcome the room. One line: we built a working prototype that brings ABC's reservations in-house and gives managers a decision support system. Introduce the four of us by role. Total talk target: 20 minutes, leaving ~3 for Q&amp;A.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(~0:30). Quick map so they know where we are going. Don't read every line; point at the four blocks: problem, solution, the DSS, and the savings. We will finish with a live demo.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(~1:30). Today 100% of bookings go through travel agents at 10-15% commission, roughly $11M a year in our modeled baseline, and ABC owns no operating data. The opportunity: bigger lines capture ~50% in-house at zero commission. Matching that turns about half the spend into $4-5M of recurring savings. Pause on the $11M and the $4-5M.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(~1:15). ABC sails from New York: 7/9-night Canada cruises and 1-day casino 'cruises to somewhere'. Three small ships sized to the ~300 crew in the case. Note capacities are our assumptions; the case gives none. Don't dwell, the audience just needs the shape of the business.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(~1:00). Four things the prototype must prove: book end-to-end in-house including payment; handle both products and customer types; feed a manager DSS; and demonstrate the cost-saving thesis quantitatively. These map directly to how we will be graded.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(~1:30). The heart of the design: two interfaces, ONE shared data layer. Customers book on the public site; staff run the business on the dashboard. A booking on one side appears on the other instantly. Emphasize the closed loop and that it runs fully offline, no server needed.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DSS ANATOMY (~1:45 - KEY SLIDE). This is exactly how the project is graded, so slow down. Walk left to right: INPUTS are the data, many variable types, about 34 fields per booking, enough to be interesting. MODEL is the logic: dynamic pricing, the savings model, the forecasts, the scheduling rules. INTERACTIVITY is what managers touch: sliders, what-if capture %, scope filters, live charts. OUTPUT is the decision: price it, schedule it, release rooms, push capture to 50%. Close with the bottom line: assumptions are balanced and documented, and we are judged on solving the decision problem, not on the code.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DIKW (~1:30). This is Dr. Poranki's lens, so spend a beat here. Each booking is raw DATA, the log makes it INFORMATION, analytics turn it into KNOWLEDGE, and managers act on it (pricing, scheduling, capture) as WISDOM. Walk up the pyramid once, left to right matching the labels.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t>
            </a:r>
            <a:r>
              <a:rPr lang="en-US"/>
              <a:t>FLOW ( ~</a:t>
            </a:r>
            <a:r>
              <a:rPr lang="en-US" dirty="0"/>
              <a:t>1:00). Booking to log to revenue management to DSS dashboards, exactly the chain Jane described. Highlight the feedback loop: prices set by managers flow back to the customer site. Mention the self-contained tech stack briefly.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PROCESS FLOW (~1:15). The reservation wizard, prospect to paid booking. Seven steps for a Canada cruise; the casino day cruise skips Room and Dining, the 'relatively simple' path from the interview. If demoing, this is the screen you'll show live.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&amp; OUTPUTS (~1:00). Left: what the customer selects. Middle: what the company configures in admin. Right (dark card): what the system produces, a paid reservation plus all the DSS metrics. Keep it quick, it's a reference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(~1:30). Airline-style fare formula, fully company-controlled. Dynamic pricing reacts to two signals: demand/occupancy and time-to-departure, bounded 0.6x to 1.8x and shown to the guest. This is the case's 'revenue management updates pricing as bookings go'. Mention 10% group rate.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DSS DASHBOARD (~1:30). The six tools managers use. Read the KPI strip first: ~19k bookings, $98M revenue, 3 ships, 12 months seeded. Then the six tabs. Don't read all six descriptions; name them and say analytics and forecasting are next.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ANALYTICS (~1:15). Real outputs from the log. Revenue is balanced across the three ships (~$30-35M each). Canada ports like Halifax drive the most revenue even though casino sailings drive the most volume, a Pareto insight managers can act on (where to add capacity).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FORECASTING (~1:30). Two models matched to targets. Revenue: multiple linear regression with seasonality and break dummies. Demand: multiplicative seasonal decomposition with a linear trend, through December. The line chart shows why: clear summer peak, January trough, December holiday bump. We chose decomposition over Holt-Winters because we only have one seasonal cycle.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 &amp; SAVINGS (~1:30). The thesis in numbers. ~$11M paid today; target 50% in-house capture; ~$4-5M saved per year. The stacked bar shows today (all paid) vs target (half avoided). It's a live what-if: slide the capture % and savings move. Savings compound as adoption grows.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(~1:15). Walk the math once: $200 base + $95x7 cabin = $865/guest, x2 = $1,730, +12% tax = $1,938 total. Booked in-house, ABC keeps ~$242 of commission. Then the DSS effects: log, capture %, dynamic pricing. Concrete and memorable.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ASSUMPTIONS &amp; LIMITATIONS (~1:00). Be honest and brief. Left: our documented assumptions (graded criterion). Right: limitations and the roadmap, server + database, real auth, a second year of data for Holt-Winters, payment gateway. Shows we know what production needs.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DEMO (~1:00 + demo). Recap the three wins, then go live: open the Streamlit app, make one booking on the customer site, switch to the dashboard, show it appear and the savings tick. Close with thanks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8.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5.png"/><Relationship Id="rId5" Type="http://schemas.openxmlformats.org/officeDocument/2006/relationships/image" Target="../media/image21.png"/><Relationship Id="rId10"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26.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hyperlink" Target="https://team-1-ssie-510-abc-cruise-lines-dss.streamlit.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D4D"/>
        </a:solidFill>
        <a:effectLst/>
      </p:bgPr>
    </p:bg>
    <p:spTree>
      <p:nvGrpSpPr>
        <p:cNvPr id="1" name=""/>
        <p:cNvGrpSpPr/>
        <p:nvPr/>
      </p:nvGrpSpPr>
      <p:grpSpPr>
        <a:xfrm>
          <a:off x="0" y="0"/>
          <a:ext cx="0" cy="0"/>
          <a:chOff x="0" y="0"/>
          <a:chExt cx="0" cy="0"/>
        </a:xfrm>
      </p:grpSpPr>
      <p:sp>
        <p:nvSpPr>
          <p:cNvPr id="2" name="Shape 0"/>
          <p:cNvSpPr/>
          <p:nvPr/>
        </p:nvSpPr>
        <p:spPr>
          <a:xfrm>
            <a:off x="-1828800" y="4572000"/>
            <a:ext cx="8229600" cy="2926080"/>
          </a:xfrm>
          <a:prstGeom prst="ellipse">
            <a:avLst/>
          </a:prstGeom>
          <a:solidFill>
            <a:srgbClr val="0E7C86">
              <a:alpha val="22000"/>
            </a:srgbClr>
          </a:solidFill>
          <a:ln/>
        </p:spPr>
        <p:txBody>
          <a:bodyPr/>
          <a:lstStyle/>
          <a:p>
            <a:endParaRPr lang="en-US"/>
          </a:p>
        </p:txBody>
      </p:sp>
      <p:sp>
        <p:nvSpPr>
          <p:cNvPr id="3" name="Shape 1"/>
          <p:cNvSpPr/>
          <p:nvPr/>
        </p:nvSpPr>
        <p:spPr>
          <a:xfrm>
            <a:off x="4572000" y="5029200"/>
            <a:ext cx="10058400" cy="2926080"/>
          </a:xfrm>
          <a:prstGeom prst="ellipse">
            <a:avLst/>
          </a:prstGeom>
          <a:solidFill>
            <a:srgbClr val="1C9AA5">
              <a:alpha val="16000"/>
            </a:srgbClr>
          </a:solidFill>
          <a:ln/>
        </p:spPr>
        <p:txBody>
          <a:bodyPr/>
          <a:lstStyle/>
          <a:p>
            <a:endParaRPr lang="en-US"/>
          </a:p>
        </p:txBody>
      </p:sp>
      <p:sp>
        <p:nvSpPr>
          <p:cNvPr id="4" name="Shape 2"/>
          <p:cNvSpPr/>
          <p:nvPr/>
        </p:nvSpPr>
        <p:spPr>
          <a:xfrm>
            <a:off x="1828800" y="5577840"/>
            <a:ext cx="10972800" cy="2743200"/>
          </a:xfrm>
          <a:prstGeom prst="ellipse">
            <a:avLst/>
          </a:prstGeom>
          <a:solidFill>
            <a:srgbClr val="E0A82E">
              <a:alpha val="10000"/>
            </a:srgbClr>
          </a:solidFill>
          <a:ln/>
        </p:spPr>
        <p:txBody>
          <a:bodyPr/>
          <a:lstStyle/>
          <a:p>
            <a:endParaRPr lang="en-US"/>
          </a:p>
        </p:txBody>
      </p:sp>
      <p:sp>
        <p:nvSpPr>
          <p:cNvPr id="5" name="Shape 3"/>
          <p:cNvSpPr/>
          <p:nvPr/>
        </p:nvSpPr>
        <p:spPr>
          <a:xfrm>
            <a:off x="777240" y="731520"/>
            <a:ext cx="960120" cy="96012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036472" y="990752"/>
            <a:ext cx="441655" cy="441655"/>
          </a:xfrm>
          <a:prstGeom prst="rect">
            <a:avLst/>
          </a:prstGeom>
        </p:spPr>
      </p:pic>
      <p:sp>
        <p:nvSpPr>
          <p:cNvPr id="7" name="Text 4"/>
          <p:cNvSpPr/>
          <p:nvPr/>
        </p:nvSpPr>
        <p:spPr>
          <a:xfrm>
            <a:off x="1920240" y="914400"/>
            <a:ext cx="9144000" cy="365760"/>
          </a:xfrm>
          <a:prstGeom prst="rect">
            <a:avLst/>
          </a:prstGeom>
          <a:noFill/>
          <a:ln/>
        </p:spPr>
        <p:txBody>
          <a:bodyPr wrap="square" lIns="0" tIns="0" rIns="0" bIns="0" rtlCol="0" anchor="ctr"/>
          <a:lstStyle/>
          <a:p>
            <a:pPr marL="0" indent="0">
              <a:buNone/>
            </a:pPr>
            <a:r>
              <a:rPr lang="en-US" sz="1300" b="1" kern="0" spc="200" dirty="0">
                <a:solidFill>
                  <a:srgbClr val="9FC6DC"/>
                </a:solidFill>
                <a:latin typeface="Arial" pitchFamily="34" charset="0"/>
                <a:ea typeface="Arial" pitchFamily="34" charset="-122"/>
                <a:cs typeface="Arial" pitchFamily="34" charset="-120"/>
              </a:rPr>
              <a:t>SSIE 510  ·  ENTERPRISE SYSTEMS ENGINEERING  ·  SUMMER 2026</a:t>
            </a:r>
            <a:endParaRPr lang="en-US" sz="1300" dirty="0"/>
          </a:p>
        </p:txBody>
      </p:sp>
      <p:sp>
        <p:nvSpPr>
          <p:cNvPr id="8" name="Text 5"/>
          <p:cNvSpPr/>
          <p:nvPr/>
        </p:nvSpPr>
        <p:spPr>
          <a:xfrm>
            <a:off x="731520" y="1965960"/>
            <a:ext cx="10972800" cy="868680"/>
          </a:xfrm>
          <a:prstGeom prst="rect">
            <a:avLst/>
          </a:prstGeom>
          <a:noFill/>
          <a:ln/>
        </p:spPr>
        <p:txBody>
          <a:bodyPr wrap="square" lIns="0" tIns="0" rIns="0" bIns="0" rtlCol="0" anchor="ctr"/>
          <a:lstStyle/>
          <a:p>
            <a:pPr marL="0" indent="0">
              <a:buNone/>
            </a:pPr>
            <a:r>
              <a:rPr lang="en-US" sz="5000" b="1" dirty="0">
                <a:solidFill>
                  <a:srgbClr val="FFFFFF"/>
                </a:solidFill>
                <a:latin typeface="Arial" pitchFamily="34" charset="0"/>
                <a:ea typeface="Arial" pitchFamily="34" charset="-122"/>
                <a:cs typeface="Arial" pitchFamily="34" charset="-120"/>
              </a:rPr>
              <a:t>ABC Cruise Lines</a:t>
            </a:r>
            <a:endParaRPr lang="en-US" sz="5000" dirty="0"/>
          </a:p>
        </p:txBody>
      </p:sp>
      <p:sp>
        <p:nvSpPr>
          <p:cNvPr id="9" name="Text 6"/>
          <p:cNvSpPr/>
          <p:nvPr/>
        </p:nvSpPr>
        <p:spPr>
          <a:xfrm>
            <a:off x="731520" y="2834640"/>
            <a:ext cx="10972800" cy="640080"/>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In-House Reservation System </a:t>
            </a:r>
            <a:r>
              <a:rPr lang="en-US" sz="2800" b="1" dirty="0">
                <a:solidFill>
                  <a:srgbClr val="E0A82E"/>
                </a:solidFill>
                <a:latin typeface="Arial" pitchFamily="34" charset="0"/>
                <a:ea typeface="Arial" pitchFamily="34" charset="-122"/>
                <a:cs typeface="Arial" pitchFamily="34" charset="-120"/>
              </a:rPr>
              <a:t>+ </a:t>
            </a:r>
            <a:r>
              <a:rPr lang="en-US" sz="2800" b="1" dirty="0">
                <a:solidFill>
                  <a:srgbClr val="FFFFFF"/>
                </a:solidFill>
                <a:latin typeface="Arial" pitchFamily="34" charset="0"/>
                <a:ea typeface="Arial" pitchFamily="34" charset="-122"/>
                <a:cs typeface="Arial" pitchFamily="34" charset="-120"/>
              </a:rPr>
              <a:t>Decision Support System</a:t>
            </a:r>
            <a:endParaRPr lang="en-US" sz="2800" dirty="0"/>
          </a:p>
        </p:txBody>
      </p:sp>
      <p:sp>
        <p:nvSpPr>
          <p:cNvPr id="10" name="Text 7"/>
          <p:cNvSpPr/>
          <p:nvPr/>
        </p:nvSpPr>
        <p:spPr>
          <a:xfrm>
            <a:off x="749808" y="3611880"/>
            <a:ext cx="8595360" cy="822960"/>
          </a:xfrm>
          <a:prstGeom prst="rect">
            <a:avLst/>
          </a:prstGeom>
          <a:noFill/>
          <a:ln/>
        </p:spPr>
        <p:txBody>
          <a:bodyPr wrap="square" lIns="0" tIns="0" rIns="0" bIns="0" rtlCol="0" anchor="ctr"/>
          <a:lstStyle/>
          <a:p>
            <a:pPr marL="0" indent="0">
              <a:lnSpc>
                <a:spcPct val="115000"/>
              </a:lnSpc>
              <a:buNone/>
            </a:pPr>
            <a:r>
              <a:rPr lang="en-US" sz="1500" dirty="0">
                <a:solidFill>
                  <a:srgbClr val="C9DCEA"/>
                </a:solidFill>
                <a:latin typeface="Arial" pitchFamily="34" charset="0"/>
                <a:ea typeface="Arial" pitchFamily="34" charset="-122"/>
                <a:cs typeface="Arial" pitchFamily="34" charset="-120"/>
              </a:rPr>
              <a:t>A working DSS prototype that brings reservations in-house, eliminates travel-agent commissions, and gives operational managers cost, demand, and revenue decision support.</a:t>
            </a:r>
            <a:endParaRPr lang="en-US" sz="1500" dirty="0"/>
          </a:p>
        </p:txBody>
      </p:sp>
      <p:sp>
        <p:nvSpPr>
          <p:cNvPr id="31" name="Shape 8">
            <a:extLst>
              <a:ext uri="{FF2B5EF4-FFF2-40B4-BE49-F238E27FC236}">
                <a16:creationId xmlns:a16="http://schemas.microsoft.com/office/drawing/2014/main" id="{12F24560-0D17-30AB-E8F2-5E41BF2E199D}"/>
              </a:ext>
            </a:extLst>
          </p:cNvPr>
          <p:cNvSpPr/>
          <p:nvPr/>
        </p:nvSpPr>
        <p:spPr>
          <a:xfrm>
            <a:off x="731520" y="4983480"/>
            <a:ext cx="10698480" cy="1234440"/>
          </a:xfrm>
          <a:prstGeom prst="roundRect">
            <a:avLst>
              <a:gd name="adj" fmla="val 7407"/>
            </a:avLst>
          </a:prstGeom>
          <a:solidFill>
            <a:srgbClr val="13395F"/>
          </a:solidFill>
          <a:ln w="12700">
            <a:solidFill>
              <a:srgbClr val="27496B"/>
            </a:solidFill>
            <a:prstDash val="solid"/>
          </a:ln>
        </p:spPr>
        <p:txBody>
          <a:bodyPr/>
          <a:lstStyle/>
          <a:p>
            <a:endParaRPr lang="en-US"/>
          </a:p>
        </p:txBody>
      </p:sp>
      <p:sp>
        <p:nvSpPr>
          <p:cNvPr id="32" name="Text 9">
            <a:extLst>
              <a:ext uri="{FF2B5EF4-FFF2-40B4-BE49-F238E27FC236}">
                <a16:creationId xmlns:a16="http://schemas.microsoft.com/office/drawing/2014/main" id="{16DDBA6A-20F2-7973-D675-758676128921}"/>
              </a:ext>
            </a:extLst>
          </p:cNvPr>
          <p:cNvSpPr/>
          <p:nvPr/>
        </p:nvSpPr>
        <p:spPr>
          <a:xfrm>
            <a:off x="960120" y="5138928"/>
            <a:ext cx="2514600" cy="320040"/>
          </a:xfrm>
          <a:prstGeom prst="rect">
            <a:avLst/>
          </a:prstGeom>
          <a:noFill/>
          <a:ln/>
        </p:spPr>
        <p:txBody>
          <a:bodyPr wrap="square" lIns="0" tIns="0" rIns="0" bIns="0" rtlCol="0" anchor="ctr"/>
          <a:lstStyle/>
          <a:p>
            <a:r>
              <a:rPr lang="en-US" sz="1400" b="1" dirty="0">
                <a:solidFill>
                  <a:srgbClr val="FFFFFF"/>
                </a:solidFill>
                <a:latin typeface="Arial" pitchFamily="34" charset="0"/>
                <a:cs typeface="Arial" pitchFamily="34" charset="-120"/>
              </a:rPr>
              <a:t>Heba Jaradat</a:t>
            </a:r>
          </a:p>
        </p:txBody>
      </p:sp>
      <p:sp>
        <p:nvSpPr>
          <p:cNvPr id="33" name="Text 10">
            <a:extLst>
              <a:ext uri="{FF2B5EF4-FFF2-40B4-BE49-F238E27FC236}">
                <a16:creationId xmlns:a16="http://schemas.microsoft.com/office/drawing/2014/main" id="{AE13E14E-DF43-1A56-D9FB-9E2AEEE5DF1E}"/>
              </a:ext>
            </a:extLst>
          </p:cNvPr>
          <p:cNvSpPr/>
          <p:nvPr/>
        </p:nvSpPr>
        <p:spPr>
          <a:xfrm>
            <a:off x="960120" y="5468112"/>
            <a:ext cx="2514600" cy="274320"/>
          </a:xfrm>
          <a:prstGeom prst="rect">
            <a:avLst/>
          </a:prstGeom>
          <a:noFill/>
          <a:ln/>
        </p:spPr>
        <p:txBody>
          <a:bodyPr wrap="square" lIns="0" tIns="0" rIns="0" bIns="0" rtlCol="0" anchor="ctr"/>
          <a:lstStyle/>
          <a:p>
            <a:r>
              <a:rPr lang="en-US" sz="1100" dirty="0">
                <a:solidFill>
                  <a:srgbClr val="E0A82E"/>
                </a:solidFill>
                <a:latin typeface="Arial" pitchFamily="34" charset="0"/>
                <a:ea typeface="Arial" pitchFamily="34" charset="-122"/>
                <a:cs typeface="Arial" pitchFamily="34" charset="-120"/>
              </a:rPr>
              <a:t>Data &amp; Assumptions</a:t>
            </a:r>
            <a:endParaRPr lang="en-US" sz="1100" dirty="0"/>
          </a:p>
        </p:txBody>
      </p:sp>
      <p:sp>
        <p:nvSpPr>
          <p:cNvPr id="34" name="Text 11">
            <a:extLst>
              <a:ext uri="{FF2B5EF4-FFF2-40B4-BE49-F238E27FC236}">
                <a16:creationId xmlns:a16="http://schemas.microsoft.com/office/drawing/2014/main" id="{997F1727-818A-E352-851B-9F6FE3294D36}"/>
              </a:ext>
            </a:extLst>
          </p:cNvPr>
          <p:cNvSpPr/>
          <p:nvPr/>
        </p:nvSpPr>
        <p:spPr>
          <a:xfrm>
            <a:off x="3611880" y="5138928"/>
            <a:ext cx="2514600" cy="320040"/>
          </a:xfrm>
          <a:prstGeom prst="rect">
            <a:avLst/>
          </a:prstGeom>
          <a:noFill/>
          <a:ln/>
        </p:spPr>
        <p:txBody>
          <a:bodyPr wrap="square" lIns="0" tIns="0" rIns="0" bIns="0" rtlCol="0" anchor="ctr"/>
          <a:lstStyle/>
          <a:p>
            <a:r>
              <a:rPr lang="en-US" sz="1400" b="1" dirty="0">
                <a:solidFill>
                  <a:srgbClr val="FFFFFF"/>
                </a:solidFill>
                <a:latin typeface="Arial" pitchFamily="34" charset="0"/>
                <a:cs typeface="Arial" pitchFamily="34" charset="-120"/>
              </a:rPr>
              <a:t>Mohammad El Frieh</a:t>
            </a:r>
          </a:p>
        </p:txBody>
      </p:sp>
      <p:sp>
        <p:nvSpPr>
          <p:cNvPr id="35" name="Text 12">
            <a:extLst>
              <a:ext uri="{FF2B5EF4-FFF2-40B4-BE49-F238E27FC236}">
                <a16:creationId xmlns:a16="http://schemas.microsoft.com/office/drawing/2014/main" id="{65588EE9-D574-4AE4-A231-1FED6CD9D6EF}"/>
              </a:ext>
            </a:extLst>
          </p:cNvPr>
          <p:cNvSpPr/>
          <p:nvPr/>
        </p:nvSpPr>
        <p:spPr>
          <a:xfrm>
            <a:off x="3611880" y="5468112"/>
            <a:ext cx="2514600" cy="274320"/>
          </a:xfrm>
          <a:prstGeom prst="rect">
            <a:avLst/>
          </a:prstGeom>
          <a:noFill/>
          <a:ln/>
        </p:spPr>
        <p:txBody>
          <a:bodyPr wrap="square" lIns="0" tIns="0" rIns="0" bIns="0" rtlCol="0" anchor="ctr"/>
          <a:lstStyle/>
          <a:p>
            <a:r>
              <a:rPr lang="en-US" sz="1100" dirty="0">
                <a:solidFill>
                  <a:srgbClr val="E0A82E"/>
                </a:solidFill>
                <a:latin typeface="Arial" pitchFamily="34" charset="0"/>
                <a:cs typeface="Arial" pitchFamily="34" charset="-120"/>
              </a:rPr>
              <a:t>Systems &amp; Reporting</a:t>
            </a:r>
          </a:p>
        </p:txBody>
      </p:sp>
      <p:sp>
        <p:nvSpPr>
          <p:cNvPr id="36" name="Text 13">
            <a:extLst>
              <a:ext uri="{FF2B5EF4-FFF2-40B4-BE49-F238E27FC236}">
                <a16:creationId xmlns:a16="http://schemas.microsoft.com/office/drawing/2014/main" id="{4BE85C8A-4532-9422-2E73-C2C5355A027D}"/>
              </a:ext>
            </a:extLst>
          </p:cNvPr>
          <p:cNvSpPr/>
          <p:nvPr/>
        </p:nvSpPr>
        <p:spPr>
          <a:xfrm>
            <a:off x="6263640" y="5138928"/>
            <a:ext cx="2514600" cy="320040"/>
          </a:xfrm>
          <a:prstGeom prst="rect">
            <a:avLst/>
          </a:prstGeom>
          <a:noFill/>
          <a:ln/>
        </p:spPr>
        <p:txBody>
          <a:bodyPr wrap="square" lIns="0" tIns="0" rIns="0" bIns="0" rtlCol="0" anchor="ctr"/>
          <a:lstStyle/>
          <a:p>
            <a:r>
              <a:rPr lang="en-US" sz="1400" b="1" dirty="0">
                <a:solidFill>
                  <a:srgbClr val="FFFFFF"/>
                </a:solidFill>
                <a:latin typeface="Arial" pitchFamily="34" charset="0"/>
                <a:cs typeface="Arial" pitchFamily="34" charset="-120"/>
              </a:rPr>
              <a:t>Raghda </a:t>
            </a:r>
            <a:r>
              <a:rPr lang="en-US" sz="1400" b="1" dirty="0" err="1">
                <a:solidFill>
                  <a:srgbClr val="FFFFFF"/>
                </a:solidFill>
                <a:latin typeface="Arial" pitchFamily="34" charset="0"/>
                <a:cs typeface="Arial" pitchFamily="34" charset="-120"/>
              </a:rPr>
              <a:t>Bawaneh</a:t>
            </a:r>
            <a:endParaRPr lang="en-US" sz="1400" b="1" dirty="0">
              <a:solidFill>
                <a:srgbClr val="FFFFFF"/>
              </a:solidFill>
              <a:latin typeface="Arial" pitchFamily="34" charset="0"/>
              <a:cs typeface="Arial" pitchFamily="34" charset="-120"/>
            </a:endParaRPr>
          </a:p>
        </p:txBody>
      </p:sp>
      <p:sp>
        <p:nvSpPr>
          <p:cNvPr id="37" name="Text 14">
            <a:extLst>
              <a:ext uri="{FF2B5EF4-FFF2-40B4-BE49-F238E27FC236}">
                <a16:creationId xmlns:a16="http://schemas.microsoft.com/office/drawing/2014/main" id="{3A84B45A-853D-2038-853B-90077E1B2F02}"/>
              </a:ext>
            </a:extLst>
          </p:cNvPr>
          <p:cNvSpPr/>
          <p:nvPr/>
        </p:nvSpPr>
        <p:spPr>
          <a:xfrm>
            <a:off x="6263640" y="5468112"/>
            <a:ext cx="2514600" cy="274320"/>
          </a:xfrm>
          <a:prstGeom prst="rect">
            <a:avLst/>
          </a:prstGeom>
          <a:noFill/>
          <a:ln/>
        </p:spPr>
        <p:txBody>
          <a:bodyPr wrap="square" lIns="0" tIns="0" rIns="0" bIns="0" rtlCol="0" anchor="ctr"/>
          <a:lstStyle/>
          <a:p>
            <a:r>
              <a:rPr lang="en-US" sz="1100" dirty="0">
                <a:solidFill>
                  <a:srgbClr val="E0A82E"/>
                </a:solidFill>
                <a:latin typeface="Arial" pitchFamily="34" charset="0"/>
                <a:ea typeface="Arial" pitchFamily="34" charset="-122"/>
                <a:cs typeface="Arial" pitchFamily="34" charset="-120"/>
              </a:rPr>
              <a:t>Prototype Development</a:t>
            </a:r>
            <a:endParaRPr lang="en-US" sz="1100" dirty="0"/>
          </a:p>
        </p:txBody>
      </p:sp>
      <p:sp>
        <p:nvSpPr>
          <p:cNvPr id="38" name="Text 15">
            <a:extLst>
              <a:ext uri="{FF2B5EF4-FFF2-40B4-BE49-F238E27FC236}">
                <a16:creationId xmlns:a16="http://schemas.microsoft.com/office/drawing/2014/main" id="{DAAB55FA-A10A-1303-9D18-375566624808}"/>
              </a:ext>
            </a:extLst>
          </p:cNvPr>
          <p:cNvSpPr/>
          <p:nvPr/>
        </p:nvSpPr>
        <p:spPr>
          <a:xfrm>
            <a:off x="8915400" y="5138928"/>
            <a:ext cx="2514600" cy="320040"/>
          </a:xfrm>
          <a:prstGeom prst="rect">
            <a:avLst/>
          </a:prstGeom>
          <a:noFill/>
          <a:ln/>
        </p:spPr>
        <p:txBody>
          <a:bodyPr wrap="square" lIns="0" tIns="0" rIns="0" bIns="0" rtlCol="0" anchor="ctr"/>
          <a:lstStyle/>
          <a:p>
            <a:r>
              <a:rPr lang="en-US" sz="1400" b="1" dirty="0">
                <a:solidFill>
                  <a:srgbClr val="FFFFFF"/>
                </a:solidFill>
                <a:latin typeface="Arial" pitchFamily="34" charset="0"/>
                <a:cs typeface="Arial" pitchFamily="34" charset="-120"/>
              </a:rPr>
              <a:t>Juan </a:t>
            </a:r>
            <a:r>
              <a:rPr lang="en-US" sz="1400" b="1" dirty="0" err="1">
                <a:solidFill>
                  <a:srgbClr val="FFFFFF"/>
                </a:solidFill>
                <a:latin typeface="Arial" pitchFamily="34" charset="0"/>
                <a:cs typeface="Arial" pitchFamily="34" charset="-120"/>
              </a:rPr>
              <a:t>Gallarday</a:t>
            </a:r>
            <a:endParaRPr lang="en-US" sz="1400" b="1" dirty="0">
              <a:solidFill>
                <a:srgbClr val="FFFFFF"/>
              </a:solidFill>
              <a:latin typeface="Arial" pitchFamily="34" charset="0"/>
              <a:cs typeface="Arial" pitchFamily="34" charset="-120"/>
            </a:endParaRPr>
          </a:p>
        </p:txBody>
      </p:sp>
      <p:sp>
        <p:nvSpPr>
          <p:cNvPr id="39" name="Text 16">
            <a:extLst>
              <a:ext uri="{FF2B5EF4-FFF2-40B4-BE49-F238E27FC236}">
                <a16:creationId xmlns:a16="http://schemas.microsoft.com/office/drawing/2014/main" id="{4F3CF5AF-E9A9-470F-C808-FCE39C6D44A7}"/>
              </a:ext>
            </a:extLst>
          </p:cNvPr>
          <p:cNvSpPr/>
          <p:nvPr/>
        </p:nvSpPr>
        <p:spPr>
          <a:xfrm>
            <a:off x="8915400" y="5468112"/>
            <a:ext cx="2514600" cy="274320"/>
          </a:xfrm>
          <a:prstGeom prst="rect">
            <a:avLst/>
          </a:prstGeom>
          <a:noFill/>
          <a:ln/>
        </p:spPr>
        <p:txBody>
          <a:bodyPr wrap="square" lIns="0" tIns="0" rIns="0" bIns="0" rtlCol="0" anchor="ctr"/>
          <a:lstStyle/>
          <a:p>
            <a:r>
              <a:rPr lang="en-US" sz="1100" dirty="0">
                <a:solidFill>
                  <a:srgbClr val="E0A82E"/>
                </a:solidFill>
                <a:latin typeface="Arial" pitchFamily="34" charset="0"/>
                <a:cs typeface="Arial" pitchFamily="34" charset="-120"/>
              </a:rPr>
              <a:t>Project Manager</a:t>
            </a:r>
          </a:p>
        </p:txBody>
      </p:sp>
      <p:sp>
        <p:nvSpPr>
          <p:cNvPr id="40" name="Text 17">
            <a:extLst>
              <a:ext uri="{FF2B5EF4-FFF2-40B4-BE49-F238E27FC236}">
                <a16:creationId xmlns:a16="http://schemas.microsoft.com/office/drawing/2014/main" id="{E4F3B1AB-6FE0-AB44-51A4-C75C49D90AEE}"/>
              </a:ext>
            </a:extLst>
          </p:cNvPr>
          <p:cNvSpPr/>
          <p:nvPr/>
        </p:nvSpPr>
        <p:spPr>
          <a:xfrm>
            <a:off x="960120" y="5815584"/>
            <a:ext cx="10058400" cy="274320"/>
          </a:xfrm>
          <a:prstGeom prst="rect">
            <a:avLst/>
          </a:prstGeom>
          <a:noFill/>
          <a:ln/>
        </p:spPr>
        <p:txBody>
          <a:bodyPr wrap="square" lIns="0" tIns="0" rIns="0" bIns="0" rtlCol="0" anchor="ctr"/>
          <a:lstStyle/>
          <a:p>
            <a:pPr marL="0" indent="0">
              <a:buNone/>
            </a:pPr>
            <a:r>
              <a:rPr lang="en-US" sz="1100" dirty="0">
                <a:solidFill>
                  <a:srgbClr val="9FC6DC"/>
                </a:solidFill>
                <a:latin typeface="Arial" pitchFamily="34" charset="0"/>
                <a:ea typeface="Arial" pitchFamily="34" charset="-122"/>
                <a:cs typeface="Arial" pitchFamily="34" charset="-120"/>
              </a:rPr>
              <a:t>Instructor: Dr. Srikanth Poranki   ·   Binghamton University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ROADMAP</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What we will walk through</a:t>
            </a:r>
            <a:endParaRPr lang="en-US" sz="3000" dirty="0"/>
          </a:p>
        </p:txBody>
      </p:sp>
      <p:sp>
        <p:nvSpPr>
          <p:cNvPr id="4" name="Shape 2"/>
          <p:cNvSpPr/>
          <p:nvPr/>
        </p:nvSpPr>
        <p:spPr>
          <a:xfrm>
            <a:off x="640080" y="1737360"/>
            <a:ext cx="5303520" cy="914400"/>
          </a:xfrm>
          <a:prstGeom prst="roundRect">
            <a:avLst>
              <a:gd name="adj" fmla="val 8000"/>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5" name="Shape 3"/>
          <p:cNvSpPr/>
          <p:nvPr/>
        </p:nvSpPr>
        <p:spPr>
          <a:xfrm>
            <a:off x="841248" y="1956816"/>
            <a:ext cx="502920" cy="50292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977036" y="2092604"/>
            <a:ext cx="231343" cy="231343"/>
          </a:xfrm>
          <a:prstGeom prst="rect">
            <a:avLst/>
          </a:prstGeom>
        </p:spPr>
      </p:pic>
      <p:sp>
        <p:nvSpPr>
          <p:cNvPr id="7" name="Text 4"/>
          <p:cNvSpPr/>
          <p:nvPr/>
        </p:nvSpPr>
        <p:spPr>
          <a:xfrm>
            <a:off x="1508760" y="1865376"/>
            <a:ext cx="4297680" cy="365760"/>
          </a:xfrm>
          <a:prstGeom prst="rect">
            <a:avLst/>
          </a:prstGeom>
          <a:noFill/>
          <a:ln/>
        </p:spPr>
        <p:txBody>
          <a:bodyPr wrap="square" lIns="0" tIns="0" rIns="0" bIns="0" rtlCol="0" anchor="ctr"/>
          <a:lstStyle/>
          <a:p>
            <a:pPr marL="0" indent="0">
              <a:buNone/>
            </a:pPr>
            <a:r>
              <a:rPr lang="en-US" sz="1450" b="1" dirty="0">
                <a:solidFill>
                  <a:srgbClr val="16293A"/>
                </a:solidFill>
                <a:latin typeface="Arial" pitchFamily="34" charset="0"/>
                <a:ea typeface="Arial" pitchFamily="34" charset="-122"/>
                <a:cs typeface="Arial" pitchFamily="34" charset="-120"/>
              </a:rPr>
              <a:t>1.  The problem &amp; the business case</a:t>
            </a:r>
            <a:endParaRPr lang="en-US" sz="1450" dirty="0"/>
          </a:p>
        </p:txBody>
      </p:sp>
      <p:sp>
        <p:nvSpPr>
          <p:cNvPr id="8" name="Text 5"/>
          <p:cNvSpPr/>
          <p:nvPr/>
        </p:nvSpPr>
        <p:spPr>
          <a:xfrm>
            <a:off x="1508760" y="2212848"/>
            <a:ext cx="4297680" cy="320040"/>
          </a:xfrm>
          <a:prstGeom prst="rect">
            <a:avLst/>
          </a:prstGeom>
          <a:noFill/>
          <a:ln/>
        </p:spPr>
        <p:txBody>
          <a:bodyPr wrap="square" lIns="0" tIns="0" rIns="0" bIns="0" rtlCol="0" anchor="ctr"/>
          <a:lstStyle/>
          <a:p>
            <a:pPr marL="0" indent="0">
              <a:buNone/>
            </a:pPr>
            <a:r>
              <a:rPr lang="en-US" sz="1150" dirty="0">
                <a:solidFill>
                  <a:srgbClr val="5C6B7A"/>
                </a:solidFill>
                <a:latin typeface="Arial" pitchFamily="34" charset="0"/>
                <a:ea typeface="Arial" pitchFamily="34" charset="-122"/>
                <a:cs typeface="Arial" pitchFamily="34" charset="-120"/>
              </a:rPr>
              <a:t>Why $10M in commissions has to go</a:t>
            </a:r>
            <a:endParaRPr lang="en-US" sz="1150" dirty="0"/>
          </a:p>
        </p:txBody>
      </p:sp>
      <p:sp>
        <p:nvSpPr>
          <p:cNvPr id="9" name="Shape 6"/>
          <p:cNvSpPr/>
          <p:nvPr/>
        </p:nvSpPr>
        <p:spPr>
          <a:xfrm>
            <a:off x="6309360" y="1737360"/>
            <a:ext cx="5303520" cy="914400"/>
          </a:xfrm>
          <a:prstGeom prst="roundRect">
            <a:avLst>
              <a:gd name="adj" fmla="val 8000"/>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0" name="Shape 7"/>
          <p:cNvSpPr/>
          <p:nvPr/>
        </p:nvSpPr>
        <p:spPr>
          <a:xfrm>
            <a:off x="6510528" y="1956816"/>
            <a:ext cx="502920" cy="50292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6646316" y="2092604"/>
            <a:ext cx="231343" cy="231343"/>
          </a:xfrm>
          <a:prstGeom prst="rect">
            <a:avLst/>
          </a:prstGeom>
        </p:spPr>
      </p:pic>
      <p:sp>
        <p:nvSpPr>
          <p:cNvPr id="12" name="Text 8"/>
          <p:cNvSpPr/>
          <p:nvPr/>
        </p:nvSpPr>
        <p:spPr>
          <a:xfrm>
            <a:off x="7178040" y="1865376"/>
            <a:ext cx="4297680" cy="365760"/>
          </a:xfrm>
          <a:prstGeom prst="rect">
            <a:avLst/>
          </a:prstGeom>
          <a:noFill/>
          <a:ln/>
        </p:spPr>
        <p:txBody>
          <a:bodyPr wrap="square" lIns="0" tIns="0" rIns="0" bIns="0" rtlCol="0" anchor="ctr"/>
          <a:lstStyle/>
          <a:p>
            <a:pPr marL="0" indent="0">
              <a:buNone/>
            </a:pPr>
            <a:r>
              <a:rPr lang="en-US" sz="1450" b="1" dirty="0">
                <a:solidFill>
                  <a:srgbClr val="16293A"/>
                </a:solidFill>
                <a:latin typeface="Arial" pitchFamily="34" charset="0"/>
                <a:ea typeface="Arial" pitchFamily="34" charset="-122"/>
                <a:cs typeface="Arial" pitchFamily="34" charset="-120"/>
              </a:rPr>
              <a:t>2.  Domain: ABC Cruise Lines</a:t>
            </a:r>
            <a:endParaRPr lang="en-US" sz="1450" dirty="0"/>
          </a:p>
        </p:txBody>
      </p:sp>
      <p:sp>
        <p:nvSpPr>
          <p:cNvPr id="13" name="Text 9"/>
          <p:cNvSpPr/>
          <p:nvPr/>
        </p:nvSpPr>
        <p:spPr>
          <a:xfrm>
            <a:off x="7178040" y="2212848"/>
            <a:ext cx="4297680" cy="320040"/>
          </a:xfrm>
          <a:prstGeom prst="rect">
            <a:avLst/>
          </a:prstGeom>
          <a:noFill/>
          <a:ln/>
        </p:spPr>
        <p:txBody>
          <a:bodyPr wrap="square" lIns="0" tIns="0" rIns="0" bIns="0" rtlCol="0" anchor="ctr"/>
          <a:lstStyle/>
          <a:p>
            <a:pPr marL="0" indent="0">
              <a:buNone/>
            </a:pPr>
            <a:r>
              <a:rPr lang="en-US" sz="1150" dirty="0">
                <a:solidFill>
                  <a:srgbClr val="5C6B7A"/>
                </a:solidFill>
                <a:latin typeface="Arial" pitchFamily="34" charset="0"/>
                <a:ea typeface="Arial" pitchFamily="34" charset="-122"/>
                <a:cs typeface="Arial" pitchFamily="34" charset="-120"/>
              </a:rPr>
              <a:t>Two products, three ships, one port</a:t>
            </a:r>
            <a:endParaRPr lang="en-US" sz="1150" dirty="0"/>
          </a:p>
        </p:txBody>
      </p:sp>
      <p:sp>
        <p:nvSpPr>
          <p:cNvPr id="14" name="Shape 10"/>
          <p:cNvSpPr/>
          <p:nvPr/>
        </p:nvSpPr>
        <p:spPr>
          <a:xfrm>
            <a:off x="640080" y="2816352"/>
            <a:ext cx="5303520" cy="914400"/>
          </a:xfrm>
          <a:prstGeom prst="roundRect">
            <a:avLst>
              <a:gd name="adj" fmla="val 8000"/>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5" name="Shape 11"/>
          <p:cNvSpPr/>
          <p:nvPr/>
        </p:nvSpPr>
        <p:spPr>
          <a:xfrm>
            <a:off x="841248" y="3035808"/>
            <a:ext cx="502920" cy="50292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977036" y="3171596"/>
            <a:ext cx="231343" cy="231343"/>
          </a:xfrm>
          <a:prstGeom prst="rect">
            <a:avLst/>
          </a:prstGeom>
        </p:spPr>
      </p:pic>
      <p:sp>
        <p:nvSpPr>
          <p:cNvPr id="17" name="Text 12"/>
          <p:cNvSpPr/>
          <p:nvPr/>
        </p:nvSpPr>
        <p:spPr>
          <a:xfrm>
            <a:off x="1508760" y="2944368"/>
            <a:ext cx="4297680" cy="365760"/>
          </a:xfrm>
          <a:prstGeom prst="rect">
            <a:avLst/>
          </a:prstGeom>
          <a:noFill/>
          <a:ln/>
        </p:spPr>
        <p:txBody>
          <a:bodyPr wrap="square" lIns="0" tIns="0" rIns="0" bIns="0" rtlCol="0" anchor="ctr"/>
          <a:lstStyle/>
          <a:p>
            <a:pPr marL="0" indent="0">
              <a:buNone/>
            </a:pPr>
            <a:r>
              <a:rPr lang="en-US" sz="1450" b="1" dirty="0">
                <a:solidFill>
                  <a:srgbClr val="16293A"/>
                </a:solidFill>
                <a:latin typeface="Arial" pitchFamily="34" charset="0"/>
                <a:ea typeface="Arial" pitchFamily="34" charset="-122"/>
                <a:cs typeface="Arial" pitchFamily="34" charset="-120"/>
              </a:rPr>
              <a:t>3.  Solution &amp; DIKW architecture</a:t>
            </a:r>
            <a:endParaRPr lang="en-US" sz="1450" dirty="0"/>
          </a:p>
        </p:txBody>
      </p:sp>
      <p:sp>
        <p:nvSpPr>
          <p:cNvPr id="18" name="Text 13"/>
          <p:cNvSpPr/>
          <p:nvPr/>
        </p:nvSpPr>
        <p:spPr>
          <a:xfrm>
            <a:off x="1508760" y="3291840"/>
            <a:ext cx="4297680" cy="320040"/>
          </a:xfrm>
          <a:prstGeom prst="rect">
            <a:avLst/>
          </a:prstGeom>
          <a:noFill/>
          <a:ln/>
        </p:spPr>
        <p:txBody>
          <a:bodyPr wrap="square" lIns="0" tIns="0" rIns="0" bIns="0" rtlCol="0" anchor="ctr"/>
          <a:lstStyle/>
          <a:p>
            <a:pPr marL="0" indent="0">
              <a:buNone/>
            </a:pPr>
            <a:r>
              <a:rPr lang="en-US" sz="1150" dirty="0">
                <a:solidFill>
                  <a:srgbClr val="5C6B7A"/>
                </a:solidFill>
                <a:latin typeface="Arial" pitchFamily="34" charset="0"/>
                <a:ea typeface="Arial" pitchFamily="34" charset="-122"/>
                <a:cs typeface="Arial" pitchFamily="34" charset="-120"/>
              </a:rPr>
              <a:t>Two interfaces, one closed data loop</a:t>
            </a:r>
            <a:endParaRPr lang="en-US" sz="1150" dirty="0"/>
          </a:p>
        </p:txBody>
      </p:sp>
      <p:sp>
        <p:nvSpPr>
          <p:cNvPr id="19" name="Shape 14"/>
          <p:cNvSpPr/>
          <p:nvPr/>
        </p:nvSpPr>
        <p:spPr>
          <a:xfrm>
            <a:off x="6309360" y="2816352"/>
            <a:ext cx="5303520" cy="914400"/>
          </a:xfrm>
          <a:prstGeom prst="roundRect">
            <a:avLst>
              <a:gd name="adj" fmla="val 8000"/>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20" name="Shape 15"/>
          <p:cNvSpPr/>
          <p:nvPr/>
        </p:nvSpPr>
        <p:spPr>
          <a:xfrm>
            <a:off x="6510528" y="3035808"/>
            <a:ext cx="502920" cy="50292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21" name="Image 3" descr="preencoded.png"/>
          <p:cNvPicPr>
            <a:picLocks noChangeAspect="1"/>
          </p:cNvPicPr>
          <p:nvPr/>
        </p:nvPicPr>
        <p:blipFill>
          <a:blip r:embed="rId6"/>
          <a:stretch>
            <a:fillRect/>
          </a:stretch>
        </p:blipFill>
        <p:spPr>
          <a:xfrm>
            <a:off x="6646316" y="3171596"/>
            <a:ext cx="231343" cy="231343"/>
          </a:xfrm>
          <a:prstGeom prst="rect">
            <a:avLst/>
          </a:prstGeom>
        </p:spPr>
      </p:pic>
      <p:sp>
        <p:nvSpPr>
          <p:cNvPr id="22" name="Text 16"/>
          <p:cNvSpPr/>
          <p:nvPr/>
        </p:nvSpPr>
        <p:spPr>
          <a:xfrm>
            <a:off x="7178040" y="2944368"/>
            <a:ext cx="4297680" cy="365760"/>
          </a:xfrm>
          <a:prstGeom prst="rect">
            <a:avLst/>
          </a:prstGeom>
          <a:noFill/>
          <a:ln/>
        </p:spPr>
        <p:txBody>
          <a:bodyPr wrap="square" lIns="0" tIns="0" rIns="0" bIns="0" rtlCol="0" anchor="ctr"/>
          <a:lstStyle/>
          <a:p>
            <a:pPr marL="0" indent="0">
              <a:buNone/>
            </a:pPr>
            <a:r>
              <a:rPr lang="en-US" sz="1450" b="1" dirty="0">
                <a:solidFill>
                  <a:srgbClr val="16293A"/>
                </a:solidFill>
                <a:latin typeface="Arial" pitchFamily="34" charset="0"/>
                <a:ea typeface="Arial" pitchFamily="34" charset="-122"/>
                <a:cs typeface="Arial" pitchFamily="34" charset="-120"/>
              </a:rPr>
              <a:t>4.  Reservation process flow</a:t>
            </a:r>
            <a:endParaRPr lang="en-US" sz="1450" dirty="0"/>
          </a:p>
        </p:txBody>
      </p:sp>
      <p:sp>
        <p:nvSpPr>
          <p:cNvPr id="23" name="Text 17"/>
          <p:cNvSpPr/>
          <p:nvPr/>
        </p:nvSpPr>
        <p:spPr>
          <a:xfrm>
            <a:off x="7178040" y="3291840"/>
            <a:ext cx="4297680" cy="320040"/>
          </a:xfrm>
          <a:prstGeom prst="rect">
            <a:avLst/>
          </a:prstGeom>
          <a:noFill/>
          <a:ln/>
        </p:spPr>
        <p:txBody>
          <a:bodyPr wrap="square" lIns="0" tIns="0" rIns="0" bIns="0" rtlCol="0" anchor="ctr"/>
          <a:lstStyle/>
          <a:p>
            <a:pPr marL="0" indent="0">
              <a:buNone/>
            </a:pPr>
            <a:r>
              <a:rPr lang="en-US" sz="1150" dirty="0">
                <a:solidFill>
                  <a:srgbClr val="5C6B7A"/>
                </a:solidFill>
                <a:latin typeface="Arial" pitchFamily="34" charset="0"/>
                <a:ea typeface="Arial" pitchFamily="34" charset="-122"/>
                <a:cs typeface="Arial" pitchFamily="34" charset="-120"/>
              </a:rPr>
              <a:t>Prospect to a paid, confirmed booking</a:t>
            </a:r>
            <a:endParaRPr lang="en-US" sz="1150" dirty="0"/>
          </a:p>
        </p:txBody>
      </p:sp>
      <p:sp>
        <p:nvSpPr>
          <p:cNvPr id="24" name="Shape 18"/>
          <p:cNvSpPr/>
          <p:nvPr/>
        </p:nvSpPr>
        <p:spPr>
          <a:xfrm>
            <a:off x="640080" y="3895344"/>
            <a:ext cx="5303520" cy="914400"/>
          </a:xfrm>
          <a:prstGeom prst="roundRect">
            <a:avLst>
              <a:gd name="adj" fmla="val 8000"/>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25" name="Shape 19"/>
          <p:cNvSpPr/>
          <p:nvPr/>
        </p:nvSpPr>
        <p:spPr>
          <a:xfrm>
            <a:off x="841248" y="4114800"/>
            <a:ext cx="502920" cy="50292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26" name="Image 4" descr="preencoded.png"/>
          <p:cNvPicPr>
            <a:picLocks noChangeAspect="1"/>
          </p:cNvPicPr>
          <p:nvPr/>
        </p:nvPicPr>
        <p:blipFill>
          <a:blip r:embed="rId7"/>
          <a:stretch>
            <a:fillRect/>
          </a:stretch>
        </p:blipFill>
        <p:spPr>
          <a:xfrm>
            <a:off x="977036" y="4250588"/>
            <a:ext cx="231343" cy="231343"/>
          </a:xfrm>
          <a:prstGeom prst="rect">
            <a:avLst/>
          </a:prstGeom>
        </p:spPr>
      </p:pic>
      <p:sp>
        <p:nvSpPr>
          <p:cNvPr id="27" name="Text 20"/>
          <p:cNvSpPr/>
          <p:nvPr/>
        </p:nvSpPr>
        <p:spPr>
          <a:xfrm>
            <a:off x="1508760" y="4023360"/>
            <a:ext cx="4297680" cy="365760"/>
          </a:xfrm>
          <a:prstGeom prst="rect">
            <a:avLst/>
          </a:prstGeom>
          <a:noFill/>
          <a:ln/>
        </p:spPr>
        <p:txBody>
          <a:bodyPr wrap="square" lIns="0" tIns="0" rIns="0" bIns="0" rtlCol="0" anchor="ctr"/>
          <a:lstStyle/>
          <a:p>
            <a:pPr marL="0" indent="0">
              <a:buNone/>
            </a:pPr>
            <a:r>
              <a:rPr lang="en-US" sz="1450" b="1" dirty="0">
                <a:solidFill>
                  <a:srgbClr val="16293A"/>
                </a:solidFill>
                <a:latin typeface="Arial" pitchFamily="34" charset="0"/>
                <a:ea typeface="Arial" pitchFamily="34" charset="-122"/>
                <a:cs typeface="Arial" pitchFamily="34" charset="-120"/>
              </a:rPr>
              <a:t>5.  Pricing &amp; revenue management</a:t>
            </a:r>
            <a:endParaRPr lang="en-US" sz="1450" dirty="0"/>
          </a:p>
        </p:txBody>
      </p:sp>
      <p:sp>
        <p:nvSpPr>
          <p:cNvPr id="28" name="Text 21"/>
          <p:cNvSpPr/>
          <p:nvPr/>
        </p:nvSpPr>
        <p:spPr>
          <a:xfrm>
            <a:off x="1508760" y="4370832"/>
            <a:ext cx="4297680" cy="320040"/>
          </a:xfrm>
          <a:prstGeom prst="rect">
            <a:avLst/>
          </a:prstGeom>
          <a:noFill/>
          <a:ln/>
        </p:spPr>
        <p:txBody>
          <a:bodyPr wrap="square" lIns="0" tIns="0" rIns="0" bIns="0" rtlCol="0" anchor="ctr"/>
          <a:lstStyle/>
          <a:p>
            <a:pPr marL="0" indent="0">
              <a:buNone/>
            </a:pPr>
            <a:r>
              <a:rPr lang="en-US" sz="1150" dirty="0">
                <a:solidFill>
                  <a:srgbClr val="5C6B7A"/>
                </a:solidFill>
                <a:latin typeface="Arial" pitchFamily="34" charset="0"/>
                <a:ea typeface="Arial" pitchFamily="34" charset="-122"/>
                <a:cs typeface="Arial" pitchFamily="34" charset="-120"/>
              </a:rPr>
              <a:t>Company-set fares with dynamic pricing</a:t>
            </a:r>
            <a:endParaRPr lang="en-US" sz="1150" dirty="0"/>
          </a:p>
        </p:txBody>
      </p:sp>
      <p:sp>
        <p:nvSpPr>
          <p:cNvPr id="29" name="Shape 22"/>
          <p:cNvSpPr/>
          <p:nvPr/>
        </p:nvSpPr>
        <p:spPr>
          <a:xfrm>
            <a:off x="6309360" y="3895344"/>
            <a:ext cx="5303520" cy="914400"/>
          </a:xfrm>
          <a:prstGeom prst="roundRect">
            <a:avLst>
              <a:gd name="adj" fmla="val 8000"/>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30" name="Shape 23"/>
          <p:cNvSpPr/>
          <p:nvPr/>
        </p:nvSpPr>
        <p:spPr>
          <a:xfrm>
            <a:off x="6510528" y="4114800"/>
            <a:ext cx="502920" cy="50292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31" name="Image 5" descr="preencoded.png"/>
          <p:cNvPicPr>
            <a:picLocks noChangeAspect="1"/>
          </p:cNvPicPr>
          <p:nvPr/>
        </p:nvPicPr>
        <p:blipFill>
          <a:blip r:embed="rId8"/>
          <a:stretch>
            <a:fillRect/>
          </a:stretch>
        </p:blipFill>
        <p:spPr>
          <a:xfrm>
            <a:off x="6646316" y="4250588"/>
            <a:ext cx="231343" cy="231343"/>
          </a:xfrm>
          <a:prstGeom prst="rect">
            <a:avLst/>
          </a:prstGeom>
        </p:spPr>
      </p:pic>
      <p:sp>
        <p:nvSpPr>
          <p:cNvPr id="32" name="Text 24"/>
          <p:cNvSpPr/>
          <p:nvPr/>
        </p:nvSpPr>
        <p:spPr>
          <a:xfrm>
            <a:off x="7178040" y="4023360"/>
            <a:ext cx="4297680" cy="365760"/>
          </a:xfrm>
          <a:prstGeom prst="rect">
            <a:avLst/>
          </a:prstGeom>
          <a:noFill/>
          <a:ln/>
        </p:spPr>
        <p:txBody>
          <a:bodyPr wrap="square" lIns="0" tIns="0" rIns="0" bIns="0" rtlCol="0" anchor="ctr"/>
          <a:lstStyle/>
          <a:p>
            <a:pPr marL="0" indent="0">
              <a:buNone/>
            </a:pPr>
            <a:r>
              <a:rPr lang="en-US" sz="1450" b="1" dirty="0">
                <a:solidFill>
                  <a:srgbClr val="16293A"/>
                </a:solidFill>
                <a:latin typeface="Arial" pitchFamily="34" charset="0"/>
                <a:ea typeface="Arial" pitchFamily="34" charset="-122"/>
                <a:cs typeface="Arial" pitchFamily="34" charset="-120"/>
              </a:rPr>
              <a:t>6.  The DSS dashboard</a:t>
            </a:r>
            <a:endParaRPr lang="en-US" sz="1450" dirty="0"/>
          </a:p>
        </p:txBody>
      </p:sp>
      <p:sp>
        <p:nvSpPr>
          <p:cNvPr id="33" name="Text 25"/>
          <p:cNvSpPr/>
          <p:nvPr/>
        </p:nvSpPr>
        <p:spPr>
          <a:xfrm>
            <a:off x="7178040" y="4370832"/>
            <a:ext cx="4297680" cy="320040"/>
          </a:xfrm>
          <a:prstGeom prst="rect">
            <a:avLst/>
          </a:prstGeom>
          <a:noFill/>
          <a:ln/>
        </p:spPr>
        <p:txBody>
          <a:bodyPr wrap="square" lIns="0" tIns="0" rIns="0" bIns="0" rtlCol="0" anchor="ctr"/>
          <a:lstStyle/>
          <a:p>
            <a:pPr marL="0" indent="0">
              <a:buNone/>
            </a:pPr>
            <a:r>
              <a:rPr lang="en-US" sz="1150" dirty="0">
                <a:solidFill>
                  <a:srgbClr val="5C6B7A"/>
                </a:solidFill>
                <a:latin typeface="Arial" pitchFamily="34" charset="0"/>
                <a:ea typeface="Arial" pitchFamily="34" charset="-122"/>
                <a:cs typeface="Arial" pitchFamily="34" charset="-120"/>
              </a:rPr>
              <a:t>Analytics, scheduling, cost &amp; forecasting</a:t>
            </a:r>
            <a:endParaRPr lang="en-US" sz="1150" dirty="0"/>
          </a:p>
        </p:txBody>
      </p:sp>
      <p:sp>
        <p:nvSpPr>
          <p:cNvPr id="34" name="Shape 26"/>
          <p:cNvSpPr/>
          <p:nvPr/>
        </p:nvSpPr>
        <p:spPr>
          <a:xfrm>
            <a:off x="640080" y="4974336"/>
            <a:ext cx="5303520" cy="914400"/>
          </a:xfrm>
          <a:prstGeom prst="roundRect">
            <a:avLst>
              <a:gd name="adj" fmla="val 8000"/>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35" name="Shape 27"/>
          <p:cNvSpPr/>
          <p:nvPr/>
        </p:nvSpPr>
        <p:spPr>
          <a:xfrm>
            <a:off x="841248" y="5193792"/>
            <a:ext cx="502920" cy="50292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36" name="Image 6" descr="preencoded.png"/>
          <p:cNvPicPr>
            <a:picLocks noChangeAspect="1"/>
          </p:cNvPicPr>
          <p:nvPr/>
        </p:nvPicPr>
        <p:blipFill>
          <a:blip r:embed="rId9"/>
          <a:stretch>
            <a:fillRect/>
          </a:stretch>
        </p:blipFill>
        <p:spPr>
          <a:xfrm>
            <a:off x="977036" y="5329580"/>
            <a:ext cx="231343" cy="231343"/>
          </a:xfrm>
          <a:prstGeom prst="rect">
            <a:avLst/>
          </a:prstGeom>
        </p:spPr>
      </p:pic>
      <p:sp>
        <p:nvSpPr>
          <p:cNvPr id="37" name="Text 28"/>
          <p:cNvSpPr/>
          <p:nvPr/>
        </p:nvSpPr>
        <p:spPr>
          <a:xfrm>
            <a:off x="1508760" y="5102352"/>
            <a:ext cx="4297680" cy="365760"/>
          </a:xfrm>
          <a:prstGeom prst="rect">
            <a:avLst/>
          </a:prstGeom>
          <a:noFill/>
          <a:ln/>
        </p:spPr>
        <p:txBody>
          <a:bodyPr wrap="square" lIns="0" tIns="0" rIns="0" bIns="0" rtlCol="0" anchor="ctr"/>
          <a:lstStyle/>
          <a:p>
            <a:pPr marL="0" indent="0">
              <a:buNone/>
            </a:pPr>
            <a:r>
              <a:rPr lang="en-US" sz="1450" b="1" dirty="0">
                <a:solidFill>
                  <a:srgbClr val="16293A"/>
                </a:solidFill>
                <a:latin typeface="Arial" pitchFamily="34" charset="0"/>
                <a:ea typeface="Arial" pitchFamily="34" charset="-122"/>
                <a:cs typeface="Arial" pitchFamily="34" charset="-120"/>
              </a:rPr>
              <a:t>7.  Forecasting the business</a:t>
            </a:r>
            <a:endParaRPr lang="en-US" sz="1450" dirty="0"/>
          </a:p>
        </p:txBody>
      </p:sp>
      <p:sp>
        <p:nvSpPr>
          <p:cNvPr id="38" name="Text 29"/>
          <p:cNvSpPr/>
          <p:nvPr/>
        </p:nvSpPr>
        <p:spPr>
          <a:xfrm>
            <a:off x="1508760" y="5449824"/>
            <a:ext cx="4297680" cy="320040"/>
          </a:xfrm>
          <a:prstGeom prst="rect">
            <a:avLst/>
          </a:prstGeom>
          <a:noFill/>
          <a:ln/>
        </p:spPr>
        <p:txBody>
          <a:bodyPr wrap="square" lIns="0" tIns="0" rIns="0" bIns="0" rtlCol="0" anchor="ctr"/>
          <a:lstStyle/>
          <a:p>
            <a:pPr marL="0" indent="0">
              <a:buNone/>
            </a:pPr>
            <a:r>
              <a:rPr lang="en-US" sz="1150" dirty="0">
                <a:solidFill>
                  <a:srgbClr val="5C6B7A"/>
                </a:solidFill>
                <a:latin typeface="Arial" pitchFamily="34" charset="0"/>
                <a:ea typeface="Arial" pitchFamily="34" charset="-122"/>
                <a:cs typeface="Arial" pitchFamily="34" charset="-120"/>
              </a:rPr>
              <a:t>Regression + seasonal decomposition</a:t>
            </a:r>
            <a:endParaRPr lang="en-US" sz="1150" dirty="0"/>
          </a:p>
        </p:txBody>
      </p:sp>
      <p:sp>
        <p:nvSpPr>
          <p:cNvPr id="39" name="Shape 30"/>
          <p:cNvSpPr/>
          <p:nvPr/>
        </p:nvSpPr>
        <p:spPr>
          <a:xfrm>
            <a:off x="6309360" y="4974336"/>
            <a:ext cx="5303520" cy="914400"/>
          </a:xfrm>
          <a:prstGeom prst="roundRect">
            <a:avLst>
              <a:gd name="adj" fmla="val 8000"/>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40" name="Shape 31"/>
          <p:cNvSpPr/>
          <p:nvPr/>
        </p:nvSpPr>
        <p:spPr>
          <a:xfrm>
            <a:off x="6510528" y="5193792"/>
            <a:ext cx="502920" cy="50292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41" name="Image 7" descr="preencoded.png"/>
          <p:cNvPicPr>
            <a:picLocks noChangeAspect="1"/>
          </p:cNvPicPr>
          <p:nvPr/>
        </p:nvPicPr>
        <p:blipFill>
          <a:blip r:embed="rId10"/>
          <a:stretch>
            <a:fillRect/>
          </a:stretch>
        </p:blipFill>
        <p:spPr>
          <a:xfrm>
            <a:off x="6646316" y="5329580"/>
            <a:ext cx="231343" cy="231343"/>
          </a:xfrm>
          <a:prstGeom prst="rect">
            <a:avLst/>
          </a:prstGeom>
        </p:spPr>
      </p:pic>
      <p:sp>
        <p:nvSpPr>
          <p:cNvPr id="42" name="Text 32"/>
          <p:cNvSpPr/>
          <p:nvPr/>
        </p:nvSpPr>
        <p:spPr>
          <a:xfrm>
            <a:off x="7178040" y="5102352"/>
            <a:ext cx="4297680" cy="365760"/>
          </a:xfrm>
          <a:prstGeom prst="rect">
            <a:avLst/>
          </a:prstGeom>
          <a:noFill/>
          <a:ln/>
        </p:spPr>
        <p:txBody>
          <a:bodyPr wrap="square" lIns="0" tIns="0" rIns="0" bIns="0" rtlCol="0" anchor="ctr"/>
          <a:lstStyle/>
          <a:p>
            <a:pPr marL="0" indent="0">
              <a:buNone/>
            </a:pPr>
            <a:r>
              <a:rPr lang="en-US" sz="1450" b="1" dirty="0">
                <a:solidFill>
                  <a:srgbClr val="16293A"/>
                </a:solidFill>
                <a:latin typeface="Arial" pitchFamily="34" charset="0"/>
                <a:ea typeface="Arial" pitchFamily="34" charset="-122"/>
                <a:cs typeface="Arial" pitchFamily="34" charset="-120"/>
              </a:rPr>
              <a:t>8.  Cost savings &amp; worked case study</a:t>
            </a:r>
            <a:endParaRPr lang="en-US" sz="1450" dirty="0"/>
          </a:p>
        </p:txBody>
      </p:sp>
      <p:sp>
        <p:nvSpPr>
          <p:cNvPr id="43" name="Text 33"/>
          <p:cNvSpPr/>
          <p:nvPr/>
        </p:nvSpPr>
        <p:spPr>
          <a:xfrm>
            <a:off x="7178040" y="5449824"/>
            <a:ext cx="4297680" cy="320040"/>
          </a:xfrm>
          <a:prstGeom prst="rect">
            <a:avLst/>
          </a:prstGeom>
          <a:noFill/>
          <a:ln/>
        </p:spPr>
        <p:txBody>
          <a:bodyPr wrap="square" lIns="0" tIns="0" rIns="0" bIns="0" rtlCol="0" anchor="ctr"/>
          <a:lstStyle/>
          <a:p>
            <a:pPr marL="0" indent="0">
              <a:buNone/>
            </a:pPr>
            <a:r>
              <a:rPr lang="en-US" sz="1150" dirty="0">
                <a:solidFill>
                  <a:srgbClr val="5C6B7A"/>
                </a:solidFill>
                <a:latin typeface="Arial" pitchFamily="34" charset="0"/>
                <a:ea typeface="Arial" pitchFamily="34" charset="-122"/>
                <a:cs typeface="Arial" pitchFamily="34" charset="-120"/>
              </a:rPr>
              <a:t>Turning a cost into recurring savings</a:t>
            </a:r>
            <a:endParaRPr lang="en-US" sz="1150" dirty="0"/>
          </a:p>
        </p:txBody>
      </p:sp>
      <p:sp>
        <p:nvSpPr>
          <p:cNvPr id="44" name="Text 34"/>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45" name="Text 35"/>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THE PROBLEM</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Every booking is rented from a third party</a:t>
            </a:r>
            <a:endParaRPr lang="en-US" sz="3000" dirty="0"/>
          </a:p>
        </p:txBody>
      </p:sp>
      <p:sp>
        <p:nvSpPr>
          <p:cNvPr id="4" name="Text 2"/>
          <p:cNvSpPr/>
          <p:nvPr/>
        </p:nvSpPr>
        <p:spPr>
          <a:xfrm>
            <a:off x="548640" y="1417320"/>
            <a:ext cx="11064240" cy="640080"/>
          </a:xfrm>
          <a:prstGeom prst="rect">
            <a:avLst/>
          </a:prstGeom>
          <a:noFill/>
          <a:ln/>
        </p:spPr>
        <p:txBody>
          <a:bodyPr wrap="square" lIns="0" tIns="0" rIns="0" bIns="0" rtlCol="0" anchor="ctr"/>
          <a:lstStyle/>
          <a:p>
            <a:pPr marL="0" indent="0">
              <a:lnSpc>
                <a:spcPct val="115000"/>
              </a:lnSpc>
              <a:buNone/>
            </a:pPr>
            <a:r>
              <a:rPr lang="en-US" sz="1500" dirty="0">
                <a:solidFill>
                  <a:srgbClr val="5C6B7A"/>
                </a:solidFill>
                <a:latin typeface="Arial" pitchFamily="34" charset="0"/>
                <a:ea typeface="Arial" pitchFamily="34" charset="-122"/>
                <a:cs typeface="Arial" pitchFamily="34" charset="-120"/>
              </a:rPr>
              <a:t>ABC Cruise Lines books 100% of reservations through travel agents, paying 10% to 15% commission and owning none of the customer data needed to run operations.</a:t>
            </a:r>
            <a:endParaRPr lang="en-US" sz="1500" dirty="0"/>
          </a:p>
        </p:txBody>
      </p:sp>
      <p:sp>
        <p:nvSpPr>
          <p:cNvPr id="5" name="Shape 3"/>
          <p:cNvSpPr/>
          <p:nvPr/>
        </p:nvSpPr>
        <p:spPr>
          <a:xfrm>
            <a:off x="640080" y="2240280"/>
            <a:ext cx="3429000" cy="2331720"/>
          </a:xfrm>
          <a:prstGeom prst="roundRect">
            <a:avLst>
              <a:gd name="adj" fmla="val 392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6" name="Shape 4"/>
          <p:cNvSpPr/>
          <p:nvPr/>
        </p:nvSpPr>
        <p:spPr>
          <a:xfrm>
            <a:off x="914400" y="2514600"/>
            <a:ext cx="640080" cy="64008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1087222" y="2687422"/>
            <a:ext cx="294437" cy="294437"/>
          </a:xfrm>
          <a:prstGeom prst="rect">
            <a:avLst/>
          </a:prstGeom>
        </p:spPr>
      </p:pic>
      <p:sp>
        <p:nvSpPr>
          <p:cNvPr id="8" name="Text 5"/>
          <p:cNvSpPr/>
          <p:nvPr/>
        </p:nvSpPr>
        <p:spPr>
          <a:xfrm>
            <a:off x="640080" y="3154680"/>
            <a:ext cx="3429000" cy="822960"/>
          </a:xfrm>
          <a:prstGeom prst="rect">
            <a:avLst/>
          </a:prstGeom>
          <a:noFill/>
          <a:ln/>
        </p:spPr>
        <p:txBody>
          <a:bodyPr wrap="square" lIns="0" tIns="0" rIns="0" bIns="0" rtlCol="0" anchor="ctr"/>
          <a:lstStyle/>
          <a:p>
            <a:pPr marL="0" indent="0" algn="ctr">
              <a:buNone/>
            </a:pPr>
            <a:r>
              <a:rPr lang="en-US" sz="4600" b="1" dirty="0">
                <a:solidFill>
                  <a:srgbClr val="0E7C86"/>
                </a:solidFill>
                <a:latin typeface="Arial" pitchFamily="34" charset="0"/>
                <a:ea typeface="Arial" pitchFamily="34" charset="-122"/>
                <a:cs typeface="Arial" pitchFamily="34" charset="-120"/>
              </a:rPr>
              <a:t>100%</a:t>
            </a:r>
            <a:endParaRPr lang="en-US" sz="4600" dirty="0"/>
          </a:p>
        </p:txBody>
      </p:sp>
      <p:sp>
        <p:nvSpPr>
          <p:cNvPr id="9" name="Text 6"/>
          <p:cNvSpPr/>
          <p:nvPr/>
        </p:nvSpPr>
        <p:spPr>
          <a:xfrm>
            <a:off x="960120" y="4023360"/>
            <a:ext cx="2788920" cy="502920"/>
          </a:xfrm>
          <a:prstGeom prst="rect">
            <a:avLst/>
          </a:prstGeom>
          <a:noFill/>
          <a:ln/>
        </p:spPr>
        <p:txBody>
          <a:bodyPr wrap="square" lIns="0" tIns="0" rIns="0" bIns="0" rtlCol="0" anchor="ctr"/>
          <a:lstStyle/>
          <a:p>
            <a:pPr marL="0" indent="0" algn="ctr">
              <a:buNone/>
            </a:pPr>
            <a:r>
              <a:rPr lang="en-US" sz="1250" dirty="0">
                <a:solidFill>
                  <a:srgbClr val="16293A"/>
                </a:solidFill>
                <a:latin typeface="Arial" pitchFamily="34" charset="0"/>
                <a:ea typeface="Arial" pitchFamily="34" charset="-122"/>
                <a:cs typeface="Arial" pitchFamily="34" charset="-120"/>
              </a:rPr>
              <a:t>of reservations handled by outside travel agents</a:t>
            </a:r>
            <a:endParaRPr lang="en-US" sz="1250" dirty="0"/>
          </a:p>
        </p:txBody>
      </p:sp>
      <p:sp>
        <p:nvSpPr>
          <p:cNvPr id="10" name="Shape 7"/>
          <p:cNvSpPr/>
          <p:nvPr/>
        </p:nvSpPr>
        <p:spPr>
          <a:xfrm>
            <a:off x="4343400" y="2240280"/>
            <a:ext cx="3429000" cy="2331720"/>
          </a:xfrm>
          <a:prstGeom prst="roundRect">
            <a:avLst>
              <a:gd name="adj" fmla="val 392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1" name="Shape 8"/>
          <p:cNvSpPr/>
          <p:nvPr/>
        </p:nvSpPr>
        <p:spPr>
          <a:xfrm>
            <a:off x="4617720" y="2514600"/>
            <a:ext cx="640080" cy="640080"/>
          </a:xfrm>
          <a:prstGeom prst="ellipse">
            <a:avLst/>
          </a:prstGeom>
          <a:solidFill>
            <a:srgbClr val="E0A82E"/>
          </a:solidFill>
          <a:ln/>
          <a:effectLst>
            <a:outerShdw blurRad="88900" dist="25400" dir="5400000" algn="bl" rotWithShape="0">
              <a:srgbClr val="000000">
                <a:alpha val="10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4790542" y="2687422"/>
            <a:ext cx="294437" cy="294437"/>
          </a:xfrm>
          <a:prstGeom prst="rect">
            <a:avLst/>
          </a:prstGeom>
        </p:spPr>
      </p:pic>
      <p:sp>
        <p:nvSpPr>
          <p:cNvPr id="13" name="Text 9"/>
          <p:cNvSpPr/>
          <p:nvPr/>
        </p:nvSpPr>
        <p:spPr>
          <a:xfrm>
            <a:off x="4343400" y="3154680"/>
            <a:ext cx="3429000" cy="822960"/>
          </a:xfrm>
          <a:prstGeom prst="rect">
            <a:avLst/>
          </a:prstGeom>
          <a:noFill/>
          <a:ln/>
        </p:spPr>
        <p:txBody>
          <a:bodyPr wrap="square" lIns="0" tIns="0" rIns="0" bIns="0" rtlCol="0" anchor="ctr"/>
          <a:lstStyle/>
          <a:p>
            <a:pPr marL="0" indent="0" algn="ctr">
              <a:buNone/>
            </a:pPr>
            <a:r>
              <a:rPr lang="en-US" sz="4600" b="1" dirty="0">
                <a:solidFill>
                  <a:srgbClr val="E0A82E"/>
                </a:solidFill>
                <a:latin typeface="Arial" pitchFamily="34" charset="0"/>
                <a:ea typeface="Arial" pitchFamily="34" charset="-122"/>
                <a:cs typeface="Arial" pitchFamily="34" charset="-120"/>
              </a:rPr>
              <a:t>~$11M</a:t>
            </a:r>
            <a:endParaRPr lang="en-US" sz="4600" dirty="0"/>
          </a:p>
        </p:txBody>
      </p:sp>
      <p:sp>
        <p:nvSpPr>
          <p:cNvPr id="14" name="Text 10"/>
          <p:cNvSpPr/>
          <p:nvPr/>
        </p:nvSpPr>
        <p:spPr>
          <a:xfrm>
            <a:off x="4663440" y="4023360"/>
            <a:ext cx="2788920" cy="502920"/>
          </a:xfrm>
          <a:prstGeom prst="rect">
            <a:avLst/>
          </a:prstGeom>
          <a:noFill/>
          <a:ln/>
        </p:spPr>
        <p:txBody>
          <a:bodyPr wrap="square" lIns="0" tIns="0" rIns="0" bIns="0" rtlCol="0" anchor="ctr"/>
          <a:lstStyle/>
          <a:p>
            <a:pPr marL="0" indent="0" algn="ctr">
              <a:buNone/>
            </a:pPr>
            <a:r>
              <a:rPr lang="en-US" sz="1250" dirty="0">
                <a:solidFill>
                  <a:srgbClr val="16293A"/>
                </a:solidFill>
                <a:latin typeface="Arial" pitchFamily="34" charset="0"/>
                <a:ea typeface="Arial" pitchFamily="34" charset="-122"/>
                <a:cs typeface="Arial" pitchFamily="34" charset="-120"/>
              </a:rPr>
              <a:t>paid in commissions every year (modeled baseline)</a:t>
            </a:r>
            <a:endParaRPr lang="en-US" sz="1250" dirty="0"/>
          </a:p>
        </p:txBody>
      </p:sp>
      <p:sp>
        <p:nvSpPr>
          <p:cNvPr id="15" name="Shape 11"/>
          <p:cNvSpPr/>
          <p:nvPr/>
        </p:nvSpPr>
        <p:spPr>
          <a:xfrm>
            <a:off x="8046720" y="2240280"/>
            <a:ext cx="3429000" cy="2331720"/>
          </a:xfrm>
          <a:prstGeom prst="roundRect">
            <a:avLst>
              <a:gd name="adj" fmla="val 392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6" name="Shape 12"/>
          <p:cNvSpPr/>
          <p:nvPr/>
        </p:nvSpPr>
        <p:spPr>
          <a:xfrm>
            <a:off x="8321040" y="2514600"/>
            <a:ext cx="640080" cy="64008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7" name="Image 2" descr="preencoded.png"/>
          <p:cNvPicPr>
            <a:picLocks noChangeAspect="1"/>
          </p:cNvPicPr>
          <p:nvPr/>
        </p:nvPicPr>
        <p:blipFill>
          <a:blip r:embed="rId5"/>
          <a:stretch>
            <a:fillRect/>
          </a:stretch>
        </p:blipFill>
        <p:spPr>
          <a:xfrm>
            <a:off x="8493862" y="2687422"/>
            <a:ext cx="294437" cy="294437"/>
          </a:xfrm>
          <a:prstGeom prst="rect">
            <a:avLst/>
          </a:prstGeom>
        </p:spPr>
      </p:pic>
      <p:sp>
        <p:nvSpPr>
          <p:cNvPr id="18" name="Text 13"/>
          <p:cNvSpPr/>
          <p:nvPr/>
        </p:nvSpPr>
        <p:spPr>
          <a:xfrm>
            <a:off x="8046720" y="3154680"/>
            <a:ext cx="3429000" cy="822960"/>
          </a:xfrm>
          <a:prstGeom prst="rect">
            <a:avLst/>
          </a:prstGeom>
          <a:noFill/>
          <a:ln/>
        </p:spPr>
        <p:txBody>
          <a:bodyPr wrap="square" lIns="0" tIns="0" rIns="0" bIns="0" rtlCol="0" anchor="ctr"/>
          <a:lstStyle/>
          <a:p>
            <a:pPr marL="0" indent="0" algn="ctr">
              <a:buNone/>
            </a:pPr>
            <a:r>
              <a:rPr lang="en-US" sz="4600" b="1" dirty="0">
                <a:solidFill>
                  <a:srgbClr val="0B2D4D"/>
                </a:solidFill>
                <a:latin typeface="Arial" pitchFamily="34" charset="0"/>
                <a:ea typeface="Arial" pitchFamily="34" charset="-122"/>
                <a:cs typeface="Arial" pitchFamily="34" charset="-120"/>
              </a:rPr>
              <a:t>0</a:t>
            </a:r>
            <a:endParaRPr lang="en-US" sz="4600" dirty="0"/>
          </a:p>
        </p:txBody>
      </p:sp>
      <p:sp>
        <p:nvSpPr>
          <p:cNvPr id="19" name="Text 14"/>
          <p:cNvSpPr/>
          <p:nvPr/>
        </p:nvSpPr>
        <p:spPr>
          <a:xfrm>
            <a:off x="8366760" y="4023360"/>
            <a:ext cx="2788920" cy="502920"/>
          </a:xfrm>
          <a:prstGeom prst="rect">
            <a:avLst/>
          </a:prstGeom>
          <a:noFill/>
          <a:ln/>
        </p:spPr>
        <p:txBody>
          <a:bodyPr wrap="square" lIns="0" tIns="0" rIns="0" bIns="0" rtlCol="0" anchor="ctr"/>
          <a:lstStyle/>
          <a:p>
            <a:pPr marL="0" indent="0" algn="ctr">
              <a:buNone/>
            </a:pPr>
            <a:r>
              <a:rPr lang="en-US" sz="1250" dirty="0">
                <a:solidFill>
                  <a:srgbClr val="16293A"/>
                </a:solidFill>
                <a:latin typeface="Arial" pitchFamily="34" charset="0"/>
                <a:ea typeface="Arial" pitchFamily="34" charset="-122"/>
                <a:cs typeface="Arial" pitchFamily="34" charset="-120"/>
              </a:rPr>
              <a:t>in-house records to manage cost, demand or revenue</a:t>
            </a:r>
            <a:endParaRPr lang="en-US" sz="1250" dirty="0"/>
          </a:p>
        </p:txBody>
      </p:sp>
      <p:sp>
        <p:nvSpPr>
          <p:cNvPr id="20" name="Shape 15"/>
          <p:cNvSpPr/>
          <p:nvPr/>
        </p:nvSpPr>
        <p:spPr>
          <a:xfrm>
            <a:off x="640080" y="4800600"/>
            <a:ext cx="10927080" cy="1371600"/>
          </a:xfrm>
          <a:prstGeom prst="roundRect">
            <a:avLst>
              <a:gd name="adj" fmla="val 6667"/>
            </a:avLst>
          </a:prstGeom>
          <a:solidFill>
            <a:srgbClr val="0B2D4D"/>
          </a:solidFill>
          <a:ln/>
          <a:effectLst>
            <a:outerShdw blurRad="114300" dist="38100" dir="5400000" algn="bl" rotWithShape="0">
              <a:srgbClr val="0B2D4D">
                <a:alpha val="16000"/>
              </a:srgbClr>
            </a:outerShdw>
          </a:effectLst>
        </p:spPr>
        <p:txBody>
          <a:bodyPr/>
          <a:lstStyle/>
          <a:p>
            <a:endParaRPr lang="en-US"/>
          </a:p>
        </p:txBody>
      </p:sp>
      <p:sp>
        <p:nvSpPr>
          <p:cNvPr id="21" name="Shape 16"/>
          <p:cNvSpPr/>
          <p:nvPr/>
        </p:nvSpPr>
        <p:spPr>
          <a:xfrm>
            <a:off x="914400" y="5138928"/>
            <a:ext cx="713232" cy="713232"/>
          </a:xfrm>
          <a:prstGeom prst="ellipse">
            <a:avLst/>
          </a:prstGeom>
          <a:solidFill>
            <a:srgbClr val="E0A82E"/>
          </a:solidFill>
          <a:ln/>
          <a:effectLst>
            <a:outerShdw blurRad="88900" dist="25400" dir="5400000" algn="bl" rotWithShape="0">
              <a:srgbClr val="000000">
                <a:alpha val="10000"/>
              </a:srgbClr>
            </a:outerShdw>
          </a:effectLst>
        </p:spPr>
        <p:txBody>
          <a:bodyPr/>
          <a:lstStyle/>
          <a:p>
            <a:endParaRPr lang="en-US"/>
          </a:p>
        </p:txBody>
      </p:sp>
      <p:pic>
        <p:nvPicPr>
          <p:cNvPr id="22" name="Image 3" descr="preencoded.png"/>
          <p:cNvPicPr>
            <a:picLocks noChangeAspect="1"/>
          </p:cNvPicPr>
          <p:nvPr/>
        </p:nvPicPr>
        <p:blipFill>
          <a:blip r:embed="rId6"/>
          <a:stretch>
            <a:fillRect/>
          </a:stretch>
        </p:blipFill>
        <p:spPr>
          <a:xfrm>
            <a:off x="1106973" y="5331501"/>
            <a:ext cx="328087" cy="328087"/>
          </a:xfrm>
          <a:prstGeom prst="rect">
            <a:avLst/>
          </a:prstGeom>
        </p:spPr>
      </p:pic>
      <p:sp>
        <p:nvSpPr>
          <p:cNvPr id="23" name="Text 17"/>
          <p:cNvSpPr/>
          <p:nvPr/>
        </p:nvSpPr>
        <p:spPr>
          <a:xfrm>
            <a:off x="1874520" y="4956048"/>
            <a:ext cx="9418320" cy="1051560"/>
          </a:xfrm>
          <a:prstGeom prst="rect">
            <a:avLst/>
          </a:prstGeom>
          <a:noFill/>
          <a:ln/>
        </p:spPr>
        <p:txBody>
          <a:bodyPr wrap="square" lIns="0" tIns="0" rIns="0" bIns="0" rtlCol="0" anchor="ctr"/>
          <a:lstStyle/>
          <a:p>
            <a:pPr marL="0" indent="0">
              <a:lnSpc>
                <a:spcPct val="112000"/>
              </a:lnSpc>
              <a:buNone/>
            </a:pPr>
            <a:r>
              <a:rPr lang="en-US" sz="1450" b="1" dirty="0">
                <a:solidFill>
                  <a:srgbClr val="E0A82E"/>
                </a:solidFill>
                <a:latin typeface="Arial" pitchFamily="34" charset="0"/>
                <a:ea typeface="Arial" pitchFamily="34" charset="-122"/>
                <a:cs typeface="Arial" pitchFamily="34" charset="-120"/>
              </a:rPr>
              <a:t>The opportunity.  </a:t>
            </a:r>
            <a:r>
              <a:rPr lang="en-US" sz="1450" dirty="0">
                <a:solidFill>
                  <a:srgbClr val="DCE6EF"/>
                </a:solidFill>
                <a:latin typeface="Arial" pitchFamily="34" charset="0"/>
                <a:ea typeface="Arial" pitchFamily="34" charset="-122"/>
                <a:cs typeface="Arial" pitchFamily="34" charset="-120"/>
              </a:rPr>
              <a:t>Larger cruise lines capture about 50% of bookings in-house at $0 commission. If ABC matches that benchmark, it converts roughly half of its commission spend into </a:t>
            </a:r>
            <a:r>
              <a:rPr lang="en-US" sz="1450" b="1" dirty="0">
                <a:solidFill>
                  <a:srgbClr val="FFFFFF"/>
                </a:solidFill>
                <a:latin typeface="Arial" pitchFamily="34" charset="0"/>
                <a:ea typeface="Arial" pitchFamily="34" charset="-122"/>
                <a:cs typeface="Arial" pitchFamily="34" charset="-120"/>
              </a:rPr>
              <a:t>$4M to $5M of recurring annual savings</a:t>
            </a:r>
            <a:r>
              <a:rPr lang="en-US" sz="1450" dirty="0">
                <a:solidFill>
                  <a:srgbClr val="DCE6EF"/>
                </a:solidFill>
                <a:latin typeface="Arial" pitchFamily="34" charset="0"/>
                <a:ea typeface="Arial" pitchFamily="34" charset="-122"/>
                <a:cs typeface="Arial" pitchFamily="34" charset="-120"/>
              </a:rPr>
              <a:t>, while finally owning its operating data.</a:t>
            </a:r>
            <a:endParaRPr lang="en-US" sz="1450" dirty="0"/>
          </a:p>
        </p:txBody>
      </p:sp>
      <p:sp>
        <p:nvSpPr>
          <p:cNvPr id="24" name="Text 18"/>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25" name="Text 19"/>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THE DOMAIN</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Who ABC is, and what they sail</a:t>
            </a:r>
            <a:endParaRPr lang="en-US" sz="3000" dirty="0"/>
          </a:p>
        </p:txBody>
      </p:sp>
      <p:sp>
        <p:nvSpPr>
          <p:cNvPr id="4" name="Shape 2"/>
          <p:cNvSpPr/>
          <p:nvPr/>
        </p:nvSpPr>
        <p:spPr>
          <a:xfrm>
            <a:off x="640080" y="1508760"/>
            <a:ext cx="5394960" cy="868680"/>
          </a:xfrm>
          <a:prstGeom prst="roundRect">
            <a:avLst>
              <a:gd name="adj" fmla="val 8421"/>
            </a:avLst>
          </a:prstGeom>
          <a:solidFill>
            <a:srgbClr val="EAF1F7"/>
          </a:solidFill>
          <a:ln w="12700">
            <a:solidFill>
              <a:srgbClr val="CFE0EC"/>
            </a:solidFill>
            <a:prstDash val="solid"/>
          </a:ln>
        </p:spPr>
        <p:txBody>
          <a:bodyPr/>
          <a:lstStyle/>
          <a:p>
            <a:endParaRPr lang="en-US"/>
          </a:p>
        </p:txBody>
      </p:sp>
      <p:sp>
        <p:nvSpPr>
          <p:cNvPr id="5" name="Text 3"/>
          <p:cNvSpPr/>
          <p:nvPr/>
        </p:nvSpPr>
        <p:spPr>
          <a:xfrm>
            <a:off x="868680" y="1664208"/>
            <a:ext cx="5029200" cy="548640"/>
          </a:xfrm>
          <a:prstGeom prst="rect">
            <a:avLst/>
          </a:prstGeom>
          <a:noFill/>
          <a:ln/>
        </p:spPr>
        <p:txBody>
          <a:bodyPr wrap="square" lIns="0" tIns="0" rIns="0" bIns="0" rtlCol="0" anchor="ctr"/>
          <a:lstStyle/>
          <a:p>
            <a:pPr marL="0" indent="0">
              <a:buNone/>
            </a:pPr>
            <a:r>
              <a:rPr lang="en-US" sz="1300" b="1" dirty="0">
                <a:solidFill>
                  <a:srgbClr val="0E7C86"/>
                </a:solidFill>
                <a:latin typeface="Arial" pitchFamily="34" charset="0"/>
                <a:ea typeface="Arial" pitchFamily="34" charset="-122"/>
                <a:cs typeface="Arial" pitchFamily="34" charset="-120"/>
              </a:rPr>
              <a:t>Canada cruises   </a:t>
            </a:r>
            <a:r>
              <a:rPr lang="en-US" sz="1300" dirty="0">
                <a:solidFill>
                  <a:srgbClr val="16293A"/>
                </a:solidFill>
                <a:latin typeface="Arial" pitchFamily="34" charset="0"/>
                <a:ea typeface="Arial" pitchFamily="34" charset="-122"/>
                <a:cs typeface="Arial" pitchFamily="34" charset="-120"/>
              </a:rPr>
              <a:t>7 or 9 nights, New York to Atlantic Canada ports</a:t>
            </a:r>
            <a:endParaRPr lang="en-US" sz="1300" dirty="0"/>
          </a:p>
        </p:txBody>
      </p:sp>
      <p:sp>
        <p:nvSpPr>
          <p:cNvPr id="6" name="Shape 4"/>
          <p:cNvSpPr/>
          <p:nvPr/>
        </p:nvSpPr>
        <p:spPr>
          <a:xfrm>
            <a:off x="6172200" y="1508760"/>
            <a:ext cx="5394960" cy="868680"/>
          </a:xfrm>
          <a:prstGeom prst="roundRect">
            <a:avLst>
              <a:gd name="adj" fmla="val 8421"/>
            </a:avLst>
          </a:prstGeom>
          <a:solidFill>
            <a:srgbClr val="EAF1F7"/>
          </a:solidFill>
          <a:ln w="12700">
            <a:solidFill>
              <a:srgbClr val="CFE0EC"/>
            </a:solidFill>
            <a:prstDash val="solid"/>
          </a:ln>
        </p:spPr>
        <p:txBody>
          <a:bodyPr/>
          <a:lstStyle/>
          <a:p>
            <a:endParaRPr lang="en-US"/>
          </a:p>
        </p:txBody>
      </p:sp>
      <p:sp>
        <p:nvSpPr>
          <p:cNvPr id="7" name="Text 5"/>
          <p:cNvSpPr/>
          <p:nvPr/>
        </p:nvSpPr>
        <p:spPr>
          <a:xfrm>
            <a:off x="6400800" y="1664208"/>
            <a:ext cx="5029200" cy="548640"/>
          </a:xfrm>
          <a:prstGeom prst="rect">
            <a:avLst/>
          </a:prstGeom>
          <a:noFill/>
          <a:ln/>
        </p:spPr>
        <p:txBody>
          <a:bodyPr wrap="square" lIns="0" tIns="0" rIns="0" bIns="0" rtlCol="0" anchor="ctr"/>
          <a:lstStyle/>
          <a:p>
            <a:pPr marL="0" indent="0">
              <a:buNone/>
            </a:pPr>
            <a:r>
              <a:rPr lang="en-US" sz="1300" b="1" dirty="0">
                <a:solidFill>
                  <a:srgbClr val="E0A82E"/>
                </a:solidFill>
                <a:latin typeface="Arial" pitchFamily="34" charset="0"/>
                <a:ea typeface="Arial" pitchFamily="34" charset="-122"/>
                <a:cs typeface="Arial" pitchFamily="34" charset="-120"/>
              </a:rPr>
              <a:t>Cruises to somewhere   </a:t>
            </a:r>
            <a:r>
              <a:rPr lang="en-US" sz="1300" dirty="0">
                <a:solidFill>
                  <a:srgbClr val="16293A"/>
                </a:solidFill>
                <a:latin typeface="Arial" pitchFamily="34" charset="0"/>
                <a:ea typeface="Arial" pitchFamily="34" charset="-122"/>
                <a:cs typeface="Arial" pitchFamily="34" charset="-120"/>
              </a:rPr>
              <a:t>1-day / half-day casino sailings to intl. waters</a:t>
            </a:r>
            <a:endParaRPr lang="en-US" sz="1300" dirty="0"/>
          </a:p>
        </p:txBody>
      </p:sp>
      <p:sp>
        <p:nvSpPr>
          <p:cNvPr id="8" name="Shape 6"/>
          <p:cNvSpPr/>
          <p:nvPr/>
        </p:nvSpPr>
        <p:spPr>
          <a:xfrm>
            <a:off x="640080" y="2606040"/>
            <a:ext cx="3429000" cy="2240280"/>
          </a:xfrm>
          <a:prstGeom prst="roundRect">
            <a:avLst>
              <a:gd name="adj" fmla="val 408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9" name="Shape 7"/>
          <p:cNvSpPr/>
          <p:nvPr/>
        </p:nvSpPr>
        <p:spPr>
          <a:xfrm>
            <a:off x="914400" y="2834640"/>
            <a:ext cx="640080" cy="64008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10" name="Image 0" descr="preencoded.png"/>
          <p:cNvPicPr>
            <a:picLocks noChangeAspect="1"/>
          </p:cNvPicPr>
          <p:nvPr/>
        </p:nvPicPr>
        <p:blipFill>
          <a:blip r:embed="rId3"/>
          <a:stretch>
            <a:fillRect/>
          </a:stretch>
        </p:blipFill>
        <p:spPr>
          <a:xfrm>
            <a:off x="1087222" y="3007462"/>
            <a:ext cx="294437" cy="294437"/>
          </a:xfrm>
          <a:prstGeom prst="rect">
            <a:avLst/>
          </a:prstGeom>
        </p:spPr>
      </p:pic>
      <p:sp>
        <p:nvSpPr>
          <p:cNvPr id="11" name="Text 8"/>
          <p:cNvSpPr/>
          <p:nvPr/>
        </p:nvSpPr>
        <p:spPr>
          <a:xfrm>
            <a:off x="1691640" y="2852928"/>
            <a:ext cx="2286000" cy="594360"/>
          </a:xfrm>
          <a:prstGeom prst="rect">
            <a:avLst/>
          </a:prstGeom>
          <a:noFill/>
          <a:ln/>
        </p:spPr>
        <p:txBody>
          <a:bodyPr wrap="square" lIns="0" tIns="0" rIns="0" bIns="0" rtlCol="0" anchor="ctr"/>
          <a:lstStyle/>
          <a:p>
            <a:pPr marL="0" indent="0">
              <a:buNone/>
            </a:pPr>
            <a:r>
              <a:rPr lang="en-US" sz="1550" b="1" dirty="0">
                <a:solidFill>
                  <a:srgbClr val="16293A"/>
                </a:solidFill>
                <a:latin typeface="Arial" pitchFamily="34" charset="0"/>
                <a:ea typeface="Arial" pitchFamily="34" charset="-122"/>
                <a:cs typeface="Arial" pitchFamily="34" charset="-120"/>
              </a:rPr>
              <a:t>Queen Victoria</a:t>
            </a:r>
            <a:endParaRPr lang="en-US" sz="1550" dirty="0"/>
          </a:p>
        </p:txBody>
      </p:sp>
      <p:sp>
        <p:nvSpPr>
          <p:cNvPr id="12" name="Text 9"/>
          <p:cNvSpPr/>
          <p:nvPr/>
        </p:nvSpPr>
        <p:spPr>
          <a:xfrm>
            <a:off x="932688" y="3611880"/>
            <a:ext cx="2834640" cy="292608"/>
          </a:xfrm>
          <a:prstGeom prst="rect">
            <a:avLst/>
          </a:prstGeom>
          <a:noFill/>
          <a:ln/>
        </p:spPr>
        <p:txBody>
          <a:bodyPr wrap="square" lIns="0" tIns="0" rIns="0" bIns="0" rtlCol="0" anchor="ctr"/>
          <a:lstStyle/>
          <a:p>
            <a:pPr marL="0" indent="0">
              <a:buNone/>
            </a:pPr>
            <a:r>
              <a:rPr lang="en-US" sz="1200" b="1" dirty="0">
                <a:solidFill>
                  <a:srgbClr val="0E7C86"/>
                </a:solidFill>
                <a:latin typeface="Arial" pitchFamily="34" charset="0"/>
                <a:ea typeface="Arial" pitchFamily="34" charset="-122"/>
                <a:cs typeface="Arial" pitchFamily="34" charset="-120"/>
              </a:rPr>
              <a:t>Canada · 7-night</a:t>
            </a:r>
            <a:endParaRPr lang="en-US" sz="1200" dirty="0"/>
          </a:p>
        </p:txBody>
      </p:sp>
      <p:sp>
        <p:nvSpPr>
          <p:cNvPr id="13" name="Text 10"/>
          <p:cNvSpPr/>
          <p:nvPr/>
        </p:nvSpPr>
        <p:spPr>
          <a:xfrm>
            <a:off x="932688" y="3931920"/>
            <a:ext cx="2834640" cy="411480"/>
          </a:xfrm>
          <a:prstGeom prst="rect">
            <a:avLst/>
          </a:prstGeom>
          <a:noFill/>
          <a:ln/>
        </p:spPr>
        <p:txBody>
          <a:bodyPr wrap="square" lIns="0" tIns="0" rIns="0" bIns="0" rtlCol="0" anchor="ctr"/>
          <a:lstStyle/>
          <a:p>
            <a:pPr marL="0" indent="0">
              <a:buNone/>
            </a:pPr>
            <a:r>
              <a:rPr lang="en-US" sz="2200" b="1" dirty="0">
                <a:solidFill>
                  <a:srgbClr val="16293A"/>
                </a:solidFill>
                <a:latin typeface="Arial" pitchFamily="34" charset="0"/>
                <a:ea typeface="Arial" pitchFamily="34" charset="-122"/>
                <a:cs typeface="Arial" pitchFamily="34" charset="-120"/>
              </a:rPr>
              <a:t>260 guests</a:t>
            </a:r>
            <a:endParaRPr lang="en-US" sz="2200" dirty="0"/>
          </a:p>
        </p:txBody>
      </p:sp>
      <p:sp>
        <p:nvSpPr>
          <p:cNvPr id="14" name="Text 11"/>
          <p:cNvSpPr/>
          <p:nvPr/>
        </p:nvSpPr>
        <p:spPr>
          <a:xfrm>
            <a:off x="932688" y="4407408"/>
            <a:ext cx="2834640" cy="292608"/>
          </a:xfrm>
          <a:prstGeom prst="rect">
            <a:avLst/>
          </a:prstGeom>
          <a:noFill/>
          <a:ln/>
        </p:spPr>
        <p:txBody>
          <a:bodyPr wrap="square" lIns="0" tIns="0" rIns="0" bIns="0" rtlCol="0" anchor="ctr"/>
          <a:lstStyle/>
          <a:p>
            <a:pPr marL="0" indent="0">
              <a:buNone/>
            </a:pPr>
            <a:r>
              <a:rPr lang="en-US" sz="1150" dirty="0">
                <a:solidFill>
                  <a:srgbClr val="5C6B7A"/>
                </a:solidFill>
                <a:latin typeface="Arial" pitchFamily="34" charset="0"/>
                <a:ea typeface="Arial" pitchFamily="34" charset="-122"/>
                <a:cs typeface="Arial" pitchFamily="34" charset="-120"/>
              </a:rPr>
              <a:t>130 cabins · 110 crew</a:t>
            </a:r>
            <a:endParaRPr lang="en-US" sz="1150" dirty="0"/>
          </a:p>
        </p:txBody>
      </p:sp>
      <p:sp>
        <p:nvSpPr>
          <p:cNvPr id="15" name="Shape 12"/>
          <p:cNvSpPr/>
          <p:nvPr/>
        </p:nvSpPr>
        <p:spPr>
          <a:xfrm>
            <a:off x="4343400" y="2606040"/>
            <a:ext cx="3429000" cy="2240280"/>
          </a:xfrm>
          <a:prstGeom prst="roundRect">
            <a:avLst>
              <a:gd name="adj" fmla="val 408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6" name="Shape 13"/>
          <p:cNvSpPr/>
          <p:nvPr/>
        </p:nvSpPr>
        <p:spPr>
          <a:xfrm>
            <a:off x="4617720" y="2834640"/>
            <a:ext cx="640080" cy="64008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7" name="Image 1" descr="preencoded.png"/>
          <p:cNvPicPr>
            <a:picLocks noChangeAspect="1"/>
          </p:cNvPicPr>
          <p:nvPr/>
        </p:nvPicPr>
        <p:blipFill>
          <a:blip r:embed="rId3"/>
          <a:stretch>
            <a:fillRect/>
          </a:stretch>
        </p:blipFill>
        <p:spPr>
          <a:xfrm>
            <a:off x="4790542" y="3007462"/>
            <a:ext cx="294437" cy="294437"/>
          </a:xfrm>
          <a:prstGeom prst="rect">
            <a:avLst/>
          </a:prstGeom>
        </p:spPr>
      </p:pic>
      <p:sp>
        <p:nvSpPr>
          <p:cNvPr id="18" name="Text 14"/>
          <p:cNvSpPr/>
          <p:nvPr/>
        </p:nvSpPr>
        <p:spPr>
          <a:xfrm>
            <a:off x="5394960" y="2852928"/>
            <a:ext cx="2286000" cy="594360"/>
          </a:xfrm>
          <a:prstGeom prst="rect">
            <a:avLst/>
          </a:prstGeom>
          <a:noFill/>
          <a:ln/>
        </p:spPr>
        <p:txBody>
          <a:bodyPr wrap="square" lIns="0" tIns="0" rIns="0" bIns="0" rtlCol="0" anchor="ctr"/>
          <a:lstStyle/>
          <a:p>
            <a:pPr marL="0" indent="0">
              <a:buNone/>
            </a:pPr>
            <a:r>
              <a:rPr lang="en-US" sz="1550" b="1" dirty="0">
                <a:solidFill>
                  <a:srgbClr val="16293A"/>
                </a:solidFill>
                <a:latin typeface="Arial" pitchFamily="34" charset="0"/>
                <a:ea typeface="Arial" pitchFamily="34" charset="-122"/>
                <a:cs typeface="Arial" pitchFamily="34" charset="-120"/>
              </a:rPr>
              <a:t>Crystal Symphony</a:t>
            </a:r>
            <a:endParaRPr lang="en-US" sz="1550" dirty="0"/>
          </a:p>
        </p:txBody>
      </p:sp>
      <p:sp>
        <p:nvSpPr>
          <p:cNvPr id="19" name="Text 15"/>
          <p:cNvSpPr/>
          <p:nvPr/>
        </p:nvSpPr>
        <p:spPr>
          <a:xfrm>
            <a:off x="4636008" y="3611880"/>
            <a:ext cx="2834640" cy="292608"/>
          </a:xfrm>
          <a:prstGeom prst="rect">
            <a:avLst/>
          </a:prstGeom>
          <a:noFill/>
          <a:ln/>
        </p:spPr>
        <p:txBody>
          <a:bodyPr wrap="square" lIns="0" tIns="0" rIns="0" bIns="0" rtlCol="0" anchor="ctr"/>
          <a:lstStyle/>
          <a:p>
            <a:pPr marL="0" indent="0">
              <a:buNone/>
            </a:pPr>
            <a:r>
              <a:rPr lang="en-US" sz="1200" b="1" dirty="0">
                <a:solidFill>
                  <a:srgbClr val="0B2D4D"/>
                </a:solidFill>
                <a:latin typeface="Arial" pitchFamily="34" charset="0"/>
                <a:ea typeface="Arial" pitchFamily="34" charset="-122"/>
                <a:cs typeface="Arial" pitchFamily="34" charset="-120"/>
              </a:rPr>
              <a:t>Canada · 9-night</a:t>
            </a:r>
            <a:endParaRPr lang="en-US" sz="1200" dirty="0"/>
          </a:p>
        </p:txBody>
      </p:sp>
      <p:sp>
        <p:nvSpPr>
          <p:cNvPr id="20" name="Text 16"/>
          <p:cNvSpPr/>
          <p:nvPr/>
        </p:nvSpPr>
        <p:spPr>
          <a:xfrm>
            <a:off x="4636008" y="3931920"/>
            <a:ext cx="2834640" cy="411480"/>
          </a:xfrm>
          <a:prstGeom prst="rect">
            <a:avLst/>
          </a:prstGeom>
          <a:noFill/>
          <a:ln/>
        </p:spPr>
        <p:txBody>
          <a:bodyPr wrap="square" lIns="0" tIns="0" rIns="0" bIns="0" rtlCol="0" anchor="ctr"/>
          <a:lstStyle/>
          <a:p>
            <a:pPr marL="0" indent="0">
              <a:buNone/>
            </a:pPr>
            <a:r>
              <a:rPr lang="en-US" sz="2200" b="1" dirty="0">
                <a:solidFill>
                  <a:srgbClr val="16293A"/>
                </a:solidFill>
                <a:latin typeface="Arial" pitchFamily="34" charset="0"/>
                <a:ea typeface="Arial" pitchFamily="34" charset="-122"/>
                <a:cs typeface="Arial" pitchFamily="34" charset="-120"/>
              </a:rPr>
              <a:t>300 guests</a:t>
            </a:r>
            <a:endParaRPr lang="en-US" sz="2200" dirty="0"/>
          </a:p>
        </p:txBody>
      </p:sp>
      <p:sp>
        <p:nvSpPr>
          <p:cNvPr id="21" name="Text 17"/>
          <p:cNvSpPr/>
          <p:nvPr/>
        </p:nvSpPr>
        <p:spPr>
          <a:xfrm>
            <a:off x="4636008" y="4407408"/>
            <a:ext cx="2834640" cy="292608"/>
          </a:xfrm>
          <a:prstGeom prst="rect">
            <a:avLst/>
          </a:prstGeom>
          <a:noFill/>
          <a:ln/>
        </p:spPr>
        <p:txBody>
          <a:bodyPr wrap="square" lIns="0" tIns="0" rIns="0" bIns="0" rtlCol="0" anchor="ctr"/>
          <a:lstStyle/>
          <a:p>
            <a:pPr marL="0" indent="0">
              <a:buNone/>
            </a:pPr>
            <a:r>
              <a:rPr lang="en-US" sz="1150" dirty="0">
                <a:solidFill>
                  <a:srgbClr val="5C6B7A"/>
                </a:solidFill>
                <a:latin typeface="Arial" pitchFamily="34" charset="0"/>
                <a:ea typeface="Arial" pitchFamily="34" charset="-122"/>
                <a:cs typeface="Arial" pitchFamily="34" charset="-120"/>
              </a:rPr>
              <a:t>150 cabins · 120 crew</a:t>
            </a:r>
            <a:endParaRPr lang="en-US" sz="1150" dirty="0"/>
          </a:p>
        </p:txBody>
      </p:sp>
      <p:sp>
        <p:nvSpPr>
          <p:cNvPr id="22" name="Shape 18"/>
          <p:cNvSpPr/>
          <p:nvPr/>
        </p:nvSpPr>
        <p:spPr>
          <a:xfrm>
            <a:off x="8046720" y="2606040"/>
            <a:ext cx="3429000" cy="2240280"/>
          </a:xfrm>
          <a:prstGeom prst="roundRect">
            <a:avLst>
              <a:gd name="adj" fmla="val 408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23" name="Shape 19"/>
          <p:cNvSpPr/>
          <p:nvPr/>
        </p:nvSpPr>
        <p:spPr>
          <a:xfrm>
            <a:off x="8321040" y="2834640"/>
            <a:ext cx="640080" cy="640080"/>
          </a:xfrm>
          <a:prstGeom prst="ellipse">
            <a:avLst/>
          </a:prstGeom>
          <a:solidFill>
            <a:srgbClr val="E0A82E"/>
          </a:solidFill>
          <a:ln/>
          <a:effectLst>
            <a:outerShdw blurRad="88900" dist="25400" dir="5400000" algn="bl" rotWithShape="0">
              <a:srgbClr val="000000">
                <a:alpha val="10000"/>
              </a:srgbClr>
            </a:outerShdw>
          </a:effectLst>
        </p:spPr>
        <p:txBody>
          <a:bodyPr/>
          <a:lstStyle/>
          <a:p>
            <a:endParaRPr lang="en-US"/>
          </a:p>
        </p:txBody>
      </p:sp>
      <p:pic>
        <p:nvPicPr>
          <p:cNvPr id="24" name="Image 2" descr="preencoded.png"/>
          <p:cNvPicPr>
            <a:picLocks noChangeAspect="1"/>
          </p:cNvPicPr>
          <p:nvPr/>
        </p:nvPicPr>
        <p:blipFill>
          <a:blip r:embed="rId3"/>
          <a:stretch>
            <a:fillRect/>
          </a:stretch>
        </p:blipFill>
        <p:spPr>
          <a:xfrm>
            <a:off x="8493862" y="3007462"/>
            <a:ext cx="294437" cy="294437"/>
          </a:xfrm>
          <a:prstGeom prst="rect">
            <a:avLst/>
          </a:prstGeom>
        </p:spPr>
      </p:pic>
      <p:sp>
        <p:nvSpPr>
          <p:cNvPr id="25" name="Text 20"/>
          <p:cNvSpPr/>
          <p:nvPr/>
        </p:nvSpPr>
        <p:spPr>
          <a:xfrm>
            <a:off x="9098280" y="2852928"/>
            <a:ext cx="2286000" cy="594360"/>
          </a:xfrm>
          <a:prstGeom prst="rect">
            <a:avLst/>
          </a:prstGeom>
          <a:noFill/>
          <a:ln/>
        </p:spPr>
        <p:txBody>
          <a:bodyPr wrap="square" lIns="0" tIns="0" rIns="0" bIns="0" rtlCol="0" anchor="ctr"/>
          <a:lstStyle/>
          <a:p>
            <a:pPr marL="0" indent="0">
              <a:buNone/>
            </a:pPr>
            <a:r>
              <a:rPr lang="en-US" sz="1550" b="1" dirty="0">
                <a:solidFill>
                  <a:srgbClr val="16293A"/>
                </a:solidFill>
                <a:latin typeface="Arial" pitchFamily="34" charset="0"/>
                <a:ea typeface="Arial" pitchFamily="34" charset="-122"/>
                <a:cs typeface="Arial" pitchFamily="34" charset="-120"/>
              </a:rPr>
              <a:t>Seven Seas Splendor</a:t>
            </a:r>
            <a:endParaRPr lang="en-US" sz="1550" dirty="0"/>
          </a:p>
        </p:txBody>
      </p:sp>
      <p:sp>
        <p:nvSpPr>
          <p:cNvPr id="26" name="Text 21"/>
          <p:cNvSpPr/>
          <p:nvPr/>
        </p:nvSpPr>
        <p:spPr>
          <a:xfrm>
            <a:off x="8339328" y="3611880"/>
            <a:ext cx="2834640" cy="292608"/>
          </a:xfrm>
          <a:prstGeom prst="rect">
            <a:avLst/>
          </a:prstGeom>
          <a:noFill/>
          <a:ln/>
        </p:spPr>
        <p:txBody>
          <a:bodyPr wrap="square" lIns="0" tIns="0" rIns="0" bIns="0" rtlCol="0" anchor="ctr"/>
          <a:lstStyle/>
          <a:p>
            <a:pPr marL="0" indent="0">
              <a:buNone/>
            </a:pPr>
            <a:r>
              <a:rPr lang="en-US" sz="1200" b="1" dirty="0">
                <a:solidFill>
                  <a:srgbClr val="E0A82E"/>
                </a:solidFill>
                <a:latin typeface="Arial" pitchFamily="34" charset="0"/>
                <a:ea typeface="Arial" pitchFamily="34" charset="-122"/>
                <a:cs typeface="Arial" pitchFamily="34" charset="-120"/>
              </a:rPr>
              <a:t>Casino day cruise</a:t>
            </a:r>
            <a:endParaRPr lang="en-US" sz="1200" dirty="0"/>
          </a:p>
        </p:txBody>
      </p:sp>
      <p:sp>
        <p:nvSpPr>
          <p:cNvPr id="27" name="Text 22"/>
          <p:cNvSpPr/>
          <p:nvPr/>
        </p:nvSpPr>
        <p:spPr>
          <a:xfrm>
            <a:off x="8339328" y="3931920"/>
            <a:ext cx="2834640" cy="411480"/>
          </a:xfrm>
          <a:prstGeom prst="rect">
            <a:avLst/>
          </a:prstGeom>
          <a:noFill/>
          <a:ln/>
        </p:spPr>
        <p:txBody>
          <a:bodyPr wrap="square" lIns="0" tIns="0" rIns="0" bIns="0" rtlCol="0" anchor="ctr"/>
          <a:lstStyle/>
          <a:p>
            <a:pPr marL="0" indent="0">
              <a:buNone/>
            </a:pPr>
            <a:r>
              <a:rPr lang="en-US" sz="2200" b="1" dirty="0">
                <a:solidFill>
                  <a:srgbClr val="16293A"/>
                </a:solidFill>
                <a:latin typeface="Arial" pitchFamily="34" charset="0"/>
                <a:ea typeface="Arial" pitchFamily="34" charset="-122"/>
                <a:cs typeface="Arial" pitchFamily="34" charset="-120"/>
              </a:rPr>
              <a:t>500 guests</a:t>
            </a:r>
            <a:endParaRPr lang="en-US" sz="2200" dirty="0"/>
          </a:p>
        </p:txBody>
      </p:sp>
      <p:sp>
        <p:nvSpPr>
          <p:cNvPr id="28" name="Text 23"/>
          <p:cNvSpPr/>
          <p:nvPr/>
        </p:nvSpPr>
        <p:spPr>
          <a:xfrm>
            <a:off x="8339328" y="4407408"/>
            <a:ext cx="2834640" cy="292608"/>
          </a:xfrm>
          <a:prstGeom prst="rect">
            <a:avLst/>
          </a:prstGeom>
          <a:noFill/>
          <a:ln/>
        </p:spPr>
        <p:txBody>
          <a:bodyPr wrap="square" lIns="0" tIns="0" rIns="0" bIns="0" rtlCol="0" anchor="ctr"/>
          <a:lstStyle/>
          <a:p>
            <a:pPr marL="0" indent="0">
              <a:buNone/>
            </a:pPr>
            <a:r>
              <a:rPr lang="en-US" sz="1150" dirty="0">
                <a:solidFill>
                  <a:srgbClr val="5C6B7A"/>
                </a:solidFill>
                <a:latin typeface="Arial" pitchFamily="34" charset="0"/>
                <a:ea typeface="Arial" pitchFamily="34" charset="-122"/>
                <a:cs typeface="Arial" pitchFamily="34" charset="-120"/>
              </a:rPr>
              <a:t>seat-based · 70 crew</a:t>
            </a:r>
            <a:endParaRPr lang="en-US" sz="1150" dirty="0"/>
          </a:p>
        </p:txBody>
      </p:sp>
      <p:sp>
        <p:nvSpPr>
          <p:cNvPr id="29" name="Shape 24"/>
          <p:cNvSpPr/>
          <p:nvPr/>
        </p:nvSpPr>
        <p:spPr>
          <a:xfrm>
            <a:off x="640080" y="5074920"/>
            <a:ext cx="10927080" cy="1005840"/>
          </a:xfrm>
          <a:prstGeom prst="roundRect">
            <a:avLst>
              <a:gd name="adj" fmla="val 9091"/>
            </a:avLst>
          </a:prstGeom>
          <a:solidFill>
            <a:srgbClr val="0B2D4D"/>
          </a:solidFill>
          <a:ln/>
          <a:effectLst>
            <a:outerShdw blurRad="114300" dist="38100" dir="5400000" algn="bl" rotWithShape="0">
              <a:srgbClr val="0B2D4D">
                <a:alpha val="16000"/>
              </a:srgbClr>
            </a:outerShdw>
          </a:effectLst>
        </p:spPr>
        <p:txBody>
          <a:bodyPr/>
          <a:lstStyle/>
          <a:p>
            <a:endParaRPr lang="en-US"/>
          </a:p>
        </p:txBody>
      </p:sp>
      <p:sp>
        <p:nvSpPr>
          <p:cNvPr id="30" name="Text 25"/>
          <p:cNvSpPr/>
          <p:nvPr/>
        </p:nvSpPr>
        <p:spPr>
          <a:xfrm>
            <a:off x="914400" y="5230368"/>
            <a:ext cx="201168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New York, NY</a:t>
            </a:r>
            <a:endParaRPr lang="en-US" sz="1800" dirty="0"/>
          </a:p>
        </p:txBody>
      </p:sp>
      <p:sp>
        <p:nvSpPr>
          <p:cNvPr id="31" name="Text 26"/>
          <p:cNvSpPr/>
          <p:nvPr/>
        </p:nvSpPr>
        <p:spPr>
          <a:xfrm>
            <a:off x="914400" y="5650992"/>
            <a:ext cx="2011680" cy="274320"/>
          </a:xfrm>
          <a:prstGeom prst="rect">
            <a:avLst/>
          </a:prstGeom>
          <a:noFill/>
          <a:ln/>
        </p:spPr>
        <p:txBody>
          <a:bodyPr wrap="square" lIns="0" tIns="0" rIns="0" bIns="0" rtlCol="0" anchor="ctr"/>
          <a:lstStyle/>
          <a:p>
            <a:pPr marL="0" indent="0">
              <a:buNone/>
            </a:pPr>
            <a:r>
              <a:rPr lang="en-US" sz="1000" b="1" kern="0" spc="100" dirty="0">
                <a:solidFill>
                  <a:srgbClr val="E0A82E"/>
                </a:solidFill>
                <a:latin typeface="Arial" pitchFamily="34" charset="0"/>
                <a:ea typeface="Arial" pitchFamily="34" charset="-122"/>
                <a:cs typeface="Arial" pitchFamily="34" charset="-120"/>
              </a:rPr>
              <a:t>HOMEPORT</a:t>
            </a:r>
            <a:endParaRPr lang="en-US" sz="1000" dirty="0"/>
          </a:p>
        </p:txBody>
      </p:sp>
      <p:sp>
        <p:nvSpPr>
          <p:cNvPr id="32" name="Text 27"/>
          <p:cNvSpPr/>
          <p:nvPr/>
        </p:nvSpPr>
        <p:spPr>
          <a:xfrm>
            <a:off x="3035808" y="5230368"/>
            <a:ext cx="201168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Binghamton, NY</a:t>
            </a:r>
            <a:endParaRPr lang="en-US" sz="1800" dirty="0"/>
          </a:p>
        </p:txBody>
      </p:sp>
      <p:sp>
        <p:nvSpPr>
          <p:cNvPr id="33" name="Text 28"/>
          <p:cNvSpPr/>
          <p:nvPr/>
        </p:nvSpPr>
        <p:spPr>
          <a:xfrm>
            <a:off x="3035808" y="5650992"/>
            <a:ext cx="2011680" cy="274320"/>
          </a:xfrm>
          <a:prstGeom prst="rect">
            <a:avLst/>
          </a:prstGeom>
          <a:noFill/>
          <a:ln/>
        </p:spPr>
        <p:txBody>
          <a:bodyPr wrap="square" lIns="0" tIns="0" rIns="0" bIns="0" rtlCol="0" anchor="ctr"/>
          <a:lstStyle/>
          <a:p>
            <a:pPr marL="0" indent="0">
              <a:buNone/>
            </a:pPr>
            <a:r>
              <a:rPr lang="en-US" sz="1000" b="1" kern="0" spc="100" dirty="0">
                <a:solidFill>
                  <a:srgbClr val="E0A82E"/>
                </a:solidFill>
                <a:latin typeface="Arial" pitchFamily="34" charset="0"/>
                <a:ea typeface="Arial" pitchFamily="34" charset="-122"/>
                <a:cs typeface="Arial" pitchFamily="34" charset="-120"/>
              </a:rPr>
              <a:t>HQ</a:t>
            </a:r>
            <a:endParaRPr lang="en-US" sz="1000" dirty="0"/>
          </a:p>
        </p:txBody>
      </p:sp>
      <p:sp>
        <p:nvSpPr>
          <p:cNvPr id="34" name="Text 29"/>
          <p:cNvSpPr/>
          <p:nvPr/>
        </p:nvSpPr>
        <p:spPr>
          <a:xfrm>
            <a:off x="5157216" y="5230368"/>
            <a:ext cx="201168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~100</a:t>
            </a:r>
            <a:endParaRPr lang="en-US" sz="1800" dirty="0"/>
          </a:p>
        </p:txBody>
      </p:sp>
      <p:sp>
        <p:nvSpPr>
          <p:cNvPr id="35" name="Text 30"/>
          <p:cNvSpPr/>
          <p:nvPr/>
        </p:nvSpPr>
        <p:spPr>
          <a:xfrm>
            <a:off x="5157216" y="5650992"/>
            <a:ext cx="2011680" cy="274320"/>
          </a:xfrm>
          <a:prstGeom prst="rect">
            <a:avLst/>
          </a:prstGeom>
          <a:noFill/>
          <a:ln/>
        </p:spPr>
        <p:txBody>
          <a:bodyPr wrap="square" lIns="0" tIns="0" rIns="0" bIns="0" rtlCol="0" anchor="ctr"/>
          <a:lstStyle/>
          <a:p>
            <a:pPr marL="0" indent="0">
              <a:buNone/>
            </a:pPr>
            <a:r>
              <a:rPr lang="en-US" sz="1000" b="1" kern="0" spc="100" dirty="0">
                <a:solidFill>
                  <a:srgbClr val="E0A82E"/>
                </a:solidFill>
                <a:latin typeface="Arial" pitchFamily="34" charset="0"/>
                <a:ea typeface="Arial" pitchFamily="34" charset="-122"/>
                <a:cs typeface="Arial" pitchFamily="34" charset="-120"/>
              </a:rPr>
              <a:t>SHORE STAFF</a:t>
            </a:r>
            <a:endParaRPr lang="en-US" sz="1000" dirty="0"/>
          </a:p>
        </p:txBody>
      </p:sp>
      <p:sp>
        <p:nvSpPr>
          <p:cNvPr id="36" name="Text 31"/>
          <p:cNvSpPr/>
          <p:nvPr/>
        </p:nvSpPr>
        <p:spPr>
          <a:xfrm>
            <a:off x="7278624" y="5230368"/>
            <a:ext cx="201168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~300</a:t>
            </a:r>
            <a:endParaRPr lang="en-US" sz="1800" dirty="0"/>
          </a:p>
        </p:txBody>
      </p:sp>
      <p:sp>
        <p:nvSpPr>
          <p:cNvPr id="37" name="Text 32"/>
          <p:cNvSpPr/>
          <p:nvPr/>
        </p:nvSpPr>
        <p:spPr>
          <a:xfrm>
            <a:off x="7278624" y="5650992"/>
            <a:ext cx="2011680" cy="274320"/>
          </a:xfrm>
          <a:prstGeom prst="rect">
            <a:avLst/>
          </a:prstGeom>
          <a:noFill/>
          <a:ln/>
        </p:spPr>
        <p:txBody>
          <a:bodyPr wrap="square" lIns="0" tIns="0" rIns="0" bIns="0" rtlCol="0" anchor="ctr"/>
          <a:lstStyle/>
          <a:p>
            <a:pPr marL="0" indent="0">
              <a:buNone/>
            </a:pPr>
            <a:r>
              <a:rPr lang="en-US" sz="1000" b="1" kern="0" spc="100" dirty="0">
                <a:solidFill>
                  <a:srgbClr val="E0A82E"/>
                </a:solidFill>
                <a:latin typeface="Arial" pitchFamily="34" charset="0"/>
                <a:ea typeface="Arial" pitchFamily="34" charset="-122"/>
                <a:cs typeface="Arial" pitchFamily="34" charset="-120"/>
              </a:rPr>
              <a:t>SHIPBOARD CREW</a:t>
            </a:r>
            <a:endParaRPr lang="en-US" sz="1000" dirty="0"/>
          </a:p>
        </p:txBody>
      </p:sp>
      <p:sp>
        <p:nvSpPr>
          <p:cNvPr id="38" name="Text 33"/>
          <p:cNvSpPr/>
          <p:nvPr/>
        </p:nvSpPr>
        <p:spPr>
          <a:xfrm>
            <a:off x="9400032" y="5230368"/>
            <a:ext cx="2011680" cy="41148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~1,060 guests</a:t>
            </a:r>
            <a:endParaRPr lang="en-US" sz="1800" dirty="0"/>
          </a:p>
        </p:txBody>
      </p:sp>
      <p:sp>
        <p:nvSpPr>
          <p:cNvPr id="39" name="Text 34"/>
          <p:cNvSpPr/>
          <p:nvPr/>
        </p:nvSpPr>
        <p:spPr>
          <a:xfrm>
            <a:off x="9400032" y="5650992"/>
            <a:ext cx="2011680" cy="274320"/>
          </a:xfrm>
          <a:prstGeom prst="rect">
            <a:avLst/>
          </a:prstGeom>
          <a:noFill/>
          <a:ln/>
        </p:spPr>
        <p:txBody>
          <a:bodyPr wrap="square" lIns="0" tIns="0" rIns="0" bIns="0" rtlCol="0" anchor="ctr"/>
          <a:lstStyle/>
          <a:p>
            <a:pPr marL="0" indent="0">
              <a:buNone/>
            </a:pPr>
            <a:r>
              <a:rPr lang="en-US" sz="1000" b="1" kern="0" spc="100" dirty="0">
                <a:solidFill>
                  <a:srgbClr val="E0A82E"/>
                </a:solidFill>
                <a:latin typeface="Arial" pitchFamily="34" charset="0"/>
                <a:ea typeface="Arial" pitchFamily="34" charset="-122"/>
                <a:cs typeface="Arial" pitchFamily="34" charset="-120"/>
              </a:rPr>
              <a:t>FLEET CAPACITY</a:t>
            </a:r>
            <a:endParaRPr lang="en-US" sz="1000" dirty="0"/>
          </a:p>
        </p:txBody>
      </p:sp>
      <p:sp>
        <p:nvSpPr>
          <p:cNvPr id="40" name="Text 35"/>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41" name="Text 36"/>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PROJECT OBJECTIVE</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What the prototype has to prove</a:t>
            </a:r>
            <a:endParaRPr lang="en-US" sz="3000" dirty="0"/>
          </a:p>
        </p:txBody>
      </p:sp>
      <p:sp>
        <p:nvSpPr>
          <p:cNvPr id="4" name="Shape 2"/>
          <p:cNvSpPr/>
          <p:nvPr/>
        </p:nvSpPr>
        <p:spPr>
          <a:xfrm>
            <a:off x="640080" y="1691640"/>
            <a:ext cx="5303520" cy="1874520"/>
          </a:xfrm>
          <a:prstGeom prst="roundRect">
            <a:avLst>
              <a:gd name="adj" fmla="val 4878"/>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5" name="Shape 3"/>
          <p:cNvSpPr/>
          <p:nvPr/>
        </p:nvSpPr>
        <p:spPr>
          <a:xfrm>
            <a:off x="932688" y="1965960"/>
            <a:ext cx="713232" cy="713232"/>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125261" y="2158533"/>
            <a:ext cx="328087" cy="328087"/>
          </a:xfrm>
          <a:prstGeom prst="rect">
            <a:avLst/>
          </a:prstGeom>
        </p:spPr>
      </p:pic>
      <p:sp>
        <p:nvSpPr>
          <p:cNvPr id="7" name="Text 4"/>
          <p:cNvSpPr/>
          <p:nvPr/>
        </p:nvSpPr>
        <p:spPr>
          <a:xfrm>
            <a:off x="5212080" y="1856232"/>
            <a:ext cx="548640" cy="548640"/>
          </a:xfrm>
          <a:prstGeom prst="rect">
            <a:avLst/>
          </a:prstGeom>
          <a:noFill/>
          <a:ln/>
        </p:spPr>
        <p:txBody>
          <a:bodyPr wrap="square" lIns="0" tIns="0" rIns="0" bIns="0" rtlCol="0" anchor="ctr"/>
          <a:lstStyle/>
          <a:p>
            <a:pPr marL="0" indent="0" algn="r">
              <a:buNone/>
            </a:pPr>
            <a:r>
              <a:rPr lang="en-US" sz="3000" b="1" dirty="0">
                <a:solidFill>
                  <a:srgbClr val="E3ECF3"/>
                </a:solidFill>
                <a:latin typeface="Arial" pitchFamily="34" charset="0"/>
                <a:ea typeface="Arial" pitchFamily="34" charset="-122"/>
                <a:cs typeface="Arial" pitchFamily="34" charset="-120"/>
              </a:rPr>
              <a:t>1</a:t>
            </a:r>
            <a:endParaRPr lang="en-US" sz="3000" dirty="0"/>
          </a:p>
        </p:txBody>
      </p:sp>
      <p:sp>
        <p:nvSpPr>
          <p:cNvPr id="8" name="Text 5"/>
          <p:cNvSpPr/>
          <p:nvPr/>
        </p:nvSpPr>
        <p:spPr>
          <a:xfrm>
            <a:off x="1828800" y="2002536"/>
            <a:ext cx="3291840" cy="640080"/>
          </a:xfrm>
          <a:prstGeom prst="rect">
            <a:avLst/>
          </a:prstGeom>
          <a:noFill/>
          <a:ln/>
        </p:spPr>
        <p:txBody>
          <a:bodyPr wrap="square" lIns="0" tIns="0" rIns="0" bIns="0" rtlCol="0" anchor="ctr"/>
          <a:lstStyle/>
          <a:p>
            <a:pPr marL="0" indent="0">
              <a:buNone/>
            </a:pPr>
            <a:r>
              <a:rPr lang="en-US" sz="1600" b="1" dirty="0">
                <a:solidFill>
                  <a:srgbClr val="16293A"/>
                </a:solidFill>
                <a:latin typeface="Arial" pitchFamily="34" charset="0"/>
                <a:ea typeface="Arial" pitchFamily="34" charset="-122"/>
                <a:cs typeface="Arial" pitchFamily="34" charset="-120"/>
              </a:rPr>
              <a:t>Book end-to-end, in-house</a:t>
            </a:r>
            <a:endParaRPr lang="en-US" sz="1600" dirty="0"/>
          </a:p>
        </p:txBody>
      </p:sp>
      <p:sp>
        <p:nvSpPr>
          <p:cNvPr id="9" name="Text 6"/>
          <p:cNvSpPr/>
          <p:nvPr/>
        </p:nvSpPr>
        <p:spPr>
          <a:xfrm>
            <a:off x="950976" y="2770632"/>
            <a:ext cx="4754880" cy="685800"/>
          </a:xfrm>
          <a:prstGeom prst="rect">
            <a:avLst/>
          </a:prstGeom>
          <a:noFill/>
          <a:ln/>
        </p:spPr>
        <p:txBody>
          <a:bodyPr wrap="square" lIns="0" tIns="0" rIns="0" bIns="0" rtlCol="0" anchor="ctr"/>
          <a:lstStyle/>
          <a:p>
            <a:pPr marL="0" indent="0">
              <a:lnSpc>
                <a:spcPct val="110000"/>
              </a:lnSpc>
              <a:buNone/>
            </a:pPr>
            <a:r>
              <a:rPr lang="en-US" sz="1250" dirty="0">
                <a:solidFill>
                  <a:srgbClr val="5C6B7A"/>
                </a:solidFill>
                <a:latin typeface="Arial" pitchFamily="34" charset="0"/>
                <a:ea typeface="Arial" pitchFamily="34" charset="-122"/>
                <a:cs typeface="Arial" pitchFamily="34" charset="-120"/>
              </a:rPr>
              <a:t>A realistic, robust reservation flow that takes a customer from browsing to a paid, confirmed cruise, including payment.</a:t>
            </a:r>
            <a:endParaRPr lang="en-US" sz="1250" dirty="0"/>
          </a:p>
        </p:txBody>
      </p:sp>
      <p:sp>
        <p:nvSpPr>
          <p:cNvPr id="10" name="Shape 7"/>
          <p:cNvSpPr/>
          <p:nvPr/>
        </p:nvSpPr>
        <p:spPr>
          <a:xfrm>
            <a:off x="6217920" y="1691640"/>
            <a:ext cx="5303520" cy="1874520"/>
          </a:xfrm>
          <a:prstGeom prst="roundRect">
            <a:avLst>
              <a:gd name="adj" fmla="val 4878"/>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1" name="Shape 8"/>
          <p:cNvSpPr/>
          <p:nvPr/>
        </p:nvSpPr>
        <p:spPr>
          <a:xfrm>
            <a:off x="6510528" y="1965960"/>
            <a:ext cx="713232" cy="713232"/>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6703101" y="2158533"/>
            <a:ext cx="328087" cy="328087"/>
          </a:xfrm>
          <a:prstGeom prst="rect">
            <a:avLst/>
          </a:prstGeom>
        </p:spPr>
      </p:pic>
      <p:sp>
        <p:nvSpPr>
          <p:cNvPr id="13" name="Text 9"/>
          <p:cNvSpPr/>
          <p:nvPr/>
        </p:nvSpPr>
        <p:spPr>
          <a:xfrm>
            <a:off x="10789920" y="1856232"/>
            <a:ext cx="548640" cy="548640"/>
          </a:xfrm>
          <a:prstGeom prst="rect">
            <a:avLst/>
          </a:prstGeom>
          <a:noFill/>
          <a:ln/>
        </p:spPr>
        <p:txBody>
          <a:bodyPr wrap="square" lIns="0" tIns="0" rIns="0" bIns="0" rtlCol="0" anchor="ctr"/>
          <a:lstStyle/>
          <a:p>
            <a:pPr marL="0" indent="0" algn="r">
              <a:buNone/>
            </a:pPr>
            <a:r>
              <a:rPr lang="en-US" sz="3000" b="1" dirty="0">
                <a:solidFill>
                  <a:srgbClr val="E3ECF3"/>
                </a:solidFill>
                <a:latin typeface="Arial" pitchFamily="34" charset="0"/>
                <a:ea typeface="Arial" pitchFamily="34" charset="-122"/>
                <a:cs typeface="Arial" pitchFamily="34" charset="-120"/>
              </a:rPr>
              <a:t>2</a:t>
            </a:r>
            <a:endParaRPr lang="en-US" sz="3000" dirty="0"/>
          </a:p>
        </p:txBody>
      </p:sp>
      <p:sp>
        <p:nvSpPr>
          <p:cNvPr id="14" name="Text 10"/>
          <p:cNvSpPr/>
          <p:nvPr/>
        </p:nvSpPr>
        <p:spPr>
          <a:xfrm>
            <a:off x="7406640" y="2002536"/>
            <a:ext cx="3291840" cy="640080"/>
          </a:xfrm>
          <a:prstGeom prst="rect">
            <a:avLst/>
          </a:prstGeom>
          <a:noFill/>
          <a:ln/>
        </p:spPr>
        <p:txBody>
          <a:bodyPr wrap="square" lIns="0" tIns="0" rIns="0" bIns="0" rtlCol="0" anchor="ctr"/>
          <a:lstStyle/>
          <a:p>
            <a:pPr marL="0" indent="0">
              <a:buNone/>
            </a:pPr>
            <a:r>
              <a:rPr lang="en-US" sz="1600" b="1" dirty="0">
                <a:solidFill>
                  <a:srgbClr val="16293A"/>
                </a:solidFill>
                <a:latin typeface="Arial" pitchFamily="34" charset="0"/>
                <a:ea typeface="Arial" pitchFamily="34" charset="-122"/>
                <a:cs typeface="Arial" pitchFamily="34" charset="-120"/>
              </a:rPr>
              <a:t>Handle both products &amp; customer types</a:t>
            </a:r>
            <a:endParaRPr lang="en-US" sz="1600" dirty="0"/>
          </a:p>
        </p:txBody>
      </p:sp>
      <p:sp>
        <p:nvSpPr>
          <p:cNvPr id="15" name="Text 11"/>
          <p:cNvSpPr/>
          <p:nvPr/>
        </p:nvSpPr>
        <p:spPr>
          <a:xfrm>
            <a:off x="6528816" y="2770632"/>
            <a:ext cx="4754880" cy="685800"/>
          </a:xfrm>
          <a:prstGeom prst="rect">
            <a:avLst/>
          </a:prstGeom>
          <a:noFill/>
          <a:ln/>
        </p:spPr>
        <p:txBody>
          <a:bodyPr wrap="square" lIns="0" tIns="0" rIns="0" bIns="0" rtlCol="0" anchor="ctr"/>
          <a:lstStyle/>
          <a:p>
            <a:pPr marL="0" indent="0">
              <a:lnSpc>
                <a:spcPct val="110000"/>
              </a:lnSpc>
              <a:buNone/>
            </a:pPr>
            <a:r>
              <a:rPr lang="en-US" sz="1250" dirty="0">
                <a:solidFill>
                  <a:srgbClr val="5C6B7A"/>
                </a:solidFill>
                <a:latin typeface="Arial" pitchFamily="34" charset="0"/>
                <a:ea typeface="Arial" pitchFamily="34" charset="-122"/>
                <a:cs typeface="Arial" pitchFamily="34" charset="-120"/>
              </a:rPr>
              <a:t>Canada cruises and day-cruises, for individuals and corporate / travel-club groups.</a:t>
            </a:r>
            <a:endParaRPr lang="en-US" sz="1250" dirty="0"/>
          </a:p>
        </p:txBody>
      </p:sp>
      <p:sp>
        <p:nvSpPr>
          <p:cNvPr id="16" name="Shape 12"/>
          <p:cNvSpPr/>
          <p:nvPr/>
        </p:nvSpPr>
        <p:spPr>
          <a:xfrm>
            <a:off x="640080" y="3840480"/>
            <a:ext cx="5303520" cy="1874520"/>
          </a:xfrm>
          <a:prstGeom prst="roundRect">
            <a:avLst>
              <a:gd name="adj" fmla="val 4878"/>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7" name="Shape 13"/>
          <p:cNvSpPr/>
          <p:nvPr/>
        </p:nvSpPr>
        <p:spPr>
          <a:xfrm>
            <a:off x="932688" y="4114800"/>
            <a:ext cx="713232" cy="713232"/>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18" name="Image 2" descr="preencoded.png"/>
          <p:cNvPicPr>
            <a:picLocks noChangeAspect="1"/>
          </p:cNvPicPr>
          <p:nvPr/>
        </p:nvPicPr>
        <p:blipFill>
          <a:blip r:embed="rId5"/>
          <a:stretch>
            <a:fillRect/>
          </a:stretch>
        </p:blipFill>
        <p:spPr>
          <a:xfrm>
            <a:off x="1125261" y="4307373"/>
            <a:ext cx="328087" cy="328087"/>
          </a:xfrm>
          <a:prstGeom prst="rect">
            <a:avLst/>
          </a:prstGeom>
        </p:spPr>
      </p:pic>
      <p:sp>
        <p:nvSpPr>
          <p:cNvPr id="19" name="Text 14"/>
          <p:cNvSpPr/>
          <p:nvPr/>
        </p:nvSpPr>
        <p:spPr>
          <a:xfrm>
            <a:off x="5212080" y="4005072"/>
            <a:ext cx="548640" cy="548640"/>
          </a:xfrm>
          <a:prstGeom prst="rect">
            <a:avLst/>
          </a:prstGeom>
          <a:noFill/>
          <a:ln/>
        </p:spPr>
        <p:txBody>
          <a:bodyPr wrap="square" lIns="0" tIns="0" rIns="0" bIns="0" rtlCol="0" anchor="ctr"/>
          <a:lstStyle/>
          <a:p>
            <a:pPr marL="0" indent="0" algn="r">
              <a:buNone/>
            </a:pPr>
            <a:r>
              <a:rPr lang="en-US" sz="3000" b="1" dirty="0">
                <a:solidFill>
                  <a:srgbClr val="E3ECF3"/>
                </a:solidFill>
                <a:latin typeface="Arial" pitchFamily="34" charset="0"/>
                <a:ea typeface="Arial" pitchFamily="34" charset="-122"/>
                <a:cs typeface="Arial" pitchFamily="34" charset="-120"/>
              </a:rPr>
              <a:t>3</a:t>
            </a:r>
            <a:endParaRPr lang="en-US" sz="3000" dirty="0"/>
          </a:p>
        </p:txBody>
      </p:sp>
      <p:sp>
        <p:nvSpPr>
          <p:cNvPr id="20" name="Text 15"/>
          <p:cNvSpPr/>
          <p:nvPr/>
        </p:nvSpPr>
        <p:spPr>
          <a:xfrm>
            <a:off x="1828800" y="4151376"/>
            <a:ext cx="3291840" cy="640080"/>
          </a:xfrm>
          <a:prstGeom prst="rect">
            <a:avLst/>
          </a:prstGeom>
          <a:noFill/>
          <a:ln/>
        </p:spPr>
        <p:txBody>
          <a:bodyPr wrap="square" lIns="0" tIns="0" rIns="0" bIns="0" rtlCol="0" anchor="ctr"/>
          <a:lstStyle/>
          <a:p>
            <a:pPr marL="0" indent="0">
              <a:buNone/>
            </a:pPr>
            <a:r>
              <a:rPr lang="en-US" sz="1600" b="1" dirty="0">
                <a:solidFill>
                  <a:srgbClr val="16293A"/>
                </a:solidFill>
                <a:latin typeface="Arial" pitchFamily="34" charset="0"/>
                <a:ea typeface="Arial" pitchFamily="34" charset="-122"/>
                <a:cs typeface="Arial" pitchFamily="34" charset="-120"/>
              </a:rPr>
              <a:t>Feed a manager-facing DSS</a:t>
            </a:r>
            <a:endParaRPr lang="en-US" sz="1600" dirty="0"/>
          </a:p>
        </p:txBody>
      </p:sp>
      <p:sp>
        <p:nvSpPr>
          <p:cNvPr id="21" name="Text 16"/>
          <p:cNvSpPr/>
          <p:nvPr/>
        </p:nvSpPr>
        <p:spPr>
          <a:xfrm>
            <a:off x="950976" y="4919472"/>
            <a:ext cx="4754880" cy="685800"/>
          </a:xfrm>
          <a:prstGeom prst="rect">
            <a:avLst/>
          </a:prstGeom>
          <a:noFill/>
          <a:ln/>
        </p:spPr>
        <p:txBody>
          <a:bodyPr wrap="square" lIns="0" tIns="0" rIns="0" bIns="0" rtlCol="0" anchor="ctr"/>
          <a:lstStyle/>
          <a:p>
            <a:pPr marL="0" indent="0">
              <a:lnSpc>
                <a:spcPct val="110000"/>
              </a:lnSpc>
              <a:buNone/>
            </a:pPr>
            <a:r>
              <a:rPr lang="en-US" sz="1250" dirty="0">
                <a:solidFill>
                  <a:srgbClr val="5C6B7A"/>
                </a:solidFill>
                <a:latin typeface="Arial" pitchFamily="34" charset="0"/>
                <a:ea typeface="Arial" pitchFamily="34" charset="-122"/>
                <a:cs typeface="Arial" pitchFamily="34" charset="-120"/>
              </a:rPr>
              <a:t>Cost, revenue, demand, ship utilization, scheduling and forecasting decision support.</a:t>
            </a:r>
            <a:endParaRPr lang="en-US" sz="1250" dirty="0"/>
          </a:p>
        </p:txBody>
      </p:sp>
      <p:sp>
        <p:nvSpPr>
          <p:cNvPr id="22" name="Shape 17"/>
          <p:cNvSpPr/>
          <p:nvPr/>
        </p:nvSpPr>
        <p:spPr>
          <a:xfrm>
            <a:off x="6217920" y="3840480"/>
            <a:ext cx="5303520" cy="1874520"/>
          </a:xfrm>
          <a:prstGeom prst="roundRect">
            <a:avLst>
              <a:gd name="adj" fmla="val 4878"/>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23" name="Shape 18"/>
          <p:cNvSpPr/>
          <p:nvPr/>
        </p:nvSpPr>
        <p:spPr>
          <a:xfrm>
            <a:off x="6510528" y="4114800"/>
            <a:ext cx="713232" cy="713232"/>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24" name="Image 3" descr="preencoded.png"/>
          <p:cNvPicPr>
            <a:picLocks noChangeAspect="1"/>
          </p:cNvPicPr>
          <p:nvPr/>
        </p:nvPicPr>
        <p:blipFill>
          <a:blip r:embed="rId6"/>
          <a:stretch>
            <a:fillRect/>
          </a:stretch>
        </p:blipFill>
        <p:spPr>
          <a:xfrm>
            <a:off x="6703101" y="4307373"/>
            <a:ext cx="328087" cy="328087"/>
          </a:xfrm>
          <a:prstGeom prst="rect">
            <a:avLst/>
          </a:prstGeom>
        </p:spPr>
      </p:pic>
      <p:sp>
        <p:nvSpPr>
          <p:cNvPr id="25" name="Text 19"/>
          <p:cNvSpPr/>
          <p:nvPr/>
        </p:nvSpPr>
        <p:spPr>
          <a:xfrm>
            <a:off x="10789920" y="4005072"/>
            <a:ext cx="548640" cy="548640"/>
          </a:xfrm>
          <a:prstGeom prst="rect">
            <a:avLst/>
          </a:prstGeom>
          <a:noFill/>
          <a:ln/>
        </p:spPr>
        <p:txBody>
          <a:bodyPr wrap="square" lIns="0" tIns="0" rIns="0" bIns="0" rtlCol="0" anchor="ctr"/>
          <a:lstStyle/>
          <a:p>
            <a:pPr marL="0" indent="0" algn="r">
              <a:buNone/>
            </a:pPr>
            <a:r>
              <a:rPr lang="en-US" sz="3000" b="1" dirty="0">
                <a:solidFill>
                  <a:srgbClr val="E3ECF3"/>
                </a:solidFill>
                <a:latin typeface="Arial" pitchFamily="34" charset="0"/>
                <a:ea typeface="Arial" pitchFamily="34" charset="-122"/>
                <a:cs typeface="Arial" pitchFamily="34" charset="-120"/>
              </a:rPr>
              <a:t>4</a:t>
            </a:r>
            <a:endParaRPr lang="en-US" sz="3000" dirty="0"/>
          </a:p>
        </p:txBody>
      </p:sp>
      <p:sp>
        <p:nvSpPr>
          <p:cNvPr id="26" name="Text 20"/>
          <p:cNvSpPr/>
          <p:nvPr/>
        </p:nvSpPr>
        <p:spPr>
          <a:xfrm>
            <a:off x="7406640" y="4151376"/>
            <a:ext cx="3291840" cy="640080"/>
          </a:xfrm>
          <a:prstGeom prst="rect">
            <a:avLst/>
          </a:prstGeom>
          <a:noFill/>
          <a:ln/>
        </p:spPr>
        <p:txBody>
          <a:bodyPr wrap="square" lIns="0" tIns="0" rIns="0" bIns="0" rtlCol="0" anchor="ctr"/>
          <a:lstStyle/>
          <a:p>
            <a:pPr marL="0" indent="0">
              <a:buNone/>
            </a:pPr>
            <a:r>
              <a:rPr lang="en-US" sz="1600" b="1" dirty="0">
                <a:solidFill>
                  <a:srgbClr val="16293A"/>
                </a:solidFill>
                <a:latin typeface="Arial" pitchFamily="34" charset="0"/>
                <a:ea typeface="Arial" pitchFamily="34" charset="-122"/>
                <a:cs typeface="Arial" pitchFamily="34" charset="-120"/>
              </a:rPr>
              <a:t>Demonstrate the cost-saving thesis</a:t>
            </a:r>
            <a:endParaRPr lang="en-US" sz="1600" dirty="0"/>
          </a:p>
        </p:txBody>
      </p:sp>
      <p:sp>
        <p:nvSpPr>
          <p:cNvPr id="27" name="Text 21"/>
          <p:cNvSpPr/>
          <p:nvPr/>
        </p:nvSpPr>
        <p:spPr>
          <a:xfrm>
            <a:off x="6528816" y="4919472"/>
            <a:ext cx="4754880" cy="685800"/>
          </a:xfrm>
          <a:prstGeom prst="rect">
            <a:avLst/>
          </a:prstGeom>
          <a:noFill/>
          <a:ln/>
        </p:spPr>
        <p:txBody>
          <a:bodyPr wrap="square" lIns="0" tIns="0" rIns="0" bIns="0" rtlCol="0" anchor="ctr"/>
          <a:lstStyle/>
          <a:p>
            <a:pPr marL="0" indent="0">
              <a:lnSpc>
                <a:spcPct val="110000"/>
              </a:lnSpc>
              <a:buNone/>
            </a:pPr>
            <a:r>
              <a:rPr lang="en-US" sz="1250" dirty="0">
                <a:solidFill>
                  <a:srgbClr val="5C6B7A"/>
                </a:solidFill>
                <a:latin typeface="Arial" pitchFamily="34" charset="0"/>
                <a:ea typeface="Arial" pitchFamily="34" charset="-122"/>
                <a:cs typeface="Arial" pitchFamily="34" charset="-120"/>
              </a:rPr>
              <a:t>Quantify how in-house capture converts commission expense into recurring savings.</a:t>
            </a:r>
            <a:endParaRPr lang="en-US" sz="1250" dirty="0"/>
          </a:p>
        </p:txBody>
      </p:sp>
      <p:sp>
        <p:nvSpPr>
          <p:cNvPr id="28" name="Text 22"/>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29" name="Text 23"/>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THE SOLUTION</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Two interfaces, one shared data layer</a:t>
            </a:r>
            <a:endParaRPr lang="en-US" sz="3000" dirty="0"/>
          </a:p>
        </p:txBody>
      </p:sp>
      <p:sp>
        <p:nvSpPr>
          <p:cNvPr id="4" name="Shape 2"/>
          <p:cNvSpPr/>
          <p:nvPr/>
        </p:nvSpPr>
        <p:spPr>
          <a:xfrm>
            <a:off x="640080" y="1600200"/>
            <a:ext cx="4937760" cy="3108960"/>
          </a:xfrm>
          <a:prstGeom prst="roundRect">
            <a:avLst>
              <a:gd name="adj" fmla="val 3529"/>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5" name="Shape 3"/>
          <p:cNvSpPr/>
          <p:nvPr/>
        </p:nvSpPr>
        <p:spPr>
          <a:xfrm>
            <a:off x="914400" y="1874520"/>
            <a:ext cx="731520" cy="73152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111910" y="2072030"/>
            <a:ext cx="336499" cy="336499"/>
          </a:xfrm>
          <a:prstGeom prst="rect">
            <a:avLst/>
          </a:prstGeom>
        </p:spPr>
      </p:pic>
      <p:sp>
        <p:nvSpPr>
          <p:cNvPr id="7" name="Text 4"/>
          <p:cNvSpPr/>
          <p:nvPr/>
        </p:nvSpPr>
        <p:spPr>
          <a:xfrm>
            <a:off x="1828800" y="1901952"/>
            <a:ext cx="3657600" cy="640080"/>
          </a:xfrm>
          <a:prstGeom prst="rect">
            <a:avLst/>
          </a:prstGeom>
          <a:noFill/>
          <a:ln/>
        </p:spPr>
        <p:txBody>
          <a:bodyPr wrap="square" lIns="0" tIns="0" rIns="0" bIns="0" rtlCol="0" anchor="ctr"/>
          <a:lstStyle/>
          <a:p>
            <a:pPr marL="0" indent="0">
              <a:buNone/>
            </a:pPr>
            <a:r>
              <a:rPr lang="en-US" sz="1800" b="1" dirty="0">
                <a:solidFill>
                  <a:srgbClr val="16293A"/>
                </a:solidFill>
                <a:latin typeface="Arial" pitchFamily="34" charset="0"/>
                <a:ea typeface="Arial" pitchFamily="34" charset="-122"/>
                <a:cs typeface="Arial" pitchFamily="34" charset="-120"/>
              </a:rPr>
              <a:t>Customer Booking Site</a:t>
            </a:r>
            <a:endParaRPr lang="en-US" sz="1800" dirty="0"/>
          </a:p>
        </p:txBody>
      </p:sp>
      <p:sp>
        <p:nvSpPr>
          <p:cNvPr id="8" name="Text 5"/>
          <p:cNvSpPr/>
          <p:nvPr/>
        </p:nvSpPr>
        <p:spPr>
          <a:xfrm>
            <a:off x="1828800" y="2468880"/>
            <a:ext cx="3657600" cy="274320"/>
          </a:xfrm>
          <a:prstGeom prst="rect">
            <a:avLst/>
          </a:prstGeom>
          <a:noFill/>
          <a:ln/>
        </p:spPr>
        <p:txBody>
          <a:bodyPr wrap="square" lIns="0" tIns="0" rIns="0" bIns="0" rtlCol="0" anchor="ctr"/>
          <a:lstStyle/>
          <a:p>
            <a:pPr marL="0" indent="0">
              <a:buNone/>
            </a:pPr>
            <a:r>
              <a:rPr lang="en-US" sz="1100" b="1" dirty="0">
                <a:solidFill>
                  <a:srgbClr val="0E7C86"/>
                </a:solidFill>
                <a:latin typeface="Arial" pitchFamily="34" charset="0"/>
                <a:ea typeface="Arial" pitchFamily="34" charset="-122"/>
                <a:cs typeface="Arial" pitchFamily="34" charset="-120"/>
              </a:rPr>
              <a:t>index.html  ·  public</a:t>
            </a:r>
            <a:endParaRPr lang="en-US" sz="1100" dirty="0"/>
          </a:p>
        </p:txBody>
      </p:sp>
      <p:sp>
        <p:nvSpPr>
          <p:cNvPr id="9" name="Text 6"/>
          <p:cNvSpPr/>
          <p:nvPr/>
        </p:nvSpPr>
        <p:spPr>
          <a:xfrm>
            <a:off x="914400" y="2926080"/>
            <a:ext cx="4480560" cy="16916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6293A"/>
                </a:solidFill>
                <a:latin typeface="Arial" pitchFamily="34" charset="0"/>
                <a:ea typeface="Arial" pitchFamily="34" charset="-122"/>
                <a:cs typeface="Arial" pitchFamily="34" charset="-120"/>
              </a:rPr>
              <a:t>Guided step-by-step booking wizard</a:t>
            </a:r>
            <a:endParaRPr lang="en-US" sz="1300" dirty="0"/>
          </a:p>
          <a:p>
            <a:pPr marL="342900" indent="-342900">
              <a:spcAft>
                <a:spcPts val="800"/>
              </a:spcAft>
              <a:buSzPct val="100000"/>
              <a:buChar char="•"/>
            </a:pPr>
            <a:r>
              <a:rPr lang="en-US" sz="1300" dirty="0">
                <a:solidFill>
                  <a:srgbClr val="16293A"/>
                </a:solidFill>
                <a:latin typeface="Arial" pitchFamily="34" charset="0"/>
                <a:ea typeface="Arial" pitchFamily="34" charset="-122"/>
                <a:cs typeface="Arial" pitchFamily="34" charset="-120"/>
              </a:rPr>
              <a:t>Live, demand-aware pricing shown to the guest</a:t>
            </a:r>
            <a:endParaRPr lang="en-US" sz="1300" dirty="0"/>
          </a:p>
          <a:p>
            <a:pPr marL="342900" indent="-342900">
              <a:spcAft>
                <a:spcPts val="800"/>
              </a:spcAft>
              <a:buSzPct val="100000"/>
              <a:buChar char="•"/>
            </a:pPr>
            <a:r>
              <a:rPr lang="en-US" sz="1300" dirty="0">
                <a:solidFill>
                  <a:srgbClr val="16293A"/>
                </a:solidFill>
                <a:latin typeface="Arial" pitchFamily="34" charset="0"/>
                <a:ea typeface="Arial" pitchFamily="34" charset="-122"/>
                <a:cs typeface="Arial" pitchFamily="34" charset="-120"/>
              </a:rPr>
              <a:t>Sign-up, card payment, instant confirmation</a:t>
            </a:r>
            <a:endParaRPr lang="en-US" sz="1300" dirty="0"/>
          </a:p>
          <a:p>
            <a:pPr marL="342900" indent="-342900">
              <a:spcAft>
                <a:spcPts val="800"/>
              </a:spcAft>
              <a:buSzPct val="100000"/>
              <a:buChar char="•"/>
            </a:pPr>
            <a:r>
              <a:rPr lang="en-US" sz="1300" dirty="0">
                <a:solidFill>
                  <a:srgbClr val="16293A"/>
                </a:solidFill>
                <a:latin typeface="Arial" pitchFamily="34" charset="0"/>
                <a:ea typeface="Arial" pitchFamily="34" charset="-122"/>
                <a:cs typeface="Arial" pitchFamily="34" charset="-120"/>
              </a:rPr>
              <a:t>Every booking pays $0 commission</a:t>
            </a:r>
            <a:endParaRPr lang="en-US" sz="1300" dirty="0"/>
          </a:p>
        </p:txBody>
      </p:sp>
      <p:sp>
        <p:nvSpPr>
          <p:cNvPr id="10" name="Shape 7"/>
          <p:cNvSpPr/>
          <p:nvPr/>
        </p:nvSpPr>
        <p:spPr>
          <a:xfrm>
            <a:off x="6583680" y="1600200"/>
            <a:ext cx="4937760" cy="3108960"/>
          </a:xfrm>
          <a:prstGeom prst="roundRect">
            <a:avLst>
              <a:gd name="adj" fmla="val 3529"/>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1" name="Shape 8"/>
          <p:cNvSpPr/>
          <p:nvPr/>
        </p:nvSpPr>
        <p:spPr>
          <a:xfrm>
            <a:off x="6858000" y="1874520"/>
            <a:ext cx="731520" cy="73152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7055510" y="2072030"/>
            <a:ext cx="336499" cy="336499"/>
          </a:xfrm>
          <a:prstGeom prst="rect">
            <a:avLst/>
          </a:prstGeom>
        </p:spPr>
      </p:pic>
      <p:sp>
        <p:nvSpPr>
          <p:cNvPr id="13" name="Text 9"/>
          <p:cNvSpPr/>
          <p:nvPr/>
        </p:nvSpPr>
        <p:spPr>
          <a:xfrm>
            <a:off x="7772400" y="1901952"/>
            <a:ext cx="3657600" cy="640080"/>
          </a:xfrm>
          <a:prstGeom prst="rect">
            <a:avLst/>
          </a:prstGeom>
          <a:noFill/>
          <a:ln/>
        </p:spPr>
        <p:txBody>
          <a:bodyPr wrap="square" lIns="0" tIns="0" rIns="0" bIns="0" rtlCol="0" anchor="ctr"/>
          <a:lstStyle/>
          <a:p>
            <a:pPr marL="0" indent="0">
              <a:buNone/>
            </a:pPr>
            <a:r>
              <a:rPr lang="en-US" sz="1800" b="1" dirty="0">
                <a:solidFill>
                  <a:srgbClr val="16293A"/>
                </a:solidFill>
                <a:latin typeface="Arial" pitchFamily="34" charset="0"/>
                <a:ea typeface="Arial" pitchFamily="34" charset="-122"/>
                <a:cs typeface="Arial" pitchFamily="34" charset="-120"/>
              </a:rPr>
              <a:t>Ship Dashboard (Staff)</a:t>
            </a:r>
            <a:endParaRPr lang="en-US" sz="1800" dirty="0"/>
          </a:p>
        </p:txBody>
      </p:sp>
      <p:sp>
        <p:nvSpPr>
          <p:cNvPr id="14" name="Text 10"/>
          <p:cNvSpPr/>
          <p:nvPr/>
        </p:nvSpPr>
        <p:spPr>
          <a:xfrm>
            <a:off x="7772400" y="2468880"/>
            <a:ext cx="3657600" cy="274320"/>
          </a:xfrm>
          <a:prstGeom prst="rect">
            <a:avLst/>
          </a:prstGeom>
          <a:noFill/>
          <a:ln/>
        </p:spPr>
        <p:txBody>
          <a:bodyPr wrap="square" lIns="0" tIns="0" rIns="0" bIns="0" rtlCol="0" anchor="ctr"/>
          <a:lstStyle/>
          <a:p>
            <a:pPr marL="0" indent="0">
              <a:buNone/>
            </a:pPr>
            <a:r>
              <a:rPr lang="en-US" sz="1100" b="1" dirty="0">
                <a:solidFill>
                  <a:srgbClr val="0B2D4D"/>
                </a:solidFill>
                <a:latin typeface="Arial" pitchFamily="34" charset="0"/>
                <a:ea typeface="Arial" pitchFamily="34" charset="-122"/>
                <a:cs typeface="Arial" pitchFamily="34" charset="-120"/>
              </a:rPr>
              <a:t>admin.html  ·  decision-makers</a:t>
            </a:r>
            <a:endParaRPr lang="en-US" sz="1100" dirty="0"/>
          </a:p>
        </p:txBody>
      </p:sp>
      <p:sp>
        <p:nvSpPr>
          <p:cNvPr id="15" name="Text 11"/>
          <p:cNvSpPr/>
          <p:nvPr/>
        </p:nvSpPr>
        <p:spPr>
          <a:xfrm>
            <a:off x="6858000" y="2926080"/>
            <a:ext cx="4480560" cy="16916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6293A"/>
                </a:solidFill>
                <a:latin typeface="Arial" pitchFamily="34" charset="0"/>
                <a:ea typeface="Arial" pitchFamily="34" charset="-122"/>
                <a:cs typeface="Arial" pitchFamily="34" charset="-120"/>
              </a:rPr>
              <a:t>Pricing control &amp; dynamic-pricing rules</a:t>
            </a:r>
            <a:endParaRPr lang="en-US" sz="1300" dirty="0"/>
          </a:p>
          <a:p>
            <a:pPr marL="342900" indent="-342900">
              <a:spcAft>
                <a:spcPts val="800"/>
              </a:spcAft>
              <a:buSzPct val="100000"/>
              <a:buChar char="•"/>
            </a:pPr>
            <a:r>
              <a:rPr lang="en-US" sz="1300" dirty="0">
                <a:solidFill>
                  <a:srgbClr val="16293A"/>
                </a:solidFill>
                <a:latin typeface="Arial" pitchFamily="34" charset="0"/>
                <a:ea typeface="Arial" pitchFamily="34" charset="-122"/>
                <a:cs typeface="Arial" pitchFamily="34" charset="-120"/>
              </a:rPr>
              <a:t>Demand-driven trip schedule for the 3 ships</a:t>
            </a:r>
            <a:endParaRPr lang="en-US" sz="1300" dirty="0"/>
          </a:p>
          <a:p>
            <a:pPr marL="342900" indent="-342900">
              <a:spcAft>
                <a:spcPts val="800"/>
              </a:spcAft>
              <a:buSzPct val="100000"/>
              <a:buChar char="•"/>
            </a:pPr>
            <a:r>
              <a:rPr lang="en-US" sz="1300" dirty="0">
                <a:solidFill>
                  <a:srgbClr val="16293A"/>
                </a:solidFill>
                <a:latin typeface="Arial" pitchFamily="34" charset="0"/>
                <a:ea typeface="Arial" pitchFamily="34" charset="-122"/>
                <a:cs typeface="Arial" pitchFamily="34" charset="-120"/>
              </a:rPr>
              <a:t>Reservation log + analytics + CSV export</a:t>
            </a:r>
            <a:endParaRPr lang="en-US" sz="1300" dirty="0"/>
          </a:p>
          <a:p>
            <a:pPr marL="342900" indent="-342900">
              <a:spcAft>
                <a:spcPts val="800"/>
              </a:spcAft>
              <a:buSzPct val="100000"/>
              <a:buChar char="•"/>
            </a:pPr>
            <a:r>
              <a:rPr lang="en-US" sz="1300" dirty="0">
                <a:solidFill>
                  <a:srgbClr val="16293A"/>
                </a:solidFill>
                <a:latin typeface="Arial" pitchFamily="34" charset="0"/>
                <a:ea typeface="Arial" pitchFamily="34" charset="-122"/>
                <a:cs typeface="Arial" pitchFamily="34" charset="-120"/>
              </a:rPr>
              <a:t>Cost &amp; savings model and forecasting</a:t>
            </a:r>
            <a:endParaRPr lang="en-US" sz="1300" dirty="0"/>
          </a:p>
        </p:txBody>
      </p:sp>
      <p:sp>
        <p:nvSpPr>
          <p:cNvPr id="16" name="Shape 12"/>
          <p:cNvSpPr/>
          <p:nvPr/>
        </p:nvSpPr>
        <p:spPr>
          <a:xfrm>
            <a:off x="5486400" y="2788920"/>
            <a:ext cx="822960" cy="822960"/>
          </a:xfrm>
          <a:prstGeom prst="ellipse">
            <a:avLst/>
          </a:prstGeom>
          <a:solidFill>
            <a:srgbClr val="E0A82E"/>
          </a:solidFill>
          <a:ln/>
          <a:effectLst>
            <a:outerShdw blurRad="88900" dist="25400" dir="5400000" algn="bl" rotWithShape="0">
              <a:srgbClr val="000000">
                <a:alpha val="10000"/>
              </a:srgbClr>
            </a:outerShdw>
          </a:effectLst>
        </p:spPr>
        <p:txBody>
          <a:bodyPr/>
          <a:lstStyle/>
          <a:p>
            <a:endParaRPr lang="en-US"/>
          </a:p>
        </p:txBody>
      </p:sp>
      <p:pic>
        <p:nvPicPr>
          <p:cNvPr id="17" name="Image 2" descr="preencoded.png"/>
          <p:cNvPicPr>
            <a:picLocks noChangeAspect="1"/>
          </p:cNvPicPr>
          <p:nvPr/>
        </p:nvPicPr>
        <p:blipFill>
          <a:blip r:embed="rId5"/>
          <a:stretch>
            <a:fillRect/>
          </a:stretch>
        </p:blipFill>
        <p:spPr>
          <a:xfrm>
            <a:off x="5708599" y="3011119"/>
            <a:ext cx="378562" cy="378562"/>
          </a:xfrm>
          <a:prstGeom prst="rect">
            <a:avLst/>
          </a:prstGeom>
        </p:spPr>
      </p:pic>
      <p:sp>
        <p:nvSpPr>
          <p:cNvPr id="18" name="Shape 13"/>
          <p:cNvSpPr/>
          <p:nvPr/>
        </p:nvSpPr>
        <p:spPr>
          <a:xfrm>
            <a:off x="5577840" y="3200400"/>
            <a:ext cx="0" cy="0"/>
          </a:xfrm>
          <a:prstGeom prst="line">
            <a:avLst/>
          </a:prstGeom>
          <a:noFill/>
          <a:ln w="12700">
            <a:solidFill>
              <a:srgbClr val="B9CBD9"/>
            </a:solidFill>
            <a:prstDash val="solid"/>
          </a:ln>
        </p:spPr>
        <p:txBody>
          <a:bodyPr/>
          <a:lstStyle/>
          <a:p>
            <a:endParaRPr lang="en-US"/>
          </a:p>
        </p:txBody>
      </p:sp>
      <p:sp>
        <p:nvSpPr>
          <p:cNvPr id="19" name="Shape 14"/>
          <p:cNvSpPr/>
          <p:nvPr/>
        </p:nvSpPr>
        <p:spPr>
          <a:xfrm>
            <a:off x="640080" y="4892040"/>
            <a:ext cx="10881360" cy="1280160"/>
          </a:xfrm>
          <a:prstGeom prst="roundRect">
            <a:avLst>
              <a:gd name="adj" fmla="val 7143"/>
            </a:avLst>
          </a:prstGeom>
          <a:solidFill>
            <a:srgbClr val="0B2D4D"/>
          </a:solidFill>
          <a:ln/>
          <a:effectLst>
            <a:outerShdw blurRad="114300" dist="38100" dir="5400000" algn="bl" rotWithShape="0">
              <a:srgbClr val="0B2D4D">
                <a:alpha val="16000"/>
              </a:srgbClr>
            </a:outerShdw>
          </a:effectLst>
        </p:spPr>
        <p:txBody>
          <a:bodyPr/>
          <a:lstStyle/>
          <a:p>
            <a:endParaRPr lang="en-US"/>
          </a:p>
        </p:txBody>
      </p:sp>
      <p:sp>
        <p:nvSpPr>
          <p:cNvPr id="20" name="Text 15"/>
          <p:cNvSpPr/>
          <p:nvPr/>
        </p:nvSpPr>
        <p:spPr>
          <a:xfrm>
            <a:off x="914400" y="5029200"/>
            <a:ext cx="10332720" cy="1005840"/>
          </a:xfrm>
          <a:prstGeom prst="rect">
            <a:avLst/>
          </a:prstGeom>
          <a:noFill/>
          <a:ln/>
        </p:spPr>
        <p:txBody>
          <a:bodyPr wrap="square" lIns="0" tIns="0" rIns="0" bIns="0" rtlCol="0" anchor="ctr"/>
          <a:lstStyle/>
          <a:p>
            <a:pPr marL="0" indent="0">
              <a:lnSpc>
                <a:spcPct val="112000"/>
              </a:lnSpc>
              <a:buNone/>
            </a:pPr>
            <a:r>
              <a:rPr lang="en-US" sz="1400" b="1" dirty="0">
                <a:solidFill>
                  <a:srgbClr val="E0A82E"/>
                </a:solidFill>
                <a:latin typeface="Arial" pitchFamily="34" charset="0"/>
                <a:ea typeface="Arial" pitchFamily="34" charset="-122"/>
                <a:cs typeface="Arial" pitchFamily="34" charset="-120"/>
              </a:rPr>
              <a:t>One closed loop.  </a:t>
            </a:r>
            <a:r>
              <a:rPr lang="en-US" sz="1400" dirty="0">
                <a:solidFill>
                  <a:srgbClr val="DCE6EF"/>
                </a:solidFill>
                <a:latin typeface="Arial" pitchFamily="34" charset="0"/>
                <a:ea typeface="Arial" pitchFamily="34" charset="-122"/>
                <a:cs typeface="Arial" pitchFamily="34" charset="-120"/>
              </a:rPr>
              <a:t>Both interfaces share the same data store: customer bookings flow into the reservation log that drives every analytic, and the prices and rules set by managers flow straight back to the customer site. Self-contained HTML / CSS / JavaScript, runs fully offline.</a:t>
            </a:r>
            <a:endParaRPr lang="en-US" sz="1400" dirty="0"/>
          </a:p>
        </p:txBody>
      </p:sp>
      <p:sp>
        <p:nvSpPr>
          <p:cNvPr id="21" name="Text 16"/>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22" name="Text 17"/>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DSS ANATOMY</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Inputs → Model → Interactivity → Output</a:t>
            </a:r>
            <a:endParaRPr lang="en-US" sz="3000" dirty="0"/>
          </a:p>
        </p:txBody>
      </p:sp>
      <p:sp>
        <p:nvSpPr>
          <p:cNvPr id="4" name="Shape 2"/>
          <p:cNvSpPr/>
          <p:nvPr/>
        </p:nvSpPr>
        <p:spPr>
          <a:xfrm>
            <a:off x="566928" y="1691640"/>
            <a:ext cx="2542032" cy="3520440"/>
          </a:xfrm>
          <a:prstGeom prst="roundRect">
            <a:avLst>
              <a:gd name="adj" fmla="val 3597"/>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5" name="Shape 3"/>
          <p:cNvSpPr/>
          <p:nvPr/>
        </p:nvSpPr>
        <p:spPr>
          <a:xfrm>
            <a:off x="1472184" y="1947672"/>
            <a:ext cx="731520" cy="73152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669694" y="2145182"/>
            <a:ext cx="336499" cy="336499"/>
          </a:xfrm>
          <a:prstGeom prst="rect">
            <a:avLst/>
          </a:prstGeom>
        </p:spPr>
      </p:pic>
      <p:sp>
        <p:nvSpPr>
          <p:cNvPr id="7" name="Text 4"/>
          <p:cNvSpPr/>
          <p:nvPr/>
        </p:nvSpPr>
        <p:spPr>
          <a:xfrm>
            <a:off x="658368" y="2770632"/>
            <a:ext cx="2359152" cy="329184"/>
          </a:xfrm>
          <a:prstGeom prst="rect">
            <a:avLst/>
          </a:prstGeom>
          <a:noFill/>
          <a:ln/>
        </p:spPr>
        <p:txBody>
          <a:bodyPr wrap="square" lIns="0" tIns="0" rIns="0" bIns="0" rtlCol="0" anchor="ctr"/>
          <a:lstStyle/>
          <a:p>
            <a:pPr marL="0" indent="0" algn="ctr">
              <a:buNone/>
            </a:pPr>
            <a:r>
              <a:rPr lang="en-US" sz="1600" b="1" kern="0" spc="100" dirty="0">
                <a:solidFill>
                  <a:srgbClr val="0E7C86"/>
                </a:solidFill>
                <a:latin typeface="Arial" pitchFamily="34" charset="0"/>
                <a:ea typeface="Arial" pitchFamily="34" charset="-122"/>
                <a:cs typeface="Arial" pitchFamily="34" charset="-120"/>
              </a:rPr>
              <a:t>INPUTS</a:t>
            </a:r>
            <a:endParaRPr lang="en-US" sz="1600" dirty="0"/>
          </a:p>
        </p:txBody>
      </p:sp>
      <p:sp>
        <p:nvSpPr>
          <p:cNvPr id="8" name="Text 5"/>
          <p:cNvSpPr/>
          <p:nvPr/>
        </p:nvSpPr>
        <p:spPr>
          <a:xfrm>
            <a:off x="658368" y="3099816"/>
            <a:ext cx="2359152" cy="292608"/>
          </a:xfrm>
          <a:prstGeom prst="rect">
            <a:avLst/>
          </a:prstGeom>
          <a:noFill/>
          <a:ln/>
        </p:spPr>
        <p:txBody>
          <a:bodyPr wrap="square" lIns="0" tIns="0" rIns="0" bIns="0" rtlCol="0" anchor="ctr"/>
          <a:lstStyle/>
          <a:p>
            <a:pPr marL="0" indent="0" algn="ctr">
              <a:buNone/>
            </a:pPr>
            <a:r>
              <a:rPr lang="en-US" sz="1150" i="1" dirty="0">
                <a:solidFill>
                  <a:srgbClr val="5C6B7A"/>
                </a:solidFill>
                <a:latin typeface="Arial" pitchFamily="34" charset="0"/>
                <a:ea typeface="Arial" pitchFamily="34" charset="-122"/>
                <a:cs typeface="Arial" pitchFamily="34" charset="-120"/>
              </a:rPr>
              <a:t>Data, many variable types</a:t>
            </a:r>
            <a:endParaRPr lang="en-US" sz="1150" dirty="0"/>
          </a:p>
        </p:txBody>
      </p:sp>
      <p:sp>
        <p:nvSpPr>
          <p:cNvPr id="9" name="Text 6"/>
          <p:cNvSpPr/>
          <p:nvPr/>
        </p:nvSpPr>
        <p:spPr>
          <a:xfrm>
            <a:off x="768096" y="3520440"/>
            <a:ext cx="2176272" cy="155448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030" dirty="0">
                <a:solidFill>
                  <a:srgbClr val="16293A"/>
                </a:solidFill>
                <a:latin typeface="Arial" pitchFamily="34" charset="0"/>
                <a:ea typeface="Arial" pitchFamily="34" charset="-122"/>
                <a:cs typeface="Arial" pitchFamily="34" charset="-120"/>
              </a:rPr>
              <a:t>Categorical: ship, cabin, destination, customer &amp; channel</a:t>
            </a:r>
            <a:endParaRPr lang="en-US" sz="1030" dirty="0"/>
          </a:p>
          <a:p>
            <a:pPr marL="342900" indent="-342900">
              <a:lnSpc>
                <a:spcPct val="100000"/>
              </a:lnSpc>
              <a:spcAft>
                <a:spcPts val="600"/>
              </a:spcAft>
              <a:buSzPct val="100000"/>
              <a:buChar char="•"/>
            </a:pPr>
            <a:r>
              <a:rPr lang="en-US" sz="1030" dirty="0">
                <a:solidFill>
                  <a:srgbClr val="16293A"/>
                </a:solidFill>
                <a:latin typeface="Arial" pitchFamily="34" charset="0"/>
                <a:ea typeface="Arial" pitchFamily="34" charset="-122"/>
                <a:cs typeface="Arial" pitchFamily="34" charset="-120"/>
              </a:rPr>
              <a:t>Numeric: nights, guests, fare, tax, occupancy</a:t>
            </a:r>
            <a:endParaRPr lang="en-US" sz="1030" dirty="0"/>
          </a:p>
          <a:p>
            <a:pPr marL="342900" indent="-342900">
              <a:lnSpc>
                <a:spcPct val="100000"/>
              </a:lnSpc>
              <a:spcAft>
                <a:spcPts val="600"/>
              </a:spcAft>
              <a:buSzPct val="100000"/>
              <a:buChar char="•"/>
            </a:pPr>
            <a:r>
              <a:rPr lang="en-US" sz="1030" dirty="0">
                <a:solidFill>
                  <a:srgbClr val="16293A"/>
                </a:solidFill>
                <a:latin typeface="Arial" pitchFamily="34" charset="0"/>
                <a:ea typeface="Arial" pitchFamily="34" charset="-122"/>
                <a:cs typeface="Arial" pitchFamily="34" charset="-120"/>
              </a:rPr>
              <a:t>Temporal: depart date, time-to-departure, booked-on</a:t>
            </a:r>
            <a:endParaRPr lang="en-US" sz="1030" dirty="0"/>
          </a:p>
          <a:p>
            <a:pPr marL="342900" indent="-342900">
              <a:lnSpc>
                <a:spcPct val="100000"/>
              </a:lnSpc>
              <a:spcAft>
                <a:spcPts val="600"/>
              </a:spcAft>
              <a:buSzPct val="100000"/>
              <a:buChar char="•"/>
            </a:pPr>
            <a:r>
              <a:rPr lang="en-US" sz="1030" dirty="0">
                <a:solidFill>
                  <a:srgbClr val="16293A"/>
                </a:solidFill>
                <a:latin typeface="Arial" pitchFamily="34" charset="0"/>
                <a:ea typeface="Arial" pitchFamily="34" charset="-122"/>
                <a:cs typeface="Arial" pitchFamily="34" charset="-120"/>
              </a:rPr>
              <a:t>~34 fields per booking, enough to be interesting</a:t>
            </a:r>
            <a:endParaRPr lang="en-US" sz="1030" dirty="0"/>
          </a:p>
        </p:txBody>
      </p:sp>
      <p:pic>
        <p:nvPicPr>
          <p:cNvPr id="10" name="Image 1" descr="preencoded.png"/>
          <p:cNvPicPr>
            <a:picLocks noChangeAspect="1"/>
          </p:cNvPicPr>
          <p:nvPr/>
        </p:nvPicPr>
        <p:blipFill>
          <a:blip r:embed="rId4"/>
          <a:stretch>
            <a:fillRect/>
          </a:stretch>
        </p:blipFill>
        <p:spPr>
          <a:xfrm>
            <a:off x="3127248" y="2258568"/>
            <a:ext cx="292608" cy="292608"/>
          </a:xfrm>
          <a:prstGeom prst="rect">
            <a:avLst/>
          </a:prstGeom>
        </p:spPr>
      </p:pic>
      <p:sp>
        <p:nvSpPr>
          <p:cNvPr id="11" name="Shape 7"/>
          <p:cNvSpPr/>
          <p:nvPr/>
        </p:nvSpPr>
        <p:spPr>
          <a:xfrm>
            <a:off x="3438144" y="1691640"/>
            <a:ext cx="2542032" cy="3520440"/>
          </a:xfrm>
          <a:prstGeom prst="roundRect">
            <a:avLst>
              <a:gd name="adj" fmla="val 3597"/>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2" name="Shape 8"/>
          <p:cNvSpPr/>
          <p:nvPr/>
        </p:nvSpPr>
        <p:spPr>
          <a:xfrm>
            <a:off x="4343400" y="1947672"/>
            <a:ext cx="731520" cy="73152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3" name="Image 2" descr="preencoded.png"/>
          <p:cNvPicPr>
            <a:picLocks noChangeAspect="1"/>
          </p:cNvPicPr>
          <p:nvPr/>
        </p:nvPicPr>
        <p:blipFill>
          <a:blip r:embed="rId5"/>
          <a:stretch>
            <a:fillRect/>
          </a:stretch>
        </p:blipFill>
        <p:spPr>
          <a:xfrm>
            <a:off x="4540910" y="2145182"/>
            <a:ext cx="336499" cy="336499"/>
          </a:xfrm>
          <a:prstGeom prst="rect">
            <a:avLst/>
          </a:prstGeom>
        </p:spPr>
      </p:pic>
      <p:sp>
        <p:nvSpPr>
          <p:cNvPr id="14" name="Text 9"/>
          <p:cNvSpPr/>
          <p:nvPr/>
        </p:nvSpPr>
        <p:spPr>
          <a:xfrm>
            <a:off x="3529584" y="2770632"/>
            <a:ext cx="2359152" cy="329184"/>
          </a:xfrm>
          <a:prstGeom prst="rect">
            <a:avLst/>
          </a:prstGeom>
          <a:noFill/>
          <a:ln/>
        </p:spPr>
        <p:txBody>
          <a:bodyPr wrap="square" lIns="0" tIns="0" rIns="0" bIns="0" rtlCol="0" anchor="ctr"/>
          <a:lstStyle/>
          <a:p>
            <a:pPr marL="0" indent="0" algn="ctr">
              <a:buNone/>
            </a:pPr>
            <a:r>
              <a:rPr lang="en-US" sz="1600" b="1" kern="0" spc="100" dirty="0">
                <a:solidFill>
                  <a:srgbClr val="0B2D4D"/>
                </a:solidFill>
                <a:latin typeface="Arial" pitchFamily="34" charset="0"/>
                <a:ea typeface="Arial" pitchFamily="34" charset="-122"/>
                <a:cs typeface="Arial" pitchFamily="34" charset="-120"/>
              </a:rPr>
              <a:t>MODEL</a:t>
            </a:r>
            <a:endParaRPr lang="en-US" sz="1600" dirty="0"/>
          </a:p>
        </p:txBody>
      </p:sp>
      <p:sp>
        <p:nvSpPr>
          <p:cNvPr id="15" name="Text 10"/>
          <p:cNvSpPr/>
          <p:nvPr/>
        </p:nvSpPr>
        <p:spPr>
          <a:xfrm>
            <a:off x="3529584" y="3099816"/>
            <a:ext cx="2359152" cy="292608"/>
          </a:xfrm>
          <a:prstGeom prst="rect">
            <a:avLst/>
          </a:prstGeom>
          <a:noFill/>
          <a:ln/>
        </p:spPr>
        <p:txBody>
          <a:bodyPr wrap="square" lIns="0" tIns="0" rIns="0" bIns="0" rtlCol="0" anchor="ctr"/>
          <a:lstStyle/>
          <a:p>
            <a:pPr marL="0" indent="0" algn="ctr">
              <a:buNone/>
            </a:pPr>
            <a:r>
              <a:rPr lang="en-US" sz="1150" i="1" dirty="0">
                <a:solidFill>
                  <a:srgbClr val="5C6B7A"/>
                </a:solidFill>
                <a:latin typeface="Arial" pitchFamily="34" charset="0"/>
                <a:ea typeface="Arial" pitchFamily="34" charset="-122"/>
                <a:cs typeface="Arial" pitchFamily="34" charset="-120"/>
              </a:rPr>
              <a:t>The analytics &amp; logic</a:t>
            </a:r>
            <a:endParaRPr lang="en-US" sz="1150" dirty="0"/>
          </a:p>
        </p:txBody>
      </p:sp>
      <p:sp>
        <p:nvSpPr>
          <p:cNvPr id="16" name="Text 11"/>
          <p:cNvSpPr/>
          <p:nvPr/>
        </p:nvSpPr>
        <p:spPr>
          <a:xfrm>
            <a:off x="3639312" y="3520440"/>
            <a:ext cx="2176272" cy="155448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030" dirty="0">
                <a:solidFill>
                  <a:srgbClr val="16293A"/>
                </a:solidFill>
                <a:latin typeface="Arial" pitchFamily="34" charset="0"/>
                <a:ea typeface="Arial" pitchFamily="34" charset="-122"/>
                <a:cs typeface="Arial" pitchFamily="34" charset="-120"/>
              </a:rPr>
              <a:t>Dynamic pricing: demand × time multiplier</a:t>
            </a:r>
            <a:endParaRPr lang="en-US" sz="1030" dirty="0"/>
          </a:p>
          <a:p>
            <a:pPr marL="342900" indent="-342900">
              <a:lnSpc>
                <a:spcPct val="100000"/>
              </a:lnSpc>
              <a:spcAft>
                <a:spcPts val="600"/>
              </a:spcAft>
              <a:buSzPct val="100000"/>
              <a:buChar char="•"/>
            </a:pPr>
            <a:r>
              <a:rPr lang="en-US" sz="1030" dirty="0">
                <a:solidFill>
                  <a:srgbClr val="16293A"/>
                </a:solidFill>
                <a:latin typeface="Arial" pitchFamily="34" charset="0"/>
                <a:ea typeface="Arial" pitchFamily="34" charset="-122"/>
                <a:cs typeface="Arial" pitchFamily="34" charset="-120"/>
              </a:rPr>
              <a:t>Commission-savings model (capture %)</a:t>
            </a:r>
            <a:endParaRPr lang="en-US" sz="1030" dirty="0"/>
          </a:p>
          <a:p>
            <a:pPr marL="342900" indent="-342900">
              <a:lnSpc>
                <a:spcPct val="100000"/>
              </a:lnSpc>
              <a:spcAft>
                <a:spcPts val="600"/>
              </a:spcAft>
              <a:buSzPct val="100000"/>
              <a:buChar char="•"/>
            </a:pPr>
            <a:r>
              <a:rPr lang="en-US" sz="1030" dirty="0">
                <a:solidFill>
                  <a:srgbClr val="16293A"/>
                </a:solidFill>
                <a:latin typeface="Arial" pitchFamily="34" charset="0"/>
                <a:ea typeface="Arial" pitchFamily="34" charset="-122"/>
                <a:cs typeface="Arial" pitchFamily="34" charset="-120"/>
              </a:rPr>
              <a:t>Forecasts: regression + seasonal decomposition</a:t>
            </a:r>
            <a:endParaRPr lang="en-US" sz="1030" dirty="0"/>
          </a:p>
          <a:p>
            <a:pPr marL="342900" indent="-342900">
              <a:lnSpc>
                <a:spcPct val="100000"/>
              </a:lnSpc>
              <a:spcAft>
                <a:spcPts val="600"/>
              </a:spcAft>
              <a:buSzPct val="100000"/>
              <a:buChar char="•"/>
            </a:pPr>
            <a:r>
              <a:rPr lang="en-US" sz="1030" dirty="0">
                <a:solidFill>
                  <a:srgbClr val="16293A"/>
                </a:solidFill>
                <a:latin typeface="Arial" pitchFamily="34" charset="0"/>
                <a:ea typeface="Arial" pitchFamily="34" charset="-122"/>
                <a:cs typeface="Arial" pitchFamily="34" charset="-120"/>
              </a:rPr>
              <a:t>Demand-driven scheduling; occupancy &amp; utilization</a:t>
            </a:r>
            <a:endParaRPr lang="en-US" sz="1030" dirty="0"/>
          </a:p>
        </p:txBody>
      </p:sp>
      <p:pic>
        <p:nvPicPr>
          <p:cNvPr id="17" name="Image 3" descr="preencoded.png"/>
          <p:cNvPicPr>
            <a:picLocks noChangeAspect="1"/>
          </p:cNvPicPr>
          <p:nvPr/>
        </p:nvPicPr>
        <p:blipFill>
          <a:blip r:embed="rId4"/>
          <a:stretch>
            <a:fillRect/>
          </a:stretch>
        </p:blipFill>
        <p:spPr>
          <a:xfrm>
            <a:off x="5998464" y="2258568"/>
            <a:ext cx="292608" cy="292608"/>
          </a:xfrm>
          <a:prstGeom prst="rect">
            <a:avLst/>
          </a:prstGeom>
        </p:spPr>
      </p:pic>
      <p:sp>
        <p:nvSpPr>
          <p:cNvPr id="18" name="Shape 12"/>
          <p:cNvSpPr/>
          <p:nvPr/>
        </p:nvSpPr>
        <p:spPr>
          <a:xfrm>
            <a:off x="6309360" y="1691640"/>
            <a:ext cx="2542032" cy="3520440"/>
          </a:xfrm>
          <a:prstGeom prst="roundRect">
            <a:avLst>
              <a:gd name="adj" fmla="val 3597"/>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9" name="Shape 13"/>
          <p:cNvSpPr/>
          <p:nvPr/>
        </p:nvSpPr>
        <p:spPr>
          <a:xfrm>
            <a:off x="7214616" y="1947672"/>
            <a:ext cx="731520" cy="731520"/>
          </a:xfrm>
          <a:prstGeom prst="ellipse">
            <a:avLst/>
          </a:prstGeom>
          <a:solidFill>
            <a:srgbClr val="E0A82E"/>
          </a:solidFill>
          <a:ln/>
          <a:effectLst>
            <a:outerShdw blurRad="88900" dist="25400" dir="5400000" algn="bl" rotWithShape="0">
              <a:srgbClr val="000000">
                <a:alpha val="10000"/>
              </a:srgbClr>
            </a:outerShdw>
          </a:effectLst>
        </p:spPr>
        <p:txBody>
          <a:bodyPr/>
          <a:lstStyle/>
          <a:p>
            <a:endParaRPr lang="en-US"/>
          </a:p>
        </p:txBody>
      </p:sp>
      <p:pic>
        <p:nvPicPr>
          <p:cNvPr id="20" name="Image 4" descr="preencoded.png"/>
          <p:cNvPicPr>
            <a:picLocks noChangeAspect="1"/>
          </p:cNvPicPr>
          <p:nvPr/>
        </p:nvPicPr>
        <p:blipFill>
          <a:blip r:embed="rId6"/>
          <a:stretch>
            <a:fillRect/>
          </a:stretch>
        </p:blipFill>
        <p:spPr>
          <a:xfrm>
            <a:off x="7412126" y="2145182"/>
            <a:ext cx="336499" cy="336499"/>
          </a:xfrm>
          <a:prstGeom prst="rect">
            <a:avLst/>
          </a:prstGeom>
        </p:spPr>
      </p:pic>
      <p:sp>
        <p:nvSpPr>
          <p:cNvPr id="21" name="Text 14"/>
          <p:cNvSpPr/>
          <p:nvPr/>
        </p:nvSpPr>
        <p:spPr>
          <a:xfrm>
            <a:off x="6400800" y="2770632"/>
            <a:ext cx="2359152" cy="329184"/>
          </a:xfrm>
          <a:prstGeom prst="rect">
            <a:avLst/>
          </a:prstGeom>
          <a:noFill/>
          <a:ln/>
        </p:spPr>
        <p:txBody>
          <a:bodyPr wrap="square" lIns="0" tIns="0" rIns="0" bIns="0" rtlCol="0" anchor="ctr"/>
          <a:lstStyle/>
          <a:p>
            <a:pPr marL="0" indent="0" algn="ctr">
              <a:buNone/>
            </a:pPr>
            <a:r>
              <a:rPr lang="en-US" sz="1600" b="1" kern="0" spc="100" dirty="0">
                <a:solidFill>
                  <a:srgbClr val="E0A82E"/>
                </a:solidFill>
                <a:latin typeface="Arial" pitchFamily="34" charset="0"/>
                <a:ea typeface="Arial" pitchFamily="34" charset="-122"/>
                <a:cs typeface="Arial" pitchFamily="34" charset="-120"/>
              </a:rPr>
              <a:t>INTERACTIVITY</a:t>
            </a:r>
            <a:endParaRPr lang="en-US" sz="1600" dirty="0"/>
          </a:p>
        </p:txBody>
      </p:sp>
      <p:sp>
        <p:nvSpPr>
          <p:cNvPr id="22" name="Text 15"/>
          <p:cNvSpPr/>
          <p:nvPr/>
        </p:nvSpPr>
        <p:spPr>
          <a:xfrm>
            <a:off x="6400800" y="3099816"/>
            <a:ext cx="2359152" cy="292608"/>
          </a:xfrm>
          <a:prstGeom prst="rect">
            <a:avLst/>
          </a:prstGeom>
          <a:noFill/>
          <a:ln/>
        </p:spPr>
        <p:txBody>
          <a:bodyPr wrap="square" lIns="0" tIns="0" rIns="0" bIns="0" rtlCol="0" anchor="ctr"/>
          <a:lstStyle/>
          <a:p>
            <a:pPr marL="0" indent="0" algn="ctr">
              <a:buNone/>
            </a:pPr>
            <a:r>
              <a:rPr lang="en-US" sz="1150" i="1" dirty="0">
                <a:solidFill>
                  <a:srgbClr val="5C6B7A"/>
                </a:solidFill>
                <a:latin typeface="Arial" pitchFamily="34" charset="0"/>
                <a:ea typeface="Arial" pitchFamily="34" charset="-122"/>
                <a:cs typeface="Arial" pitchFamily="34" charset="-120"/>
              </a:rPr>
              <a:t>Managers explore</a:t>
            </a:r>
            <a:endParaRPr lang="en-US" sz="1150" dirty="0"/>
          </a:p>
        </p:txBody>
      </p:sp>
      <p:sp>
        <p:nvSpPr>
          <p:cNvPr id="23" name="Text 16"/>
          <p:cNvSpPr/>
          <p:nvPr/>
        </p:nvSpPr>
        <p:spPr>
          <a:xfrm>
            <a:off x="6510528" y="3520440"/>
            <a:ext cx="2176272" cy="155448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030" dirty="0">
                <a:solidFill>
                  <a:srgbClr val="16293A"/>
                </a:solidFill>
                <a:latin typeface="Arial" pitchFamily="34" charset="0"/>
                <a:ea typeface="Arial" pitchFamily="34" charset="-122"/>
                <a:cs typeface="Arial" pitchFamily="34" charset="-120"/>
              </a:rPr>
              <a:t>Pricing &amp; demand-threshold sliders</a:t>
            </a:r>
            <a:endParaRPr lang="en-US" sz="1030" dirty="0"/>
          </a:p>
          <a:p>
            <a:pPr marL="342900" indent="-342900">
              <a:lnSpc>
                <a:spcPct val="100000"/>
              </a:lnSpc>
              <a:spcAft>
                <a:spcPts val="600"/>
              </a:spcAft>
              <a:buSzPct val="100000"/>
              <a:buChar char="•"/>
            </a:pPr>
            <a:r>
              <a:rPr lang="en-US" sz="1030" dirty="0">
                <a:solidFill>
                  <a:srgbClr val="16293A"/>
                </a:solidFill>
                <a:latin typeface="Arial" pitchFamily="34" charset="0"/>
                <a:ea typeface="Arial" pitchFamily="34" charset="-122"/>
                <a:cs typeface="Arial" pitchFamily="34" charset="-120"/>
              </a:rPr>
              <a:t>Capture-% what-if slider for savings</a:t>
            </a:r>
            <a:endParaRPr lang="en-US" sz="1030" dirty="0"/>
          </a:p>
          <a:p>
            <a:pPr marL="342900" indent="-342900">
              <a:lnSpc>
                <a:spcPct val="100000"/>
              </a:lnSpc>
              <a:spcAft>
                <a:spcPts val="600"/>
              </a:spcAft>
              <a:buSzPct val="100000"/>
              <a:buChar char="•"/>
            </a:pPr>
            <a:r>
              <a:rPr lang="en-US" sz="1030" dirty="0">
                <a:solidFill>
                  <a:srgbClr val="16293A"/>
                </a:solidFill>
                <a:latin typeface="Arial" pitchFamily="34" charset="0"/>
                <a:ea typeface="Arial" pitchFamily="34" charset="-122"/>
                <a:cs typeface="Arial" pitchFamily="34" charset="-120"/>
              </a:rPr>
              <a:t>Scope filters: all / month / day</a:t>
            </a:r>
            <a:endParaRPr lang="en-US" sz="1030" dirty="0"/>
          </a:p>
          <a:p>
            <a:pPr marL="342900" indent="-342900">
              <a:lnSpc>
                <a:spcPct val="100000"/>
              </a:lnSpc>
              <a:spcAft>
                <a:spcPts val="600"/>
              </a:spcAft>
              <a:buSzPct val="100000"/>
              <a:buChar char="•"/>
            </a:pPr>
            <a:r>
              <a:rPr lang="en-US" sz="1030" dirty="0">
                <a:solidFill>
                  <a:srgbClr val="16293A"/>
                </a:solidFill>
                <a:latin typeface="Arial" pitchFamily="34" charset="0"/>
                <a:ea typeface="Arial" pitchFamily="34" charset="-122"/>
                <a:cs typeface="Arial" pitchFamily="34" charset="-120"/>
              </a:rPr>
              <a:t>Live charts, search, schedule controls</a:t>
            </a:r>
            <a:endParaRPr lang="en-US" sz="1030" dirty="0"/>
          </a:p>
        </p:txBody>
      </p:sp>
      <p:pic>
        <p:nvPicPr>
          <p:cNvPr id="24" name="Image 5" descr="preencoded.png"/>
          <p:cNvPicPr>
            <a:picLocks noChangeAspect="1"/>
          </p:cNvPicPr>
          <p:nvPr/>
        </p:nvPicPr>
        <p:blipFill>
          <a:blip r:embed="rId4"/>
          <a:stretch>
            <a:fillRect/>
          </a:stretch>
        </p:blipFill>
        <p:spPr>
          <a:xfrm>
            <a:off x="8869680" y="2258568"/>
            <a:ext cx="292608" cy="292608"/>
          </a:xfrm>
          <a:prstGeom prst="rect">
            <a:avLst/>
          </a:prstGeom>
        </p:spPr>
      </p:pic>
      <p:sp>
        <p:nvSpPr>
          <p:cNvPr id="25" name="Shape 17"/>
          <p:cNvSpPr/>
          <p:nvPr/>
        </p:nvSpPr>
        <p:spPr>
          <a:xfrm>
            <a:off x="9180576" y="1691640"/>
            <a:ext cx="2542032" cy="3520440"/>
          </a:xfrm>
          <a:prstGeom prst="roundRect">
            <a:avLst>
              <a:gd name="adj" fmla="val 3597"/>
            </a:avLst>
          </a:prstGeom>
          <a:solidFill>
            <a:srgbClr val="0B2D4D"/>
          </a:solidFill>
          <a:ln w="12700">
            <a:solidFill>
              <a:srgbClr val="0B2D4D"/>
            </a:solidFill>
            <a:prstDash val="solid"/>
          </a:ln>
          <a:effectLst>
            <a:outerShdw blurRad="114300" dist="38100" dir="5400000" algn="bl" rotWithShape="0">
              <a:srgbClr val="0B2D4D">
                <a:alpha val="16000"/>
              </a:srgbClr>
            </a:outerShdw>
          </a:effectLst>
        </p:spPr>
        <p:txBody>
          <a:bodyPr/>
          <a:lstStyle/>
          <a:p>
            <a:endParaRPr lang="en-US"/>
          </a:p>
        </p:txBody>
      </p:sp>
      <p:sp>
        <p:nvSpPr>
          <p:cNvPr id="26" name="Shape 18"/>
          <p:cNvSpPr/>
          <p:nvPr/>
        </p:nvSpPr>
        <p:spPr>
          <a:xfrm>
            <a:off x="10085832" y="1947672"/>
            <a:ext cx="731520" cy="73152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27" name="Image 6" descr="preencoded.png"/>
          <p:cNvPicPr>
            <a:picLocks noChangeAspect="1"/>
          </p:cNvPicPr>
          <p:nvPr/>
        </p:nvPicPr>
        <p:blipFill>
          <a:blip r:embed="rId7"/>
          <a:stretch>
            <a:fillRect/>
          </a:stretch>
        </p:blipFill>
        <p:spPr>
          <a:xfrm>
            <a:off x="10283342" y="2145182"/>
            <a:ext cx="336499" cy="336499"/>
          </a:xfrm>
          <a:prstGeom prst="rect">
            <a:avLst/>
          </a:prstGeom>
        </p:spPr>
      </p:pic>
      <p:sp>
        <p:nvSpPr>
          <p:cNvPr id="28" name="Text 19"/>
          <p:cNvSpPr/>
          <p:nvPr/>
        </p:nvSpPr>
        <p:spPr>
          <a:xfrm>
            <a:off x="9272016" y="2770632"/>
            <a:ext cx="2359152" cy="329184"/>
          </a:xfrm>
          <a:prstGeom prst="rect">
            <a:avLst/>
          </a:prstGeom>
          <a:noFill/>
          <a:ln/>
        </p:spPr>
        <p:txBody>
          <a:bodyPr wrap="square" lIns="0" tIns="0" rIns="0" bIns="0" rtlCol="0" anchor="ctr"/>
          <a:lstStyle/>
          <a:p>
            <a:pPr marL="0" indent="0" algn="ctr">
              <a:buNone/>
            </a:pPr>
            <a:r>
              <a:rPr lang="en-US" sz="1600" b="1" kern="0" spc="100" dirty="0">
                <a:solidFill>
                  <a:srgbClr val="E0A82E"/>
                </a:solidFill>
                <a:latin typeface="Arial" pitchFamily="34" charset="0"/>
                <a:ea typeface="Arial" pitchFamily="34" charset="-122"/>
                <a:cs typeface="Arial" pitchFamily="34" charset="-120"/>
              </a:rPr>
              <a:t>OUTPUT</a:t>
            </a:r>
            <a:endParaRPr lang="en-US" sz="1600" dirty="0"/>
          </a:p>
        </p:txBody>
      </p:sp>
      <p:sp>
        <p:nvSpPr>
          <p:cNvPr id="29" name="Text 20"/>
          <p:cNvSpPr/>
          <p:nvPr/>
        </p:nvSpPr>
        <p:spPr>
          <a:xfrm>
            <a:off x="9272016" y="3099816"/>
            <a:ext cx="2359152" cy="292608"/>
          </a:xfrm>
          <a:prstGeom prst="rect">
            <a:avLst/>
          </a:prstGeom>
          <a:noFill/>
          <a:ln/>
        </p:spPr>
        <p:txBody>
          <a:bodyPr wrap="square" lIns="0" tIns="0" rIns="0" bIns="0" rtlCol="0" anchor="ctr"/>
          <a:lstStyle/>
          <a:p>
            <a:pPr marL="0" indent="0" algn="ctr">
              <a:buNone/>
            </a:pPr>
            <a:r>
              <a:rPr lang="en-US" sz="1150" i="1" dirty="0">
                <a:solidFill>
                  <a:srgbClr val="C9DCEA"/>
                </a:solidFill>
                <a:latin typeface="Arial" pitchFamily="34" charset="0"/>
                <a:ea typeface="Arial" pitchFamily="34" charset="-122"/>
                <a:cs typeface="Arial" pitchFamily="34" charset="-120"/>
              </a:rPr>
              <a:t>The decision</a:t>
            </a:r>
            <a:endParaRPr lang="en-US" sz="1150" dirty="0"/>
          </a:p>
        </p:txBody>
      </p:sp>
      <p:sp>
        <p:nvSpPr>
          <p:cNvPr id="30" name="Text 21"/>
          <p:cNvSpPr/>
          <p:nvPr/>
        </p:nvSpPr>
        <p:spPr>
          <a:xfrm>
            <a:off x="9381744" y="3520440"/>
            <a:ext cx="2176272" cy="1554480"/>
          </a:xfrm>
          <a:prstGeom prst="rect">
            <a:avLst/>
          </a:prstGeom>
          <a:noFill/>
          <a:ln/>
        </p:spPr>
        <p:txBody>
          <a:bodyPr wrap="square" lIns="0" tIns="0" rIns="0" bIns="0" rtlCol="0" anchor="t"/>
          <a:lstStyle/>
          <a:p>
            <a:pPr marL="342900" indent="-342900">
              <a:lnSpc>
                <a:spcPct val="100000"/>
              </a:lnSpc>
              <a:spcAft>
                <a:spcPts val="600"/>
              </a:spcAft>
              <a:buSzPct val="100000"/>
              <a:buChar char="•"/>
            </a:pPr>
            <a:r>
              <a:rPr lang="en-US" sz="1030" dirty="0">
                <a:solidFill>
                  <a:srgbClr val="DCE6EF"/>
                </a:solidFill>
                <a:latin typeface="Arial" pitchFamily="34" charset="0"/>
                <a:ea typeface="Arial" pitchFamily="34" charset="-122"/>
                <a:cs typeface="Arial" pitchFamily="34" charset="-120"/>
              </a:rPr>
              <a:t>Set, surge, or discount fares</a:t>
            </a:r>
            <a:endParaRPr lang="en-US" sz="1030" dirty="0"/>
          </a:p>
          <a:p>
            <a:pPr marL="342900" indent="-342900">
              <a:lnSpc>
                <a:spcPct val="100000"/>
              </a:lnSpc>
              <a:spcAft>
                <a:spcPts val="600"/>
              </a:spcAft>
              <a:buSzPct val="100000"/>
              <a:buChar char="•"/>
            </a:pPr>
            <a:r>
              <a:rPr lang="en-US" sz="1030" dirty="0">
                <a:solidFill>
                  <a:srgbClr val="DCE6EF"/>
                </a:solidFill>
                <a:latin typeface="Arial" pitchFamily="34" charset="0"/>
                <a:ea typeface="Arial" pitchFamily="34" charset="-122"/>
                <a:cs typeface="Arial" pitchFamily="34" charset="-120"/>
              </a:rPr>
              <a:t>Which ship sails, when &amp; where (scheduling)</a:t>
            </a:r>
            <a:endParaRPr lang="en-US" sz="1030" dirty="0"/>
          </a:p>
          <a:p>
            <a:pPr marL="342900" indent="-342900">
              <a:lnSpc>
                <a:spcPct val="100000"/>
              </a:lnSpc>
              <a:spcAft>
                <a:spcPts val="600"/>
              </a:spcAft>
              <a:buSzPct val="100000"/>
              <a:buChar char="•"/>
            </a:pPr>
            <a:r>
              <a:rPr lang="en-US" sz="1030" dirty="0">
                <a:solidFill>
                  <a:srgbClr val="DCE6EF"/>
                </a:solidFill>
                <a:latin typeface="Arial" pitchFamily="34" charset="0"/>
                <a:ea typeface="Arial" pitchFamily="34" charset="-122"/>
                <a:cs typeface="Arial" pitchFamily="34" charset="-120"/>
              </a:rPr>
              <a:t>Rooms to release per sailing (inventory)</a:t>
            </a:r>
            <a:endParaRPr lang="en-US" sz="1030" dirty="0"/>
          </a:p>
          <a:p>
            <a:pPr marL="342900" indent="-342900">
              <a:lnSpc>
                <a:spcPct val="100000"/>
              </a:lnSpc>
              <a:spcAft>
                <a:spcPts val="600"/>
              </a:spcAft>
              <a:buSzPct val="100000"/>
              <a:buChar char="•"/>
            </a:pPr>
            <a:r>
              <a:rPr lang="en-US" sz="1030" dirty="0">
                <a:solidFill>
                  <a:srgbClr val="DCE6EF"/>
                </a:solidFill>
                <a:latin typeface="Arial" pitchFamily="34" charset="0"/>
                <a:ea typeface="Arial" pitchFamily="34" charset="-122"/>
                <a:cs typeface="Arial" pitchFamily="34" charset="-120"/>
              </a:rPr>
              <a:t>Push in-house capture toward 50%</a:t>
            </a:r>
            <a:endParaRPr lang="en-US" sz="1030" dirty="0"/>
          </a:p>
        </p:txBody>
      </p:sp>
      <p:sp>
        <p:nvSpPr>
          <p:cNvPr id="31" name="Shape 22"/>
          <p:cNvSpPr/>
          <p:nvPr/>
        </p:nvSpPr>
        <p:spPr>
          <a:xfrm>
            <a:off x="566928" y="5486400"/>
            <a:ext cx="11027664" cy="868680"/>
          </a:xfrm>
          <a:prstGeom prst="roundRect">
            <a:avLst>
              <a:gd name="adj" fmla="val 8421"/>
            </a:avLst>
          </a:prstGeom>
          <a:solidFill>
            <a:srgbClr val="EAF1F7"/>
          </a:solidFill>
          <a:ln w="12700">
            <a:solidFill>
              <a:srgbClr val="CFE0EC"/>
            </a:solidFill>
            <a:prstDash val="solid"/>
          </a:ln>
        </p:spPr>
        <p:txBody>
          <a:bodyPr/>
          <a:lstStyle/>
          <a:p>
            <a:endParaRPr lang="en-US"/>
          </a:p>
        </p:txBody>
      </p:sp>
      <p:sp>
        <p:nvSpPr>
          <p:cNvPr id="32" name="Shape 23"/>
          <p:cNvSpPr/>
          <p:nvPr/>
        </p:nvSpPr>
        <p:spPr>
          <a:xfrm>
            <a:off x="822960" y="5650992"/>
            <a:ext cx="530352" cy="530352"/>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33" name="Image 7" descr="preencoded.png"/>
          <p:cNvPicPr>
            <a:picLocks noChangeAspect="1"/>
          </p:cNvPicPr>
          <p:nvPr/>
        </p:nvPicPr>
        <p:blipFill>
          <a:blip r:embed="rId8"/>
          <a:stretch>
            <a:fillRect/>
          </a:stretch>
        </p:blipFill>
        <p:spPr>
          <a:xfrm>
            <a:off x="966155" y="5794187"/>
            <a:ext cx="243962" cy="243962"/>
          </a:xfrm>
          <a:prstGeom prst="rect">
            <a:avLst/>
          </a:prstGeom>
        </p:spPr>
      </p:pic>
      <p:sp>
        <p:nvSpPr>
          <p:cNvPr id="34" name="Text 24"/>
          <p:cNvSpPr/>
          <p:nvPr/>
        </p:nvSpPr>
        <p:spPr>
          <a:xfrm>
            <a:off x="1508760" y="5532120"/>
            <a:ext cx="9921240" cy="777240"/>
          </a:xfrm>
          <a:prstGeom prst="rect">
            <a:avLst/>
          </a:prstGeom>
          <a:noFill/>
          <a:ln/>
        </p:spPr>
        <p:txBody>
          <a:bodyPr wrap="square" lIns="0" tIns="0" rIns="0" bIns="0" rtlCol="0" anchor="ctr"/>
          <a:lstStyle/>
          <a:p>
            <a:pPr marL="0" indent="0">
              <a:lnSpc>
                <a:spcPct val="110000"/>
              </a:lnSpc>
              <a:buNone/>
            </a:pPr>
            <a:r>
              <a:rPr lang="en-US" sz="1300" b="1" dirty="0">
                <a:solidFill>
                  <a:srgbClr val="0E7C86"/>
                </a:solidFill>
                <a:latin typeface="Arial" pitchFamily="34" charset="0"/>
                <a:ea typeface="Arial" pitchFamily="34" charset="-122"/>
                <a:cs typeface="Arial" pitchFamily="34" charset="-120"/>
              </a:rPr>
              <a:t>Assumptions are documented and deliberately balanced</a:t>
            </a:r>
            <a:r>
              <a:rPr lang="en-US" sz="1300" dirty="0">
                <a:solidFill>
                  <a:srgbClr val="16293A"/>
                </a:solidFill>
                <a:latin typeface="Arial" pitchFamily="34" charset="0"/>
                <a:ea typeface="Arial" pitchFamily="34" charset="-122"/>
                <a:cs typeface="Arial" pitchFamily="34" charset="-120"/>
              </a:rPr>
              <a:t> (enough to be realistic, few enough to keep the decision real). </a:t>
            </a:r>
            <a:endParaRPr lang="en-US" sz="1300" dirty="0"/>
          </a:p>
        </p:txBody>
      </p:sp>
      <p:sp>
        <p:nvSpPr>
          <p:cNvPr id="35" name="Text 25"/>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36" name="Text 26"/>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D4D"/>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274320"/>
          </a:xfrm>
          <a:prstGeom prst="rect">
            <a:avLst/>
          </a:prstGeom>
          <a:noFill/>
          <a:ln/>
        </p:spPr>
        <p:txBody>
          <a:bodyPr wrap="square" lIns="0" tIns="0" rIns="0" bIns="0" rtlCol="0" anchor="ctr"/>
          <a:lstStyle/>
          <a:p>
            <a:pPr marL="0" indent="0">
              <a:buNone/>
            </a:pPr>
            <a:r>
              <a:rPr lang="en-US" sz="1200" b="1" kern="0" spc="300" dirty="0">
                <a:solidFill>
                  <a:srgbClr val="E0A82E"/>
                </a:solidFill>
                <a:latin typeface="Arial" pitchFamily="34" charset="0"/>
                <a:ea typeface="Arial" pitchFamily="34" charset="-122"/>
                <a:cs typeface="Arial" pitchFamily="34" charset="-120"/>
              </a:rPr>
              <a:t>THE GUIDING LENS</a:t>
            </a:r>
            <a:endParaRPr lang="en-US" sz="1200" dirty="0"/>
          </a:p>
        </p:txBody>
      </p:sp>
      <p:sp>
        <p:nvSpPr>
          <p:cNvPr id="3" name="Text 1"/>
          <p:cNvSpPr/>
          <p:nvPr/>
        </p:nvSpPr>
        <p:spPr>
          <a:xfrm>
            <a:off x="548640" y="685800"/>
            <a:ext cx="10972800" cy="64008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From data to wisdom: the DIKW pyramid</a:t>
            </a:r>
            <a:endParaRPr lang="en-US" sz="3000" dirty="0"/>
          </a:p>
        </p:txBody>
      </p:sp>
      <p:sp>
        <p:nvSpPr>
          <p:cNvPr id="4" name="Text 2"/>
          <p:cNvSpPr/>
          <p:nvPr/>
        </p:nvSpPr>
        <p:spPr>
          <a:xfrm>
            <a:off x="548640" y="1417320"/>
            <a:ext cx="10972800" cy="594360"/>
          </a:xfrm>
          <a:prstGeom prst="rect">
            <a:avLst/>
          </a:prstGeom>
          <a:noFill/>
          <a:ln/>
        </p:spPr>
        <p:txBody>
          <a:bodyPr wrap="square" lIns="0" tIns="0" rIns="0" bIns="0" rtlCol="0" anchor="ctr"/>
          <a:lstStyle/>
          <a:p>
            <a:pPr marL="0" indent="0">
              <a:lnSpc>
                <a:spcPct val="112000"/>
              </a:lnSpc>
              <a:buNone/>
            </a:pPr>
            <a:r>
              <a:rPr lang="en-US" sz="1450" dirty="0">
                <a:solidFill>
                  <a:srgbClr val="C9DCEA"/>
                </a:solidFill>
                <a:latin typeface="Arial" pitchFamily="34" charset="0"/>
                <a:ea typeface="Arial" pitchFamily="34" charset="-122"/>
                <a:cs typeface="Arial" pitchFamily="34" charset="-120"/>
              </a:rPr>
              <a:t>The system is built as a DIKW pipeline: each booking is raw data that becomes organized information, then managerial knowledge, and finally the decisions that run the business.</a:t>
            </a:r>
            <a:endParaRPr lang="en-US" sz="1450" dirty="0"/>
          </a:p>
        </p:txBody>
      </p:sp>
      <p:sp>
        <p:nvSpPr>
          <p:cNvPr id="5" name="Shape 3"/>
          <p:cNvSpPr/>
          <p:nvPr/>
        </p:nvSpPr>
        <p:spPr>
          <a:xfrm>
            <a:off x="2011680" y="2331720"/>
            <a:ext cx="2743200" cy="841248"/>
          </a:xfrm>
          <a:prstGeom prst="roundRect">
            <a:avLst>
              <a:gd name="adj" fmla="val 6522"/>
            </a:avLst>
          </a:prstGeom>
          <a:solidFill>
            <a:srgbClr val="E0A82E"/>
          </a:solidFill>
          <a:ln/>
          <a:effectLst>
            <a:outerShdw blurRad="114300" dist="38100" dir="5400000" algn="bl" rotWithShape="0">
              <a:srgbClr val="0B2D4D">
                <a:alpha val="16000"/>
              </a:srgbClr>
            </a:outerShdw>
          </a:effectLst>
        </p:spPr>
        <p:txBody>
          <a:bodyPr/>
          <a:lstStyle/>
          <a:p>
            <a:endParaRPr lang="en-US"/>
          </a:p>
        </p:txBody>
      </p:sp>
      <p:sp>
        <p:nvSpPr>
          <p:cNvPr id="6" name="Text 4"/>
          <p:cNvSpPr/>
          <p:nvPr/>
        </p:nvSpPr>
        <p:spPr>
          <a:xfrm>
            <a:off x="2011680" y="2331720"/>
            <a:ext cx="2743200" cy="841248"/>
          </a:xfrm>
          <a:prstGeom prst="rect">
            <a:avLst/>
          </a:prstGeom>
          <a:noFill/>
          <a:ln/>
        </p:spPr>
        <p:txBody>
          <a:bodyPr wrap="square" lIns="0" tIns="0" rIns="0" bIns="0" rtlCol="0" anchor="ctr"/>
          <a:lstStyle/>
          <a:p>
            <a:pPr marL="0" indent="0" algn="ctr">
              <a:buNone/>
            </a:pPr>
            <a:r>
              <a:rPr lang="en-US" sz="1700" b="1" kern="0" spc="200" dirty="0">
                <a:solidFill>
                  <a:srgbClr val="0B2D4D"/>
                </a:solidFill>
                <a:latin typeface="Arial" pitchFamily="34" charset="0"/>
                <a:ea typeface="Arial" pitchFamily="34" charset="-122"/>
                <a:cs typeface="Arial" pitchFamily="34" charset="-120"/>
              </a:rPr>
              <a:t>WISDOM</a:t>
            </a:r>
            <a:endParaRPr lang="en-US" sz="1700" dirty="0"/>
          </a:p>
        </p:txBody>
      </p:sp>
      <p:sp>
        <p:nvSpPr>
          <p:cNvPr id="7" name="Shape 5"/>
          <p:cNvSpPr/>
          <p:nvPr/>
        </p:nvSpPr>
        <p:spPr>
          <a:xfrm>
            <a:off x="1417320" y="3282696"/>
            <a:ext cx="3931920" cy="841248"/>
          </a:xfrm>
          <a:prstGeom prst="roundRect">
            <a:avLst>
              <a:gd name="adj" fmla="val 6522"/>
            </a:avLst>
          </a:prstGeom>
          <a:solidFill>
            <a:srgbClr val="1C9AA5"/>
          </a:solidFill>
          <a:ln/>
          <a:effectLst>
            <a:outerShdw blurRad="114300" dist="38100" dir="5400000" algn="bl" rotWithShape="0">
              <a:srgbClr val="0B2D4D">
                <a:alpha val="16000"/>
              </a:srgbClr>
            </a:outerShdw>
          </a:effectLst>
        </p:spPr>
        <p:txBody>
          <a:bodyPr/>
          <a:lstStyle/>
          <a:p>
            <a:endParaRPr lang="en-US"/>
          </a:p>
        </p:txBody>
      </p:sp>
      <p:sp>
        <p:nvSpPr>
          <p:cNvPr id="8" name="Text 6"/>
          <p:cNvSpPr/>
          <p:nvPr/>
        </p:nvSpPr>
        <p:spPr>
          <a:xfrm>
            <a:off x="1417320" y="3282696"/>
            <a:ext cx="3931920" cy="841248"/>
          </a:xfrm>
          <a:prstGeom prst="rect">
            <a:avLst/>
          </a:prstGeom>
          <a:noFill/>
          <a:ln/>
        </p:spPr>
        <p:txBody>
          <a:bodyPr wrap="square" lIns="0" tIns="0" rIns="0" bIns="0" rtlCol="0" anchor="ctr"/>
          <a:lstStyle/>
          <a:p>
            <a:pPr marL="0" indent="0" algn="ctr">
              <a:buNone/>
            </a:pPr>
            <a:r>
              <a:rPr lang="en-US" sz="1700" b="1" kern="0" spc="200" dirty="0">
                <a:solidFill>
                  <a:srgbClr val="FFFFFF"/>
                </a:solidFill>
                <a:latin typeface="Arial" pitchFamily="34" charset="0"/>
                <a:ea typeface="Arial" pitchFamily="34" charset="-122"/>
                <a:cs typeface="Arial" pitchFamily="34" charset="-120"/>
              </a:rPr>
              <a:t>KNOWLEDGE</a:t>
            </a:r>
            <a:endParaRPr lang="en-US" sz="1700" dirty="0"/>
          </a:p>
        </p:txBody>
      </p:sp>
      <p:sp>
        <p:nvSpPr>
          <p:cNvPr id="9" name="Shape 7"/>
          <p:cNvSpPr/>
          <p:nvPr/>
        </p:nvSpPr>
        <p:spPr>
          <a:xfrm>
            <a:off x="822960" y="4233672"/>
            <a:ext cx="5120640" cy="841248"/>
          </a:xfrm>
          <a:prstGeom prst="roundRect">
            <a:avLst>
              <a:gd name="adj" fmla="val 6522"/>
            </a:avLst>
          </a:prstGeom>
          <a:solidFill>
            <a:srgbClr val="0E7C86"/>
          </a:solidFill>
          <a:ln/>
          <a:effectLst>
            <a:outerShdw blurRad="114300" dist="38100" dir="5400000" algn="bl" rotWithShape="0">
              <a:srgbClr val="0B2D4D">
                <a:alpha val="16000"/>
              </a:srgbClr>
            </a:outerShdw>
          </a:effectLst>
        </p:spPr>
        <p:txBody>
          <a:bodyPr/>
          <a:lstStyle/>
          <a:p>
            <a:endParaRPr lang="en-US"/>
          </a:p>
        </p:txBody>
      </p:sp>
      <p:sp>
        <p:nvSpPr>
          <p:cNvPr id="10" name="Text 8"/>
          <p:cNvSpPr/>
          <p:nvPr/>
        </p:nvSpPr>
        <p:spPr>
          <a:xfrm>
            <a:off x="822960" y="4233672"/>
            <a:ext cx="5120640" cy="841248"/>
          </a:xfrm>
          <a:prstGeom prst="rect">
            <a:avLst/>
          </a:prstGeom>
          <a:noFill/>
          <a:ln/>
        </p:spPr>
        <p:txBody>
          <a:bodyPr wrap="square" lIns="0" tIns="0" rIns="0" bIns="0" rtlCol="0" anchor="ctr"/>
          <a:lstStyle/>
          <a:p>
            <a:pPr marL="0" indent="0" algn="ctr">
              <a:buNone/>
            </a:pPr>
            <a:r>
              <a:rPr lang="en-US" sz="1700" b="1" kern="0" spc="200" dirty="0">
                <a:solidFill>
                  <a:srgbClr val="FFFFFF"/>
                </a:solidFill>
                <a:latin typeface="Arial" pitchFamily="34" charset="0"/>
                <a:ea typeface="Arial" pitchFamily="34" charset="-122"/>
                <a:cs typeface="Arial" pitchFamily="34" charset="-120"/>
              </a:rPr>
              <a:t>INFORMATION</a:t>
            </a:r>
            <a:endParaRPr lang="en-US" sz="1700" dirty="0"/>
          </a:p>
        </p:txBody>
      </p:sp>
      <p:sp>
        <p:nvSpPr>
          <p:cNvPr id="11" name="Shape 9"/>
          <p:cNvSpPr/>
          <p:nvPr/>
        </p:nvSpPr>
        <p:spPr>
          <a:xfrm>
            <a:off x="228600" y="5184648"/>
            <a:ext cx="6309360" cy="841248"/>
          </a:xfrm>
          <a:prstGeom prst="roundRect">
            <a:avLst>
              <a:gd name="adj" fmla="val 6522"/>
            </a:avLst>
          </a:prstGeom>
          <a:solidFill>
            <a:srgbClr val="1C5A78"/>
          </a:solidFill>
          <a:ln/>
          <a:effectLst>
            <a:outerShdw blurRad="114300" dist="38100" dir="5400000" algn="bl" rotWithShape="0">
              <a:srgbClr val="0B2D4D">
                <a:alpha val="16000"/>
              </a:srgbClr>
            </a:outerShdw>
          </a:effectLst>
        </p:spPr>
        <p:txBody>
          <a:bodyPr/>
          <a:lstStyle/>
          <a:p>
            <a:endParaRPr lang="en-US"/>
          </a:p>
        </p:txBody>
      </p:sp>
      <p:sp>
        <p:nvSpPr>
          <p:cNvPr id="12" name="Text 10"/>
          <p:cNvSpPr/>
          <p:nvPr/>
        </p:nvSpPr>
        <p:spPr>
          <a:xfrm>
            <a:off x="228600" y="5184648"/>
            <a:ext cx="6309360" cy="841248"/>
          </a:xfrm>
          <a:prstGeom prst="rect">
            <a:avLst/>
          </a:prstGeom>
          <a:noFill/>
          <a:ln/>
        </p:spPr>
        <p:txBody>
          <a:bodyPr wrap="square" lIns="0" tIns="0" rIns="0" bIns="0" rtlCol="0" anchor="ctr"/>
          <a:lstStyle/>
          <a:p>
            <a:pPr marL="0" indent="0" algn="ctr">
              <a:buNone/>
            </a:pPr>
            <a:r>
              <a:rPr lang="en-US" sz="1700" b="1" kern="0" spc="200" dirty="0">
                <a:solidFill>
                  <a:srgbClr val="FFFFFF"/>
                </a:solidFill>
                <a:latin typeface="Arial" pitchFamily="34" charset="0"/>
                <a:ea typeface="Arial" pitchFamily="34" charset="-122"/>
                <a:cs typeface="Arial" pitchFamily="34" charset="-120"/>
              </a:rPr>
              <a:t>DATA</a:t>
            </a:r>
            <a:endParaRPr lang="en-US" sz="1700" dirty="0"/>
          </a:p>
        </p:txBody>
      </p:sp>
      <p:sp>
        <p:nvSpPr>
          <p:cNvPr id="13" name="Shape 11"/>
          <p:cNvSpPr/>
          <p:nvPr/>
        </p:nvSpPr>
        <p:spPr>
          <a:xfrm>
            <a:off x="6720840" y="2688336"/>
            <a:ext cx="128016" cy="128016"/>
          </a:xfrm>
          <a:prstGeom prst="ellipse">
            <a:avLst/>
          </a:prstGeom>
          <a:solidFill>
            <a:srgbClr val="E0A82E"/>
          </a:solidFill>
          <a:ln/>
        </p:spPr>
        <p:txBody>
          <a:bodyPr/>
          <a:lstStyle/>
          <a:p>
            <a:endParaRPr lang="en-US"/>
          </a:p>
        </p:txBody>
      </p:sp>
      <p:sp>
        <p:nvSpPr>
          <p:cNvPr id="14" name="Text 12"/>
          <p:cNvSpPr/>
          <p:nvPr/>
        </p:nvSpPr>
        <p:spPr>
          <a:xfrm>
            <a:off x="6995160" y="2386584"/>
            <a:ext cx="4754880" cy="329184"/>
          </a:xfrm>
          <a:prstGeom prst="rect">
            <a:avLst/>
          </a:prstGeom>
          <a:noFill/>
          <a:ln/>
        </p:spPr>
        <p:txBody>
          <a:bodyPr wrap="square" lIns="0" tIns="0" rIns="0" bIns="0" rtlCol="0" anchor="ctr"/>
          <a:lstStyle/>
          <a:p>
            <a:pPr marL="0" indent="0">
              <a:buNone/>
            </a:pPr>
            <a:r>
              <a:rPr lang="en-US" sz="1500" b="1" dirty="0">
                <a:solidFill>
                  <a:srgbClr val="E0A82E"/>
                </a:solidFill>
                <a:latin typeface="Arial" pitchFamily="34" charset="0"/>
                <a:ea typeface="Arial" pitchFamily="34" charset="-122"/>
                <a:cs typeface="Arial" pitchFamily="34" charset="-120"/>
              </a:rPr>
              <a:t>Wisdom</a:t>
            </a:r>
            <a:endParaRPr lang="en-US" sz="1500" dirty="0"/>
          </a:p>
        </p:txBody>
      </p:sp>
      <p:sp>
        <p:nvSpPr>
          <p:cNvPr id="15" name="Text 13"/>
          <p:cNvSpPr/>
          <p:nvPr/>
        </p:nvSpPr>
        <p:spPr>
          <a:xfrm>
            <a:off x="6995160" y="2715768"/>
            <a:ext cx="4846320" cy="438912"/>
          </a:xfrm>
          <a:prstGeom prst="rect">
            <a:avLst/>
          </a:prstGeom>
          <a:noFill/>
          <a:ln/>
        </p:spPr>
        <p:txBody>
          <a:bodyPr wrap="square" lIns="0" tIns="0" rIns="0" bIns="0" rtlCol="0" anchor="ctr"/>
          <a:lstStyle/>
          <a:p>
            <a:pPr marL="0" indent="0">
              <a:lnSpc>
                <a:spcPct val="105000"/>
              </a:lnSpc>
              <a:buNone/>
            </a:pPr>
            <a:r>
              <a:rPr lang="en-US" sz="1250" dirty="0">
                <a:solidFill>
                  <a:srgbClr val="C9DCEA"/>
                </a:solidFill>
                <a:latin typeface="Arial" pitchFamily="34" charset="0"/>
                <a:ea typeface="Arial" pitchFamily="34" charset="-122"/>
                <a:cs typeface="Arial" pitchFamily="34" charset="-120"/>
              </a:rPr>
              <a:t>Decisions: set prices, schedule the fleet, target in-house capture</a:t>
            </a:r>
            <a:endParaRPr lang="en-US" sz="1250" dirty="0"/>
          </a:p>
        </p:txBody>
      </p:sp>
      <p:sp>
        <p:nvSpPr>
          <p:cNvPr id="16" name="Shape 14"/>
          <p:cNvSpPr/>
          <p:nvPr/>
        </p:nvSpPr>
        <p:spPr>
          <a:xfrm>
            <a:off x="6720840" y="3639312"/>
            <a:ext cx="128016" cy="128016"/>
          </a:xfrm>
          <a:prstGeom prst="ellipse">
            <a:avLst/>
          </a:prstGeom>
          <a:solidFill>
            <a:srgbClr val="1C9AA5"/>
          </a:solidFill>
          <a:ln/>
        </p:spPr>
        <p:txBody>
          <a:bodyPr/>
          <a:lstStyle/>
          <a:p>
            <a:endParaRPr lang="en-US"/>
          </a:p>
        </p:txBody>
      </p:sp>
      <p:sp>
        <p:nvSpPr>
          <p:cNvPr id="17" name="Text 15"/>
          <p:cNvSpPr/>
          <p:nvPr/>
        </p:nvSpPr>
        <p:spPr>
          <a:xfrm>
            <a:off x="6995160" y="3337560"/>
            <a:ext cx="4754880" cy="329184"/>
          </a:xfrm>
          <a:prstGeom prst="rect">
            <a:avLst/>
          </a:prstGeom>
          <a:noFill/>
          <a:ln/>
        </p:spPr>
        <p:txBody>
          <a:bodyPr wrap="square" lIns="0" tIns="0" rIns="0" bIns="0" rtlCol="0" anchor="ctr"/>
          <a:lstStyle/>
          <a:p>
            <a:pPr marL="0" indent="0">
              <a:buNone/>
            </a:pPr>
            <a:r>
              <a:rPr lang="en-US" sz="1500" b="1" dirty="0">
                <a:solidFill>
                  <a:srgbClr val="1C9AA5"/>
                </a:solidFill>
                <a:latin typeface="Arial" pitchFamily="34" charset="0"/>
                <a:ea typeface="Arial" pitchFamily="34" charset="-122"/>
                <a:cs typeface="Arial" pitchFamily="34" charset="-120"/>
              </a:rPr>
              <a:t>Knowledge</a:t>
            </a:r>
            <a:endParaRPr lang="en-US" sz="1500" dirty="0"/>
          </a:p>
        </p:txBody>
      </p:sp>
      <p:sp>
        <p:nvSpPr>
          <p:cNvPr id="18" name="Text 16"/>
          <p:cNvSpPr/>
          <p:nvPr/>
        </p:nvSpPr>
        <p:spPr>
          <a:xfrm>
            <a:off x="6995160" y="3666744"/>
            <a:ext cx="4846320" cy="438912"/>
          </a:xfrm>
          <a:prstGeom prst="rect">
            <a:avLst/>
          </a:prstGeom>
          <a:noFill/>
          <a:ln/>
        </p:spPr>
        <p:txBody>
          <a:bodyPr wrap="square" lIns="0" tIns="0" rIns="0" bIns="0" rtlCol="0" anchor="ctr"/>
          <a:lstStyle/>
          <a:p>
            <a:pPr marL="0" indent="0">
              <a:lnSpc>
                <a:spcPct val="105000"/>
              </a:lnSpc>
              <a:buNone/>
            </a:pPr>
            <a:r>
              <a:rPr lang="en-US" sz="1250" dirty="0">
                <a:solidFill>
                  <a:srgbClr val="C9DCEA"/>
                </a:solidFill>
                <a:latin typeface="Arial" pitchFamily="34" charset="0"/>
                <a:ea typeface="Arial" pitchFamily="34" charset="-122"/>
                <a:cs typeface="Arial" pitchFamily="34" charset="-120"/>
              </a:rPr>
              <a:t>Analytics: demand, utilization, Pareto, revenue trends, forecasts</a:t>
            </a:r>
            <a:endParaRPr lang="en-US" sz="1250" dirty="0"/>
          </a:p>
        </p:txBody>
      </p:sp>
      <p:sp>
        <p:nvSpPr>
          <p:cNvPr id="19" name="Shape 17"/>
          <p:cNvSpPr/>
          <p:nvPr/>
        </p:nvSpPr>
        <p:spPr>
          <a:xfrm>
            <a:off x="6720840" y="4590288"/>
            <a:ext cx="128016" cy="128016"/>
          </a:xfrm>
          <a:prstGeom prst="ellipse">
            <a:avLst/>
          </a:prstGeom>
          <a:solidFill>
            <a:srgbClr val="0E7C86"/>
          </a:solidFill>
          <a:ln/>
        </p:spPr>
        <p:txBody>
          <a:bodyPr/>
          <a:lstStyle/>
          <a:p>
            <a:endParaRPr lang="en-US"/>
          </a:p>
        </p:txBody>
      </p:sp>
      <p:sp>
        <p:nvSpPr>
          <p:cNvPr id="20" name="Text 18"/>
          <p:cNvSpPr/>
          <p:nvPr/>
        </p:nvSpPr>
        <p:spPr>
          <a:xfrm>
            <a:off x="6995160" y="4288536"/>
            <a:ext cx="4754880" cy="329184"/>
          </a:xfrm>
          <a:prstGeom prst="rect">
            <a:avLst/>
          </a:prstGeom>
          <a:noFill/>
          <a:ln/>
        </p:spPr>
        <p:txBody>
          <a:bodyPr wrap="square" lIns="0" tIns="0" rIns="0" bIns="0" rtlCol="0" anchor="ctr"/>
          <a:lstStyle/>
          <a:p>
            <a:pPr marL="0" indent="0">
              <a:buNone/>
            </a:pPr>
            <a:r>
              <a:rPr lang="en-US" sz="1500" b="1" dirty="0">
                <a:solidFill>
                  <a:srgbClr val="0E7C86"/>
                </a:solidFill>
                <a:latin typeface="Arial" pitchFamily="34" charset="0"/>
                <a:ea typeface="Arial" pitchFamily="34" charset="-122"/>
                <a:cs typeface="Arial" pitchFamily="34" charset="-120"/>
              </a:rPr>
              <a:t>Information</a:t>
            </a:r>
            <a:endParaRPr lang="en-US" sz="1500" dirty="0"/>
          </a:p>
        </p:txBody>
      </p:sp>
      <p:sp>
        <p:nvSpPr>
          <p:cNvPr id="21" name="Text 19"/>
          <p:cNvSpPr/>
          <p:nvPr/>
        </p:nvSpPr>
        <p:spPr>
          <a:xfrm>
            <a:off x="6995160" y="4617720"/>
            <a:ext cx="4846320" cy="438912"/>
          </a:xfrm>
          <a:prstGeom prst="rect">
            <a:avLst/>
          </a:prstGeom>
          <a:noFill/>
          <a:ln/>
        </p:spPr>
        <p:txBody>
          <a:bodyPr wrap="square" lIns="0" tIns="0" rIns="0" bIns="0" rtlCol="0" anchor="ctr"/>
          <a:lstStyle/>
          <a:p>
            <a:pPr marL="0" indent="0">
              <a:lnSpc>
                <a:spcPct val="105000"/>
              </a:lnSpc>
              <a:buNone/>
            </a:pPr>
            <a:r>
              <a:rPr lang="en-US" sz="1250" dirty="0">
                <a:solidFill>
                  <a:srgbClr val="C9DCEA"/>
                </a:solidFill>
                <a:latin typeface="Arial" pitchFamily="34" charset="0"/>
                <a:ea typeface="Arial" pitchFamily="34" charset="-122"/>
                <a:cs typeface="Arial" pitchFamily="34" charset="-120"/>
              </a:rPr>
              <a:t>The reservation log: structured, queryable, exportable records</a:t>
            </a:r>
            <a:endParaRPr lang="en-US" sz="1250" dirty="0"/>
          </a:p>
        </p:txBody>
      </p:sp>
      <p:sp>
        <p:nvSpPr>
          <p:cNvPr id="22" name="Shape 20"/>
          <p:cNvSpPr/>
          <p:nvPr/>
        </p:nvSpPr>
        <p:spPr>
          <a:xfrm>
            <a:off x="6720840" y="5541264"/>
            <a:ext cx="128016" cy="128016"/>
          </a:xfrm>
          <a:prstGeom prst="ellipse">
            <a:avLst/>
          </a:prstGeom>
          <a:solidFill>
            <a:srgbClr val="9FC6DC"/>
          </a:solidFill>
          <a:ln/>
        </p:spPr>
        <p:txBody>
          <a:bodyPr/>
          <a:lstStyle/>
          <a:p>
            <a:endParaRPr lang="en-US"/>
          </a:p>
        </p:txBody>
      </p:sp>
      <p:sp>
        <p:nvSpPr>
          <p:cNvPr id="23" name="Text 21"/>
          <p:cNvSpPr/>
          <p:nvPr/>
        </p:nvSpPr>
        <p:spPr>
          <a:xfrm>
            <a:off x="6995160" y="5239512"/>
            <a:ext cx="4754880" cy="329184"/>
          </a:xfrm>
          <a:prstGeom prst="rect">
            <a:avLst/>
          </a:prstGeom>
          <a:noFill/>
          <a:ln/>
        </p:spPr>
        <p:txBody>
          <a:bodyPr wrap="square" lIns="0" tIns="0" rIns="0" bIns="0" rtlCol="0" anchor="ctr"/>
          <a:lstStyle/>
          <a:p>
            <a:pPr marL="0" indent="0">
              <a:buNone/>
            </a:pPr>
            <a:r>
              <a:rPr lang="en-US" sz="1500" b="1" dirty="0">
                <a:solidFill>
                  <a:srgbClr val="9FC6DC"/>
                </a:solidFill>
                <a:latin typeface="Arial" pitchFamily="34" charset="0"/>
                <a:ea typeface="Arial" pitchFamily="34" charset="-122"/>
                <a:cs typeface="Arial" pitchFamily="34" charset="-120"/>
              </a:rPr>
              <a:t>Data</a:t>
            </a:r>
            <a:endParaRPr lang="en-US" sz="1500" dirty="0"/>
          </a:p>
        </p:txBody>
      </p:sp>
      <p:sp>
        <p:nvSpPr>
          <p:cNvPr id="24" name="Text 22"/>
          <p:cNvSpPr/>
          <p:nvPr/>
        </p:nvSpPr>
        <p:spPr>
          <a:xfrm>
            <a:off x="6995160" y="5568696"/>
            <a:ext cx="4846320" cy="438912"/>
          </a:xfrm>
          <a:prstGeom prst="rect">
            <a:avLst/>
          </a:prstGeom>
          <a:noFill/>
          <a:ln/>
        </p:spPr>
        <p:txBody>
          <a:bodyPr wrap="square" lIns="0" tIns="0" rIns="0" bIns="0" rtlCol="0" anchor="ctr"/>
          <a:lstStyle/>
          <a:p>
            <a:pPr marL="0" indent="0">
              <a:lnSpc>
                <a:spcPct val="105000"/>
              </a:lnSpc>
              <a:buNone/>
            </a:pPr>
            <a:r>
              <a:rPr lang="en-US" sz="1250" dirty="0">
                <a:solidFill>
                  <a:srgbClr val="C9DCEA"/>
                </a:solidFill>
                <a:latin typeface="Arial" pitchFamily="34" charset="0"/>
                <a:ea typeface="Arial" pitchFamily="34" charset="-122"/>
                <a:cs typeface="Arial" pitchFamily="34" charset="-120"/>
              </a:rPr>
              <a:t>Each raw booking: dates, ship, cabin, guests, fare, payment</a:t>
            </a:r>
            <a:endParaRPr lang="en-US" sz="1250" dirty="0"/>
          </a:p>
        </p:txBody>
      </p:sp>
      <p:sp>
        <p:nvSpPr>
          <p:cNvPr id="25" name="Text 23"/>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26" name="Text 24"/>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SYSTEMS DESIGN</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The data flow mirrors the case</a:t>
            </a:r>
            <a:endParaRPr lang="en-US" sz="3000" dirty="0"/>
          </a:p>
        </p:txBody>
      </p:sp>
      <p:sp>
        <p:nvSpPr>
          <p:cNvPr id="4" name="Shape 2"/>
          <p:cNvSpPr/>
          <p:nvPr/>
        </p:nvSpPr>
        <p:spPr>
          <a:xfrm>
            <a:off x="685800" y="2194560"/>
            <a:ext cx="2468880" cy="2011680"/>
          </a:xfrm>
          <a:prstGeom prst="roundRect">
            <a:avLst>
              <a:gd name="adj" fmla="val 5455"/>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5" name="Shape 3"/>
          <p:cNvSpPr/>
          <p:nvPr/>
        </p:nvSpPr>
        <p:spPr>
          <a:xfrm>
            <a:off x="1508760" y="2450592"/>
            <a:ext cx="822960" cy="82296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730959" y="2672791"/>
            <a:ext cx="378562" cy="378562"/>
          </a:xfrm>
          <a:prstGeom prst="rect">
            <a:avLst/>
          </a:prstGeom>
        </p:spPr>
      </p:pic>
      <p:sp>
        <p:nvSpPr>
          <p:cNvPr id="7" name="Text 4"/>
          <p:cNvSpPr/>
          <p:nvPr/>
        </p:nvSpPr>
        <p:spPr>
          <a:xfrm>
            <a:off x="777240" y="3337560"/>
            <a:ext cx="2286000" cy="502920"/>
          </a:xfrm>
          <a:prstGeom prst="rect">
            <a:avLst/>
          </a:prstGeom>
          <a:noFill/>
          <a:ln/>
        </p:spPr>
        <p:txBody>
          <a:bodyPr wrap="square" lIns="0" tIns="0" rIns="0" bIns="0" rtlCol="0" anchor="ctr"/>
          <a:lstStyle/>
          <a:p>
            <a:pPr marL="0" indent="0" algn="ctr">
              <a:buNone/>
            </a:pPr>
            <a:r>
              <a:rPr lang="en-US" sz="1600" b="1" dirty="0">
                <a:solidFill>
                  <a:srgbClr val="16293A"/>
                </a:solidFill>
                <a:latin typeface="Arial" pitchFamily="34" charset="0"/>
                <a:ea typeface="Arial" pitchFamily="34" charset="-122"/>
                <a:cs typeface="Arial" pitchFamily="34" charset="-120"/>
              </a:rPr>
              <a:t>Customer Booking</a:t>
            </a:r>
            <a:endParaRPr lang="en-US" sz="1600" dirty="0"/>
          </a:p>
        </p:txBody>
      </p:sp>
      <p:sp>
        <p:nvSpPr>
          <p:cNvPr id="8" name="Text 5"/>
          <p:cNvSpPr/>
          <p:nvPr/>
        </p:nvSpPr>
        <p:spPr>
          <a:xfrm>
            <a:off x="822960" y="3767328"/>
            <a:ext cx="2194560" cy="411480"/>
          </a:xfrm>
          <a:prstGeom prst="rect">
            <a:avLst/>
          </a:prstGeom>
          <a:noFill/>
          <a:ln/>
        </p:spPr>
        <p:txBody>
          <a:bodyPr wrap="square" lIns="0" tIns="0" rIns="0" bIns="0" rtlCol="0" anchor="ctr"/>
          <a:lstStyle/>
          <a:p>
            <a:pPr marL="0" indent="0" algn="ctr">
              <a:lnSpc>
                <a:spcPct val="100000"/>
              </a:lnSpc>
              <a:buNone/>
            </a:pPr>
            <a:r>
              <a:rPr lang="en-US" sz="1100" dirty="0">
                <a:solidFill>
                  <a:srgbClr val="5C6B7A"/>
                </a:solidFill>
                <a:latin typeface="Arial" pitchFamily="34" charset="0"/>
                <a:ea typeface="Arial" pitchFamily="34" charset="-122"/>
                <a:cs typeface="Arial" pitchFamily="34" charset="-120"/>
              </a:rPr>
              <a:t>Guest completes the wizard and pays</a:t>
            </a:r>
            <a:endParaRPr lang="en-US" sz="1100" dirty="0"/>
          </a:p>
        </p:txBody>
      </p:sp>
      <p:pic>
        <p:nvPicPr>
          <p:cNvPr id="9" name="Image 1" descr="preencoded.png"/>
          <p:cNvPicPr>
            <a:picLocks noChangeAspect="1"/>
          </p:cNvPicPr>
          <p:nvPr/>
        </p:nvPicPr>
        <p:blipFill>
          <a:blip r:embed="rId4"/>
          <a:stretch>
            <a:fillRect/>
          </a:stretch>
        </p:blipFill>
        <p:spPr>
          <a:xfrm>
            <a:off x="3191256" y="3035808"/>
            <a:ext cx="329184" cy="329184"/>
          </a:xfrm>
          <a:prstGeom prst="rect">
            <a:avLst/>
          </a:prstGeom>
        </p:spPr>
      </p:pic>
      <p:sp>
        <p:nvSpPr>
          <p:cNvPr id="10" name="Shape 6"/>
          <p:cNvSpPr/>
          <p:nvPr/>
        </p:nvSpPr>
        <p:spPr>
          <a:xfrm>
            <a:off x="3566160" y="2194560"/>
            <a:ext cx="2468880" cy="2011680"/>
          </a:xfrm>
          <a:prstGeom prst="roundRect">
            <a:avLst>
              <a:gd name="adj" fmla="val 5455"/>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1" name="Shape 7"/>
          <p:cNvSpPr/>
          <p:nvPr/>
        </p:nvSpPr>
        <p:spPr>
          <a:xfrm>
            <a:off x="4389120" y="2450592"/>
            <a:ext cx="822960" cy="82296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2" name="Image 2" descr="preencoded.png"/>
          <p:cNvPicPr>
            <a:picLocks noChangeAspect="1"/>
          </p:cNvPicPr>
          <p:nvPr/>
        </p:nvPicPr>
        <p:blipFill>
          <a:blip r:embed="rId5"/>
          <a:stretch>
            <a:fillRect/>
          </a:stretch>
        </p:blipFill>
        <p:spPr>
          <a:xfrm>
            <a:off x="4611319" y="2672791"/>
            <a:ext cx="378562" cy="378562"/>
          </a:xfrm>
          <a:prstGeom prst="rect">
            <a:avLst/>
          </a:prstGeom>
        </p:spPr>
      </p:pic>
      <p:sp>
        <p:nvSpPr>
          <p:cNvPr id="13" name="Text 8"/>
          <p:cNvSpPr/>
          <p:nvPr/>
        </p:nvSpPr>
        <p:spPr>
          <a:xfrm>
            <a:off x="3657600" y="3337560"/>
            <a:ext cx="2286000" cy="502920"/>
          </a:xfrm>
          <a:prstGeom prst="rect">
            <a:avLst/>
          </a:prstGeom>
          <a:noFill/>
          <a:ln/>
        </p:spPr>
        <p:txBody>
          <a:bodyPr wrap="square" lIns="0" tIns="0" rIns="0" bIns="0" rtlCol="0" anchor="ctr"/>
          <a:lstStyle/>
          <a:p>
            <a:pPr marL="0" indent="0" algn="ctr">
              <a:buNone/>
            </a:pPr>
            <a:r>
              <a:rPr lang="en-US" sz="1600" b="1" dirty="0">
                <a:solidFill>
                  <a:srgbClr val="16293A"/>
                </a:solidFill>
                <a:latin typeface="Arial" pitchFamily="34" charset="0"/>
                <a:ea typeface="Arial" pitchFamily="34" charset="-122"/>
                <a:cs typeface="Arial" pitchFamily="34" charset="-120"/>
              </a:rPr>
              <a:t>Reservation Log</a:t>
            </a:r>
            <a:endParaRPr lang="en-US" sz="1600" dirty="0"/>
          </a:p>
        </p:txBody>
      </p:sp>
      <p:sp>
        <p:nvSpPr>
          <p:cNvPr id="14" name="Text 9"/>
          <p:cNvSpPr/>
          <p:nvPr/>
        </p:nvSpPr>
        <p:spPr>
          <a:xfrm>
            <a:off x="3703320" y="3767328"/>
            <a:ext cx="2194560" cy="411480"/>
          </a:xfrm>
          <a:prstGeom prst="rect">
            <a:avLst/>
          </a:prstGeom>
          <a:noFill/>
          <a:ln/>
        </p:spPr>
        <p:txBody>
          <a:bodyPr wrap="square" lIns="0" tIns="0" rIns="0" bIns="0" rtlCol="0" anchor="ctr"/>
          <a:lstStyle/>
          <a:p>
            <a:pPr marL="0" indent="0" algn="ctr">
              <a:lnSpc>
                <a:spcPct val="100000"/>
              </a:lnSpc>
              <a:buNone/>
            </a:pPr>
            <a:r>
              <a:rPr lang="en-US" sz="1100" dirty="0">
                <a:solidFill>
                  <a:srgbClr val="5C6B7A"/>
                </a:solidFill>
                <a:latin typeface="Arial" pitchFamily="34" charset="0"/>
                <a:ea typeface="Arial" pitchFamily="34" charset="-122"/>
                <a:cs typeface="Arial" pitchFamily="34" charset="-120"/>
              </a:rPr>
              <a:t>Booking is registered and stored</a:t>
            </a:r>
            <a:endParaRPr lang="en-US" sz="1100" dirty="0"/>
          </a:p>
        </p:txBody>
      </p:sp>
      <p:pic>
        <p:nvPicPr>
          <p:cNvPr id="15" name="Image 3" descr="preencoded.png"/>
          <p:cNvPicPr>
            <a:picLocks noChangeAspect="1"/>
          </p:cNvPicPr>
          <p:nvPr/>
        </p:nvPicPr>
        <p:blipFill>
          <a:blip r:embed="rId4"/>
          <a:stretch>
            <a:fillRect/>
          </a:stretch>
        </p:blipFill>
        <p:spPr>
          <a:xfrm>
            <a:off x="6071616" y="3035808"/>
            <a:ext cx="329184" cy="329184"/>
          </a:xfrm>
          <a:prstGeom prst="rect">
            <a:avLst/>
          </a:prstGeom>
        </p:spPr>
      </p:pic>
      <p:sp>
        <p:nvSpPr>
          <p:cNvPr id="16" name="Shape 10"/>
          <p:cNvSpPr/>
          <p:nvPr/>
        </p:nvSpPr>
        <p:spPr>
          <a:xfrm>
            <a:off x="6446520" y="2194560"/>
            <a:ext cx="2468880" cy="2011680"/>
          </a:xfrm>
          <a:prstGeom prst="roundRect">
            <a:avLst>
              <a:gd name="adj" fmla="val 5455"/>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7" name="Shape 11"/>
          <p:cNvSpPr/>
          <p:nvPr/>
        </p:nvSpPr>
        <p:spPr>
          <a:xfrm>
            <a:off x="7269480" y="2450592"/>
            <a:ext cx="822960" cy="82296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18" name="Image 4" descr="preencoded.png"/>
          <p:cNvPicPr>
            <a:picLocks noChangeAspect="1"/>
          </p:cNvPicPr>
          <p:nvPr/>
        </p:nvPicPr>
        <p:blipFill>
          <a:blip r:embed="rId6"/>
          <a:stretch>
            <a:fillRect/>
          </a:stretch>
        </p:blipFill>
        <p:spPr>
          <a:xfrm>
            <a:off x="7491679" y="2672791"/>
            <a:ext cx="378562" cy="378562"/>
          </a:xfrm>
          <a:prstGeom prst="rect">
            <a:avLst/>
          </a:prstGeom>
        </p:spPr>
      </p:pic>
      <p:sp>
        <p:nvSpPr>
          <p:cNvPr id="19" name="Text 12"/>
          <p:cNvSpPr/>
          <p:nvPr/>
        </p:nvSpPr>
        <p:spPr>
          <a:xfrm>
            <a:off x="6537960" y="3337560"/>
            <a:ext cx="2286000" cy="502920"/>
          </a:xfrm>
          <a:prstGeom prst="rect">
            <a:avLst/>
          </a:prstGeom>
          <a:noFill/>
          <a:ln/>
        </p:spPr>
        <p:txBody>
          <a:bodyPr wrap="square" lIns="0" tIns="0" rIns="0" bIns="0" rtlCol="0" anchor="ctr"/>
          <a:lstStyle/>
          <a:p>
            <a:pPr marL="0" indent="0" algn="ctr">
              <a:buNone/>
            </a:pPr>
            <a:r>
              <a:rPr lang="en-US" sz="1600" b="1" dirty="0">
                <a:solidFill>
                  <a:srgbClr val="16293A"/>
                </a:solidFill>
                <a:latin typeface="Arial" pitchFamily="34" charset="0"/>
                <a:ea typeface="Arial" pitchFamily="34" charset="-122"/>
                <a:cs typeface="Arial" pitchFamily="34" charset="-120"/>
              </a:rPr>
              <a:t>Revenue Management</a:t>
            </a:r>
            <a:endParaRPr lang="en-US" sz="1600" dirty="0"/>
          </a:p>
        </p:txBody>
      </p:sp>
      <p:sp>
        <p:nvSpPr>
          <p:cNvPr id="20" name="Text 13"/>
          <p:cNvSpPr/>
          <p:nvPr/>
        </p:nvSpPr>
        <p:spPr>
          <a:xfrm>
            <a:off x="6583680" y="3767328"/>
            <a:ext cx="2194560" cy="411480"/>
          </a:xfrm>
          <a:prstGeom prst="rect">
            <a:avLst/>
          </a:prstGeom>
          <a:noFill/>
          <a:ln/>
        </p:spPr>
        <p:txBody>
          <a:bodyPr wrap="square" lIns="0" tIns="0" rIns="0" bIns="0" rtlCol="0" anchor="ctr"/>
          <a:lstStyle/>
          <a:p>
            <a:pPr marL="0" indent="0" algn="ctr">
              <a:lnSpc>
                <a:spcPct val="100000"/>
              </a:lnSpc>
              <a:buNone/>
            </a:pPr>
            <a:r>
              <a:rPr lang="en-US" sz="1100" dirty="0">
                <a:solidFill>
                  <a:srgbClr val="5C6B7A"/>
                </a:solidFill>
                <a:latin typeface="Arial" pitchFamily="34" charset="0"/>
                <a:ea typeface="Arial" pitchFamily="34" charset="-122"/>
                <a:cs typeface="Arial" pitchFamily="34" charset="-120"/>
              </a:rPr>
              <a:t>Pricing &amp; schedule react to demand</a:t>
            </a:r>
            <a:endParaRPr lang="en-US" sz="1100" dirty="0"/>
          </a:p>
        </p:txBody>
      </p:sp>
      <p:pic>
        <p:nvPicPr>
          <p:cNvPr id="21" name="Image 5" descr="preencoded.png"/>
          <p:cNvPicPr>
            <a:picLocks noChangeAspect="1"/>
          </p:cNvPicPr>
          <p:nvPr/>
        </p:nvPicPr>
        <p:blipFill>
          <a:blip r:embed="rId4"/>
          <a:stretch>
            <a:fillRect/>
          </a:stretch>
        </p:blipFill>
        <p:spPr>
          <a:xfrm>
            <a:off x="8951976" y="3035808"/>
            <a:ext cx="329184" cy="329184"/>
          </a:xfrm>
          <a:prstGeom prst="rect">
            <a:avLst/>
          </a:prstGeom>
        </p:spPr>
      </p:pic>
      <p:sp>
        <p:nvSpPr>
          <p:cNvPr id="22" name="Shape 14"/>
          <p:cNvSpPr/>
          <p:nvPr/>
        </p:nvSpPr>
        <p:spPr>
          <a:xfrm>
            <a:off x="9326880" y="2194560"/>
            <a:ext cx="2468880" cy="2011680"/>
          </a:xfrm>
          <a:prstGeom prst="roundRect">
            <a:avLst>
              <a:gd name="adj" fmla="val 5455"/>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23" name="Shape 15"/>
          <p:cNvSpPr/>
          <p:nvPr/>
        </p:nvSpPr>
        <p:spPr>
          <a:xfrm>
            <a:off x="10149840" y="2450592"/>
            <a:ext cx="822960" cy="82296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24" name="Image 6" descr="preencoded.png"/>
          <p:cNvPicPr>
            <a:picLocks noChangeAspect="1"/>
          </p:cNvPicPr>
          <p:nvPr/>
        </p:nvPicPr>
        <p:blipFill>
          <a:blip r:embed="rId7"/>
          <a:stretch>
            <a:fillRect/>
          </a:stretch>
        </p:blipFill>
        <p:spPr>
          <a:xfrm>
            <a:off x="10372039" y="2672791"/>
            <a:ext cx="378562" cy="378562"/>
          </a:xfrm>
          <a:prstGeom prst="rect">
            <a:avLst/>
          </a:prstGeom>
        </p:spPr>
      </p:pic>
      <p:sp>
        <p:nvSpPr>
          <p:cNvPr id="25" name="Text 16"/>
          <p:cNvSpPr/>
          <p:nvPr/>
        </p:nvSpPr>
        <p:spPr>
          <a:xfrm>
            <a:off x="9418320" y="3337560"/>
            <a:ext cx="2286000" cy="502920"/>
          </a:xfrm>
          <a:prstGeom prst="rect">
            <a:avLst/>
          </a:prstGeom>
          <a:noFill/>
          <a:ln/>
        </p:spPr>
        <p:txBody>
          <a:bodyPr wrap="square" lIns="0" tIns="0" rIns="0" bIns="0" rtlCol="0" anchor="ctr"/>
          <a:lstStyle/>
          <a:p>
            <a:pPr marL="0" indent="0" algn="ctr">
              <a:buNone/>
            </a:pPr>
            <a:r>
              <a:rPr lang="en-US" sz="1600" b="1" dirty="0">
                <a:solidFill>
                  <a:srgbClr val="16293A"/>
                </a:solidFill>
                <a:latin typeface="Arial" pitchFamily="34" charset="0"/>
                <a:ea typeface="Arial" pitchFamily="34" charset="-122"/>
                <a:cs typeface="Arial" pitchFamily="34" charset="-120"/>
              </a:rPr>
              <a:t>DSS Dashboards</a:t>
            </a:r>
            <a:endParaRPr lang="en-US" sz="1600" dirty="0"/>
          </a:p>
        </p:txBody>
      </p:sp>
      <p:sp>
        <p:nvSpPr>
          <p:cNvPr id="26" name="Text 17"/>
          <p:cNvSpPr/>
          <p:nvPr/>
        </p:nvSpPr>
        <p:spPr>
          <a:xfrm>
            <a:off x="9464040" y="3767328"/>
            <a:ext cx="2194560" cy="411480"/>
          </a:xfrm>
          <a:prstGeom prst="rect">
            <a:avLst/>
          </a:prstGeom>
          <a:noFill/>
          <a:ln/>
        </p:spPr>
        <p:txBody>
          <a:bodyPr wrap="square" lIns="0" tIns="0" rIns="0" bIns="0" rtlCol="0" anchor="ctr"/>
          <a:lstStyle/>
          <a:p>
            <a:pPr marL="0" indent="0" algn="ctr">
              <a:lnSpc>
                <a:spcPct val="100000"/>
              </a:lnSpc>
              <a:buNone/>
            </a:pPr>
            <a:r>
              <a:rPr lang="en-US" sz="1100" dirty="0">
                <a:solidFill>
                  <a:srgbClr val="5C6B7A"/>
                </a:solidFill>
                <a:latin typeface="Arial" pitchFamily="34" charset="0"/>
                <a:ea typeface="Arial" pitchFamily="34" charset="-122"/>
                <a:cs typeface="Arial" pitchFamily="34" charset="-120"/>
              </a:rPr>
              <a:t>Cost, demand, utilization, forecast</a:t>
            </a:r>
            <a:endParaRPr lang="en-US" sz="1100" dirty="0"/>
          </a:p>
        </p:txBody>
      </p:sp>
      <p:sp>
        <p:nvSpPr>
          <p:cNvPr id="27" name="Shape 18"/>
          <p:cNvSpPr/>
          <p:nvPr/>
        </p:nvSpPr>
        <p:spPr>
          <a:xfrm>
            <a:off x="685800" y="4617720"/>
            <a:ext cx="10835640" cy="640080"/>
          </a:xfrm>
          <a:prstGeom prst="roundRect">
            <a:avLst>
              <a:gd name="adj" fmla="val 11429"/>
            </a:avLst>
          </a:prstGeom>
          <a:solidFill>
            <a:srgbClr val="EAF1F7"/>
          </a:solidFill>
          <a:ln w="12700">
            <a:solidFill>
              <a:srgbClr val="CFE0EC"/>
            </a:solidFill>
            <a:prstDash val="solid"/>
          </a:ln>
        </p:spPr>
        <p:txBody>
          <a:bodyPr/>
          <a:lstStyle/>
          <a:p>
            <a:endParaRPr lang="en-US"/>
          </a:p>
        </p:txBody>
      </p:sp>
      <p:sp>
        <p:nvSpPr>
          <p:cNvPr id="28" name="Text 19"/>
          <p:cNvSpPr/>
          <p:nvPr/>
        </p:nvSpPr>
        <p:spPr>
          <a:xfrm>
            <a:off x="914400" y="4663440"/>
            <a:ext cx="10424160" cy="548640"/>
          </a:xfrm>
          <a:prstGeom prst="rect">
            <a:avLst/>
          </a:prstGeom>
          <a:noFill/>
          <a:ln/>
        </p:spPr>
        <p:txBody>
          <a:bodyPr wrap="square" lIns="0" tIns="0" rIns="0" bIns="0" rtlCol="0" anchor="ctr"/>
          <a:lstStyle/>
          <a:p>
            <a:pPr marL="0" indent="0">
              <a:buNone/>
            </a:pPr>
            <a:r>
              <a:rPr lang="en-US" sz="1250" b="1" dirty="0">
                <a:solidFill>
                  <a:srgbClr val="0E7C86"/>
                </a:solidFill>
                <a:latin typeface="Arial" pitchFamily="34" charset="0"/>
                <a:ea typeface="Arial" pitchFamily="34" charset="-122"/>
                <a:cs typeface="Arial" pitchFamily="34" charset="-120"/>
              </a:rPr>
              <a:t>Feedback loop:  </a:t>
            </a:r>
            <a:r>
              <a:rPr lang="en-US" sz="1250" dirty="0">
                <a:solidFill>
                  <a:srgbClr val="16293A"/>
                </a:solidFill>
                <a:latin typeface="Arial" pitchFamily="34" charset="0"/>
                <a:ea typeface="Arial" pitchFamily="34" charset="-122"/>
                <a:cs typeface="Arial" pitchFamily="34" charset="-120"/>
              </a:rPr>
              <a:t>prices and dynamic-pricing rules set in revenue management flow back to the customer site, so the next guest sees fares that already reflect current demand.</a:t>
            </a:r>
            <a:endParaRPr lang="en-US" sz="1250" dirty="0"/>
          </a:p>
        </p:txBody>
      </p:sp>
      <p:sp>
        <p:nvSpPr>
          <p:cNvPr id="29" name="Text 20"/>
          <p:cNvSpPr/>
          <p:nvPr/>
        </p:nvSpPr>
        <p:spPr>
          <a:xfrm>
            <a:off x="713232" y="5440680"/>
            <a:ext cx="10789920" cy="731520"/>
          </a:xfrm>
          <a:prstGeom prst="rect">
            <a:avLst/>
          </a:prstGeom>
          <a:noFill/>
          <a:ln/>
        </p:spPr>
        <p:txBody>
          <a:bodyPr wrap="square" lIns="0" tIns="0" rIns="0" bIns="0" rtlCol="0" anchor="ctr"/>
          <a:lstStyle/>
          <a:p>
            <a:pPr marL="0" indent="0">
              <a:lnSpc>
                <a:spcPct val="112000"/>
              </a:lnSpc>
              <a:buNone/>
            </a:pPr>
            <a:r>
              <a:rPr lang="en-US" sz="1250" b="1" dirty="0">
                <a:solidFill>
                  <a:srgbClr val="0B2D4D"/>
                </a:solidFill>
                <a:latin typeface="Arial" pitchFamily="34" charset="0"/>
                <a:ea typeface="Arial" pitchFamily="34" charset="-122"/>
                <a:cs typeface="Arial" pitchFamily="34" charset="-120"/>
              </a:rPr>
              <a:t>Technology:  </a:t>
            </a:r>
            <a:r>
              <a:rPr lang="en-US" sz="1250" dirty="0">
                <a:solidFill>
                  <a:srgbClr val="5C6B7A"/>
                </a:solidFill>
                <a:latin typeface="Arial" pitchFamily="34" charset="0"/>
                <a:ea typeface="Arial" pitchFamily="34" charset="-122"/>
                <a:cs typeface="Arial" pitchFamily="34" charset="-120"/>
              </a:rPr>
              <a:t>self-contained HTML / CSS / JavaScript. No server, framework, or internet required; reservations and prices persist in browser storage, so a booking made on the customer site appears in the staff dashboard automatically.</a:t>
            </a:r>
            <a:endParaRPr lang="en-US" sz="1250" dirty="0"/>
          </a:p>
        </p:txBody>
      </p:sp>
      <p:sp>
        <p:nvSpPr>
          <p:cNvPr id="30" name="Text 21"/>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31" name="Text 22"/>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PROCESS FLOW</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Prospect to a paid, confirmed booking</a:t>
            </a:r>
            <a:endParaRPr lang="en-US" sz="3000" dirty="0"/>
          </a:p>
        </p:txBody>
      </p:sp>
      <p:sp>
        <p:nvSpPr>
          <p:cNvPr id="4" name="Shape 2"/>
          <p:cNvSpPr/>
          <p:nvPr/>
        </p:nvSpPr>
        <p:spPr>
          <a:xfrm>
            <a:off x="1051560" y="2834640"/>
            <a:ext cx="10058400" cy="0"/>
          </a:xfrm>
          <a:prstGeom prst="line">
            <a:avLst/>
          </a:prstGeom>
          <a:noFill/>
          <a:ln w="31750">
            <a:solidFill>
              <a:srgbClr val="B9CBD9"/>
            </a:solidFill>
            <a:prstDash val="solid"/>
          </a:ln>
        </p:spPr>
        <p:txBody>
          <a:bodyPr/>
          <a:lstStyle/>
          <a:p>
            <a:endParaRPr lang="en-US"/>
          </a:p>
        </p:txBody>
      </p:sp>
      <p:sp>
        <p:nvSpPr>
          <p:cNvPr id="5" name="Shape 3"/>
          <p:cNvSpPr/>
          <p:nvPr/>
        </p:nvSpPr>
        <p:spPr>
          <a:xfrm>
            <a:off x="594360" y="2377440"/>
            <a:ext cx="914400" cy="91440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841248" y="2624328"/>
            <a:ext cx="420624" cy="420624"/>
          </a:xfrm>
          <a:prstGeom prst="rect">
            <a:avLst/>
          </a:prstGeom>
        </p:spPr>
      </p:pic>
      <p:sp>
        <p:nvSpPr>
          <p:cNvPr id="7" name="Text 4"/>
          <p:cNvSpPr/>
          <p:nvPr/>
        </p:nvSpPr>
        <p:spPr>
          <a:xfrm>
            <a:off x="1197864" y="2322576"/>
            <a:ext cx="310896" cy="310896"/>
          </a:xfrm>
          <a:prstGeom prst="ellipse">
            <a:avLst/>
          </a:prstGeom>
          <a:solidFill>
            <a:srgbClr val="FFFFFF"/>
          </a:solidFill>
          <a:ln/>
        </p:spPr>
        <p:txBody>
          <a:bodyPr wrap="square" lIns="0" tIns="0" rIns="0" bIns="0" rtlCol="0" anchor="ctr"/>
          <a:lstStyle/>
          <a:p>
            <a:pPr marL="0" indent="0" algn="ctr">
              <a:buNone/>
            </a:pPr>
            <a:r>
              <a:rPr lang="en-US" sz="1200" b="1" dirty="0">
                <a:solidFill>
                  <a:srgbClr val="0B2D4D"/>
                </a:solidFill>
                <a:latin typeface="Arial" pitchFamily="34" charset="0"/>
                <a:ea typeface="Arial" pitchFamily="34" charset="-122"/>
                <a:cs typeface="Arial" pitchFamily="34" charset="-120"/>
              </a:rPr>
              <a:t>1</a:t>
            </a:r>
            <a:endParaRPr lang="en-US" sz="1200" dirty="0"/>
          </a:p>
        </p:txBody>
      </p:sp>
      <p:sp>
        <p:nvSpPr>
          <p:cNvPr id="8" name="Text 5"/>
          <p:cNvSpPr/>
          <p:nvPr/>
        </p:nvSpPr>
        <p:spPr>
          <a:xfrm>
            <a:off x="274320" y="3364992"/>
            <a:ext cx="1554480" cy="548640"/>
          </a:xfrm>
          <a:prstGeom prst="rect">
            <a:avLst/>
          </a:prstGeom>
          <a:noFill/>
          <a:ln/>
        </p:spPr>
        <p:txBody>
          <a:bodyPr wrap="square" lIns="0" tIns="0" rIns="0" bIns="0" rtlCol="0" anchor="ctr"/>
          <a:lstStyle/>
          <a:p>
            <a:pPr marL="0" indent="0" algn="ctr">
              <a:lnSpc>
                <a:spcPct val="95000"/>
              </a:lnSpc>
              <a:buNone/>
            </a:pPr>
            <a:r>
              <a:rPr lang="en-US" sz="1150" b="1" dirty="0">
                <a:solidFill>
                  <a:srgbClr val="16293A"/>
                </a:solidFill>
                <a:latin typeface="Arial" pitchFamily="34" charset="0"/>
                <a:ea typeface="Arial" pitchFamily="34" charset="-122"/>
                <a:cs typeface="Arial" pitchFamily="34" charset="-120"/>
              </a:rPr>
              <a:t>Destination &amp; Date</a:t>
            </a:r>
            <a:endParaRPr lang="en-US" sz="1150" dirty="0"/>
          </a:p>
        </p:txBody>
      </p:sp>
      <p:sp>
        <p:nvSpPr>
          <p:cNvPr id="9" name="Shape 6"/>
          <p:cNvSpPr/>
          <p:nvPr/>
        </p:nvSpPr>
        <p:spPr>
          <a:xfrm>
            <a:off x="2270760" y="2377440"/>
            <a:ext cx="914400" cy="91440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2517648" y="2624328"/>
            <a:ext cx="420624" cy="420624"/>
          </a:xfrm>
          <a:prstGeom prst="rect">
            <a:avLst/>
          </a:prstGeom>
        </p:spPr>
      </p:pic>
      <p:sp>
        <p:nvSpPr>
          <p:cNvPr id="11" name="Text 7"/>
          <p:cNvSpPr/>
          <p:nvPr/>
        </p:nvSpPr>
        <p:spPr>
          <a:xfrm>
            <a:off x="2874264" y="2322576"/>
            <a:ext cx="310896" cy="310896"/>
          </a:xfrm>
          <a:prstGeom prst="ellipse">
            <a:avLst/>
          </a:prstGeom>
          <a:solidFill>
            <a:srgbClr val="FFFFFF"/>
          </a:solidFill>
          <a:ln/>
        </p:spPr>
        <p:txBody>
          <a:bodyPr wrap="square" lIns="0" tIns="0" rIns="0" bIns="0" rtlCol="0" anchor="ctr"/>
          <a:lstStyle/>
          <a:p>
            <a:pPr marL="0" indent="0" algn="ctr">
              <a:buNone/>
            </a:pPr>
            <a:r>
              <a:rPr lang="en-US" sz="1200" b="1" dirty="0">
                <a:solidFill>
                  <a:srgbClr val="0B2D4D"/>
                </a:solidFill>
                <a:latin typeface="Arial" pitchFamily="34" charset="0"/>
                <a:ea typeface="Arial" pitchFamily="34" charset="-122"/>
                <a:cs typeface="Arial" pitchFamily="34" charset="-120"/>
              </a:rPr>
              <a:t>2</a:t>
            </a:r>
            <a:endParaRPr lang="en-US" sz="1200" dirty="0"/>
          </a:p>
        </p:txBody>
      </p:sp>
      <p:sp>
        <p:nvSpPr>
          <p:cNvPr id="12" name="Text 8"/>
          <p:cNvSpPr/>
          <p:nvPr/>
        </p:nvSpPr>
        <p:spPr>
          <a:xfrm>
            <a:off x="1950720" y="3364992"/>
            <a:ext cx="1554480" cy="548640"/>
          </a:xfrm>
          <a:prstGeom prst="rect">
            <a:avLst/>
          </a:prstGeom>
          <a:noFill/>
          <a:ln/>
        </p:spPr>
        <p:txBody>
          <a:bodyPr wrap="square" lIns="0" tIns="0" rIns="0" bIns="0" rtlCol="0" anchor="ctr"/>
          <a:lstStyle/>
          <a:p>
            <a:pPr marL="0" indent="0" algn="ctr">
              <a:lnSpc>
                <a:spcPct val="95000"/>
              </a:lnSpc>
              <a:buNone/>
            </a:pPr>
            <a:r>
              <a:rPr lang="en-US" sz="1150" b="1" dirty="0">
                <a:solidFill>
                  <a:srgbClr val="16293A"/>
                </a:solidFill>
                <a:latin typeface="Arial" pitchFamily="34" charset="0"/>
                <a:ea typeface="Arial" pitchFamily="34" charset="-122"/>
                <a:cs typeface="Arial" pitchFamily="34" charset="-120"/>
              </a:rPr>
              <a:t>Ship</a:t>
            </a:r>
            <a:endParaRPr lang="en-US" sz="1150" dirty="0"/>
          </a:p>
        </p:txBody>
      </p:sp>
      <p:sp>
        <p:nvSpPr>
          <p:cNvPr id="13" name="Shape 9"/>
          <p:cNvSpPr/>
          <p:nvPr/>
        </p:nvSpPr>
        <p:spPr>
          <a:xfrm>
            <a:off x="3947160" y="2377440"/>
            <a:ext cx="914400" cy="91440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4194048" y="2624328"/>
            <a:ext cx="420624" cy="420624"/>
          </a:xfrm>
          <a:prstGeom prst="rect">
            <a:avLst/>
          </a:prstGeom>
        </p:spPr>
      </p:pic>
      <p:sp>
        <p:nvSpPr>
          <p:cNvPr id="15" name="Text 10"/>
          <p:cNvSpPr/>
          <p:nvPr/>
        </p:nvSpPr>
        <p:spPr>
          <a:xfrm>
            <a:off x="4550664" y="2322576"/>
            <a:ext cx="310896" cy="310896"/>
          </a:xfrm>
          <a:prstGeom prst="ellipse">
            <a:avLst/>
          </a:prstGeom>
          <a:solidFill>
            <a:srgbClr val="FFFFFF"/>
          </a:solidFill>
          <a:ln/>
        </p:spPr>
        <p:txBody>
          <a:bodyPr wrap="square" lIns="0" tIns="0" rIns="0" bIns="0" rtlCol="0" anchor="ctr"/>
          <a:lstStyle/>
          <a:p>
            <a:pPr marL="0" indent="0" algn="ctr">
              <a:buNone/>
            </a:pPr>
            <a:r>
              <a:rPr lang="en-US" sz="1200" b="1" dirty="0">
                <a:solidFill>
                  <a:srgbClr val="0B2D4D"/>
                </a:solidFill>
                <a:latin typeface="Arial" pitchFamily="34" charset="0"/>
                <a:ea typeface="Arial" pitchFamily="34" charset="-122"/>
                <a:cs typeface="Arial" pitchFamily="34" charset="-120"/>
              </a:rPr>
              <a:t>3</a:t>
            </a:r>
            <a:endParaRPr lang="en-US" sz="1200" dirty="0"/>
          </a:p>
        </p:txBody>
      </p:sp>
      <p:sp>
        <p:nvSpPr>
          <p:cNvPr id="16" name="Text 11"/>
          <p:cNvSpPr/>
          <p:nvPr/>
        </p:nvSpPr>
        <p:spPr>
          <a:xfrm>
            <a:off x="3627120" y="3364992"/>
            <a:ext cx="1554480" cy="548640"/>
          </a:xfrm>
          <a:prstGeom prst="rect">
            <a:avLst/>
          </a:prstGeom>
          <a:noFill/>
          <a:ln/>
        </p:spPr>
        <p:txBody>
          <a:bodyPr wrap="square" lIns="0" tIns="0" rIns="0" bIns="0" rtlCol="0" anchor="ctr"/>
          <a:lstStyle/>
          <a:p>
            <a:pPr marL="0" indent="0" algn="ctr">
              <a:lnSpc>
                <a:spcPct val="95000"/>
              </a:lnSpc>
              <a:buNone/>
            </a:pPr>
            <a:r>
              <a:rPr lang="en-US" sz="1150" b="1" dirty="0">
                <a:solidFill>
                  <a:srgbClr val="16293A"/>
                </a:solidFill>
                <a:latin typeface="Arial" pitchFamily="34" charset="0"/>
                <a:ea typeface="Arial" pitchFamily="34" charset="-122"/>
                <a:cs typeface="Arial" pitchFamily="34" charset="-120"/>
              </a:rPr>
              <a:t>Room (cabin)</a:t>
            </a:r>
            <a:endParaRPr lang="en-US" sz="1150" dirty="0"/>
          </a:p>
        </p:txBody>
      </p:sp>
      <p:sp>
        <p:nvSpPr>
          <p:cNvPr id="17" name="Shape 12"/>
          <p:cNvSpPr/>
          <p:nvPr/>
        </p:nvSpPr>
        <p:spPr>
          <a:xfrm>
            <a:off x="5623560" y="2377440"/>
            <a:ext cx="914400" cy="91440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8" name="Image 3" descr="preencoded.png"/>
          <p:cNvPicPr>
            <a:picLocks noChangeAspect="1"/>
          </p:cNvPicPr>
          <p:nvPr/>
        </p:nvPicPr>
        <p:blipFill>
          <a:blip r:embed="rId6"/>
          <a:stretch>
            <a:fillRect/>
          </a:stretch>
        </p:blipFill>
        <p:spPr>
          <a:xfrm>
            <a:off x="5870448" y="2624328"/>
            <a:ext cx="420624" cy="420624"/>
          </a:xfrm>
          <a:prstGeom prst="rect">
            <a:avLst/>
          </a:prstGeom>
        </p:spPr>
      </p:pic>
      <p:sp>
        <p:nvSpPr>
          <p:cNvPr id="19" name="Text 13"/>
          <p:cNvSpPr/>
          <p:nvPr/>
        </p:nvSpPr>
        <p:spPr>
          <a:xfrm>
            <a:off x="6227064" y="2322576"/>
            <a:ext cx="310896" cy="310896"/>
          </a:xfrm>
          <a:prstGeom prst="ellipse">
            <a:avLst/>
          </a:prstGeom>
          <a:solidFill>
            <a:srgbClr val="FFFFFF"/>
          </a:solidFill>
          <a:ln/>
        </p:spPr>
        <p:txBody>
          <a:bodyPr wrap="square" lIns="0" tIns="0" rIns="0" bIns="0" rtlCol="0" anchor="ctr"/>
          <a:lstStyle/>
          <a:p>
            <a:pPr marL="0" indent="0" algn="ctr">
              <a:buNone/>
            </a:pPr>
            <a:r>
              <a:rPr lang="en-US" sz="1200" b="1" dirty="0">
                <a:solidFill>
                  <a:srgbClr val="0B2D4D"/>
                </a:solidFill>
                <a:latin typeface="Arial" pitchFamily="34" charset="0"/>
                <a:ea typeface="Arial" pitchFamily="34" charset="-122"/>
                <a:cs typeface="Arial" pitchFamily="34" charset="-120"/>
              </a:rPr>
              <a:t>4</a:t>
            </a:r>
            <a:endParaRPr lang="en-US" sz="1200" dirty="0"/>
          </a:p>
        </p:txBody>
      </p:sp>
      <p:sp>
        <p:nvSpPr>
          <p:cNvPr id="20" name="Text 14"/>
          <p:cNvSpPr/>
          <p:nvPr/>
        </p:nvSpPr>
        <p:spPr>
          <a:xfrm>
            <a:off x="5303520" y="3364992"/>
            <a:ext cx="1554480" cy="548640"/>
          </a:xfrm>
          <a:prstGeom prst="rect">
            <a:avLst/>
          </a:prstGeom>
          <a:noFill/>
          <a:ln/>
        </p:spPr>
        <p:txBody>
          <a:bodyPr wrap="square" lIns="0" tIns="0" rIns="0" bIns="0" rtlCol="0" anchor="ctr"/>
          <a:lstStyle/>
          <a:p>
            <a:pPr marL="0" indent="0" algn="ctr">
              <a:lnSpc>
                <a:spcPct val="95000"/>
              </a:lnSpc>
              <a:buNone/>
            </a:pPr>
            <a:r>
              <a:rPr lang="en-US" sz="1150" b="1" dirty="0">
                <a:solidFill>
                  <a:srgbClr val="16293A"/>
                </a:solidFill>
                <a:latin typeface="Arial" pitchFamily="34" charset="0"/>
                <a:ea typeface="Arial" pitchFamily="34" charset="-122"/>
                <a:cs typeface="Arial" pitchFamily="34" charset="-120"/>
              </a:rPr>
              <a:t>Dining &amp; Extras</a:t>
            </a:r>
            <a:endParaRPr lang="en-US" sz="1150" dirty="0"/>
          </a:p>
        </p:txBody>
      </p:sp>
      <p:sp>
        <p:nvSpPr>
          <p:cNvPr id="21" name="Shape 15"/>
          <p:cNvSpPr/>
          <p:nvPr/>
        </p:nvSpPr>
        <p:spPr>
          <a:xfrm>
            <a:off x="7299960" y="2377440"/>
            <a:ext cx="914400" cy="91440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22" name="Image 4" descr="preencoded.png"/>
          <p:cNvPicPr>
            <a:picLocks noChangeAspect="1"/>
          </p:cNvPicPr>
          <p:nvPr/>
        </p:nvPicPr>
        <p:blipFill>
          <a:blip r:embed="rId7"/>
          <a:stretch>
            <a:fillRect/>
          </a:stretch>
        </p:blipFill>
        <p:spPr>
          <a:xfrm>
            <a:off x="7546848" y="2624328"/>
            <a:ext cx="420624" cy="420624"/>
          </a:xfrm>
          <a:prstGeom prst="rect">
            <a:avLst/>
          </a:prstGeom>
        </p:spPr>
      </p:pic>
      <p:sp>
        <p:nvSpPr>
          <p:cNvPr id="23" name="Text 16"/>
          <p:cNvSpPr/>
          <p:nvPr/>
        </p:nvSpPr>
        <p:spPr>
          <a:xfrm>
            <a:off x="7903464" y="2322576"/>
            <a:ext cx="310896" cy="310896"/>
          </a:xfrm>
          <a:prstGeom prst="ellipse">
            <a:avLst/>
          </a:prstGeom>
          <a:solidFill>
            <a:srgbClr val="FFFFFF"/>
          </a:solidFill>
          <a:ln/>
        </p:spPr>
        <p:txBody>
          <a:bodyPr wrap="square" lIns="0" tIns="0" rIns="0" bIns="0" rtlCol="0" anchor="ctr"/>
          <a:lstStyle/>
          <a:p>
            <a:pPr marL="0" indent="0" algn="ctr">
              <a:buNone/>
            </a:pPr>
            <a:r>
              <a:rPr lang="en-US" sz="1200" b="1" dirty="0">
                <a:solidFill>
                  <a:srgbClr val="0B2D4D"/>
                </a:solidFill>
                <a:latin typeface="Arial" pitchFamily="34" charset="0"/>
                <a:ea typeface="Arial" pitchFamily="34" charset="-122"/>
                <a:cs typeface="Arial" pitchFamily="34" charset="-120"/>
              </a:rPr>
              <a:t>5</a:t>
            </a:r>
            <a:endParaRPr lang="en-US" sz="1200" dirty="0"/>
          </a:p>
        </p:txBody>
      </p:sp>
      <p:sp>
        <p:nvSpPr>
          <p:cNvPr id="24" name="Text 17"/>
          <p:cNvSpPr/>
          <p:nvPr/>
        </p:nvSpPr>
        <p:spPr>
          <a:xfrm>
            <a:off x="6979920" y="3364992"/>
            <a:ext cx="1554480" cy="548640"/>
          </a:xfrm>
          <a:prstGeom prst="rect">
            <a:avLst/>
          </a:prstGeom>
          <a:noFill/>
          <a:ln/>
        </p:spPr>
        <p:txBody>
          <a:bodyPr wrap="square" lIns="0" tIns="0" rIns="0" bIns="0" rtlCol="0" anchor="ctr"/>
          <a:lstStyle/>
          <a:p>
            <a:pPr marL="0" indent="0" algn="ctr">
              <a:lnSpc>
                <a:spcPct val="95000"/>
              </a:lnSpc>
              <a:buNone/>
            </a:pPr>
            <a:r>
              <a:rPr lang="en-US" sz="1150" b="1" dirty="0">
                <a:solidFill>
                  <a:srgbClr val="16293A"/>
                </a:solidFill>
                <a:latin typeface="Arial" pitchFamily="34" charset="0"/>
                <a:ea typeface="Arial" pitchFamily="34" charset="-122"/>
                <a:cs typeface="Arial" pitchFamily="34" charset="-120"/>
              </a:rPr>
              <a:t>Guest Details</a:t>
            </a:r>
            <a:endParaRPr lang="en-US" sz="1150" dirty="0"/>
          </a:p>
        </p:txBody>
      </p:sp>
      <p:sp>
        <p:nvSpPr>
          <p:cNvPr id="25" name="Shape 18"/>
          <p:cNvSpPr/>
          <p:nvPr/>
        </p:nvSpPr>
        <p:spPr>
          <a:xfrm>
            <a:off x="8976360" y="2377440"/>
            <a:ext cx="914400" cy="91440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26" name="Image 5" descr="preencoded.png"/>
          <p:cNvPicPr>
            <a:picLocks noChangeAspect="1"/>
          </p:cNvPicPr>
          <p:nvPr/>
        </p:nvPicPr>
        <p:blipFill>
          <a:blip r:embed="rId8"/>
          <a:stretch>
            <a:fillRect/>
          </a:stretch>
        </p:blipFill>
        <p:spPr>
          <a:xfrm>
            <a:off x="9223248" y="2624328"/>
            <a:ext cx="420624" cy="420624"/>
          </a:xfrm>
          <a:prstGeom prst="rect">
            <a:avLst/>
          </a:prstGeom>
        </p:spPr>
      </p:pic>
      <p:sp>
        <p:nvSpPr>
          <p:cNvPr id="27" name="Text 19"/>
          <p:cNvSpPr/>
          <p:nvPr/>
        </p:nvSpPr>
        <p:spPr>
          <a:xfrm>
            <a:off x="9579864" y="2322576"/>
            <a:ext cx="310896" cy="310896"/>
          </a:xfrm>
          <a:prstGeom prst="ellipse">
            <a:avLst/>
          </a:prstGeom>
          <a:solidFill>
            <a:srgbClr val="FFFFFF"/>
          </a:solidFill>
          <a:ln/>
        </p:spPr>
        <p:txBody>
          <a:bodyPr wrap="square" lIns="0" tIns="0" rIns="0" bIns="0" rtlCol="0" anchor="ctr"/>
          <a:lstStyle/>
          <a:p>
            <a:pPr marL="0" indent="0" algn="ctr">
              <a:buNone/>
            </a:pPr>
            <a:r>
              <a:rPr lang="en-US" sz="1200" b="1" dirty="0">
                <a:solidFill>
                  <a:srgbClr val="0B2D4D"/>
                </a:solidFill>
                <a:latin typeface="Arial" pitchFamily="34" charset="0"/>
                <a:ea typeface="Arial" pitchFamily="34" charset="-122"/>
                <a:cs typeface="Arial" pitchFamily="34" charset="-120"/>
              </a:rPr>
              <a:t>6</a:t>
            </a:r>
            <a:endParaRPr lang="en-US" sz="1200" dirty="0"/>
          </a:p>
        </p:txBody>
      </p:sp>
      <p:sp>
        <p:nvSpPr>
          <p:cNvPr id="28" name="Text 20"/>
          <p:cNvSpPr/>
          <p:nvPr/>
        </p:nvSpPr>
        <p:spPr>
          <a:xfrm>
            <a:off x="8656320" y="3364992"/>
            <a:ext cx="1554480" cy="548640"/>
          </a:xfrm>
          <a:prstGeom prst="rect">
            <a:avLst/>
          </a:prstGeom>
          <a:noFill/>
          <a:ln/>
        </p:spPr>
        <p:txBody>
          <a:bodyPr wrap="square" lIns="0" tIns="0" rIns="0" bIns="0" rtlCol="0" anchor="ctr"/>
          <a:lstStyle/>
          <a:p>
            <a:pPr marL="0" indent="0" algn="ctr">
              <a:lnSpc>
                <a:spcPct val="95000"/>
              </a:lnSpc>
              <a:buNone/>
            </a:pPr>
            <a:r>
              <a:rPr lang="en-US" sz="1150" b="1" dirty="0">
                <a:solidFill>
                  <a:srgbClr val="16293A"/>
                </a:solidFill>
                <a:latin typeface="Arial" pitchFamily="34" charset="0"/>
                <a:ea typeface="Arial" pitchFamily="34" charset="-122"/>
                <a:cs typeface="Arial" pitchFamily="34" charset="-120"/>
              </a:rPr>
              <a:t>Payment</a:t>
            </a:r>
            <a:endParaRPr lang="en-US" sz="1150" dirty="0"/>
          </a:p>
        </p:txBody>
      </p:sp>
      <p:sp>
        <p:nvSpPr>
          <p:cNvPr id="29" name="Shape 21"/>
          <p:cNvSpPr/>
          <p:nvPr/>
        </p:nvSpPr>
        <p:spPr>
          <a:xfrm>
            <a:off x="10652760" y="2377440"/>
            <a:ext cx="914400" cy="914400"/>
          </a:xfrm>
          <a:prstGeom prst="ellipse">
            <a:avLst/>
          </a:prstGeom>
          <a:solidFill>
            <a:srgbClr val="E0A82E"/>
          </a:solidFill>
          <a:ln/>
          <a:effectLst>
            <a:outerShdw blurRad="88900" dist="25400" dir="5400000" algn="bl" rotWithShape="0">
              <a:srgbClr val="000000">
                <a:alpha val="10000"/>
              </a:srgbClr>
            </a:outerShdw>
          </a:effectLst>
        </p:spPr>
        <p:txBody>
          <a:bodyPr/>
          <a:lstStyle/>
          <a:p>
            <a:endParaRPr lang="en-US"/>
          </a:p>
        </p:txBody>
      </p:sp>
      <p:pic>
        <p:nvPicPr>
          <p:cNvPr id="30" name="Image 6" descr="preencoded.png"/>
          <p:cNvPicPr>
            <a:picLocks noChangeAspect="1"/>
          </p:cNvPicPr>
          <p:nvPr/>
        </p:nvPicPr>
        <p:blipFill>
          <a:blip r:embed="rId9"/>
          <a:stretch>
            <a:fillRect/>
          </a:stretch>
        </p:blipFill>
        <p:spPr>
          <a:xfrm>
            <a:off x="10899648" y="2624328"/>
            <a:ext cx="420624" cy="420624"/>
          </a:xfrm>
          <a:prstGeom prst="rect">
            <a:avLst/>
          </a:prstGeom>
        </p:spPr>
      </p:pic>
      <p:sp>
        <p:nvSpPr>
          <p:cNvPr id="31" name="Text 22"/>
          <p:cNvSpPr/>
          <p:nvPr/>
        </p:nvSpPr>
        <p:spPr>
          <a:xfrm>
            <a:off x="11256264" y="2322576"/>
            <a:ext cx="310896" cy="310896"/>
          </a:xfrm>
          <a:prstGeom prst="ellipse">
            <a:avLst/>
          </a:prstGeom>
          <a:solidFill>
            <a:srgbClr val="FFFFFF"/>
          </a:solidFill>
          <a:ln/>
        </p:spPr>
        <p:txBody>
          <a:bodyPr wrap="square" lIns="0" tIns="0" rIns="0" bIns="0" rtlCol="0" anchor="ctr"/>
          <a:lstStyle/>
          <a:p>
            <a:pPr marL="0" indent="0" algn="ctr">
              <a:buNone/>
            </a:pPr>
            <a:r>
              <a:rPr lang="en-US" sz="1200" b="1" dirty="0">
                <a:solidFill>
                  <a:srgbClr val="0B2D4D"/>
                </a:solidFill>
                <a:latin typeface="Arial" pitchFamily="34" charset="0"/>
                <a:ea typeface="Arial" pitchFamily="34" charset="-122"/>
                <a:cs typeface="Arial" pitchFamily="34" charset="-120"/>
              </a:rPr>
              <a:t>✓</a:t>
            </a:r>
            <a:endParaRPr lang="en-US" sz="1200" dirty="0"/>
          </a:p>
        </p:txBody>
      </p:sp>
      <p:sp>
        <p:nvSpPr>
          <p:cNvPr id="32" name="Text 23"/>
          <p:cNvSpPr/>
          <p:nvPr/>
        </p:nvSpPr>
        <p:spPr>
          <a:xfrm>
            <a:off x="10332720" y="3364992"/>
            <a:ext cx="1554480" cy="548640"/>
          </a:xfrm>
          <a:prstGeom prst="rect">
            <a:avLst/>
          </a:prstGeom>
          <a:noFill/>
          <a:ln/>
        </p:spPr>
        <p:txBody>
          <a:bodyPr wrap="square" lIns="0" tIns="0" rIns="0" bIns="0" rtlCol="0" anchor="ctr"/>
          <a:lstStyle/>
          <a:p>
            <a:pPr marL="0" indent="0" algn="ctr">
              <a:lnSpc>
                <a:spcPct val="95000"/>
              </a:lnSpc>
              <a:buNone/>
            </a:pPr>
            <a:r>
              <a:rPr lang="en-US" sz="1150" b="1" dirty="0">
                <a:solidFill>
                  <a:srgbClr val="16293A"/>
                </a:solidFill>
                <a:latin typeface="Arial" pitchFamily="34" charset="0"/>
                <a:ea typeface="Arial" pitchFamily="34" charset="-122"/>
                <a:cs typeface="Arial" pitchFamily="34" charset="-120"/>
              </a:rPr>
              <a:t>Confirmed</a:t>
            </a:r>
            <a:endParaRPr lang="en-US" sz="1150" dirty="0"/>
          </a:p>
        </p:txBody>
      </p:sp>
      <p:sp>
        <p:nvSpPr>
          <p:cNvPr id="33" name="Shape 24"/>
          <p:cNvSpPr/>
          <p:nvPr/>
        </p:nvSpPr>
        <p:spPr>
          <a:xfrm>
            <a:off x="640080" y="4297680"/>
            <a:ext cx="5349240" cy="1737360"/>
          </a:xfrm>
          <a:prstGeom prst="roundRect">
            <a:avLst>
              <a:gd name="adj" fmla="val 5263"/>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34" name="Shape 25"/>
          <p:cNvSpPr/>
          <p:nvPr/>
        </p:nvSpPr>
        <p:spPr>
          <a:xfrm>
            <a:off x="914400" y="4526280"/>
            <a:ext cx="566928" cy="566928"/>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35" name="Image 7" descr="preencoded.png"/>
          <p:cNvPicPr>
            <a:picLocks noChangeAspect="1"/>
          </p:cNvPicPr>
          <p:nvPr/>
        </p:nvPicPr>
        <p:blipFill>
          <a:blip r:embed="rId10"/>
          <a:stretch>
            <a:fillRect/>
          </a:stretch>
        </p:blipFill>
        <p:spPr>
          <a:xfrm>
            <a:off x="1067471" y="4679351"/>
            <a:ext cx="260787" cy="260787"/>
          </a:xfrm>
          <a:prstGeom prst="rect">
            <a:avLst/>
          </a:prstGeom>
        </p:spPr>
      </p:pic>
      <p:sp>
        <p:nvSpPr>
          <p:cNvPr id="36" name="Text 26"/>
          <p:cNvSpPr/>
          <p:nvPr/>
        </p:nvSpPr>
        <p:spPr>
          <a:xfrm>
            <a:off x="1600200" y="4553712"/>
            <a:ext cx="4206240" cy="411480"/>
          </a:xfrm>
          <a:prstGeom prst="rect">
            <a:avLst/>
          </a:prstGeom>
          <a:noFill/>
          <a:ln/>
        </p:spPr>
        <p:txBody>
          <a:bodyPr wrap="square" lIns="0" tIns="0" rIns="0" bIns="0" rtlCol="0" anchor="ctr"/>
          <a:lstStyle/>
          <a:p>
            <a:pPr marL="0" indent="0">
              <a:buNone/>
            </a:pPr>
            <a:r>
              <a:rPr lang="en-US" sz="1450" b="1" dirty="0">
                <a:solidFill>
                  <a:srgbClr val="16293A"/>
                </a:solidFill>
                <a:latin typeface="Arial" pitchFamily="34" charset="0"/>
                <a:ea typeface="Arial" pitchFamily="34" charset="-122"/>
                <a:cs typeface="Arial" pitchFamily="34" charset="-120"/>
              </a:rPr>
              <a:t>Canada cruise (full path)</a:t>
            </a:r>
            <a:endParaRPr lang="en-US" sz="1450" dirty="0"/>
          </a:p>
        </p:txBody>
      </p:sp>
      <p:sp>
        <p:nvSpPr>
          <p:cNvPr id="37" name="Text 27"/>
          <p:cNvSpPr/>
          <p:nvPr/>
        </p:nvSpPr>
        <p:spPr>
          <a:xfrm>
            <a:off x="914400" y="5074920"/>
            <a:ext cx="4937760" cy="868680"/>
          </a:xfrm>
          <a:prstGeom prst="rect">
            <a:avLst/>
          </a:prstGeom>
          <a:noFill/>
          <a:ln/>
        </p:spPr>
        <p:txBody>
          <a:bodyPr wrap="square" lIns="0" tIns="0" rIns="0" bIns="0" rtlCol="0" anchor="ctr"/>
          <a:lstStyle/>
          <a:p>
            <a:pPr marL="0" indent="0">
              <a:lnSpc>
                <a:spcPct val="110000"/>
              </a:lnSpc>
              <a:buNone/>
            </a:pPr>
            <a:r>
              <a:rPr lang="en-US" sz="1250" dirty="0">
                <a:solidFill>
                  <a:srgbClr val="5C6B7A"/>
                </a:solidFill>
                <a:latin typeface="Arial" pitchFamily="34" charset="0"/>
                <a:ea typeface="Arial" pitchFamily="34" charset="-122"/>
                <a:cs typeface="Arial" pitchFamily="34" charset="-120"/>
              </a:rPr>
              <a:t>Uses all seven steps: the passenger selects cruise, date, ship, cabin, dining and add-ons, then signs up and pays.</a:t>
            </a:r>
            <a:endParaRPr lang="en-US" sz="1250" dirty="0"/>
          </a:p>
        </p:txBody>
      </p:sp>
      <p:sp>
        <p:nvSpPr>
          <p:cNvPr id="38" name="Shape 28"/>
          <p:cNvSpPr/>
          <p:nvPr/>
        </p:nvSpPr>
        <p:spPr>
          <a:xfrm>
            <a:off x="6172200" y="4297680"/>
            <a:ext cx="5349240" cy="1737360"/>
          </a:xfrm>
          <a:prstGeom prst="roundRect">
            <a:avLst>
              <a:gd name="adj" fmla="val 5263"/>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39" name="Shape 29"/>
          <p:cNvSpPr/>
          <p:nvPr/>
        </p:nvSpPr>
        <p:spPr>
          <a:xfrm>
            <a:off x="6446520" y="4526280"/>
            <a:ext cx="566928" cy="566928"/>
          </a:xfrm>
          <a:prstGeom prst="ellipse">
            <a:avLst/>
          </a:prstGeom>
          <a:solidFill>
            <a:srgbClr val="E0A82E"/>
          </a:solidFill>
          <a:ln/>
          <a:effectLst>
            <a:outerShdw blurRad="88900" dist="25400" dir="5400000" algn="bl" rotWithShape="0">
              <a:srgbClr val="000000">
                <a:alpha val="10000"/>
              </a:srgbClr>
            </a:outerShdw>
          </a:effectLst>
        </p:spPr>
        <p:txBody>
          <a:bodyPr/>
          <a:lstStyle/>
          <a:p>
            <a:endParaRPr lang="en-US"/>
          </a:p>
        </p:txBody>
      </p:sp>
      <p:pic>
        <p:nvPicPr>
          <p:cNvPr id="40" name="Image 8" descr="preencoded.png"/>
          <p:cNvPicPr>
            <a:picLocks noChangeAspect="1"/>
          </p:cNvPicPr>
          <p:nvPr/>
        </p:nvPicPr>
        <p:blipFill>
          <a:blip r:embed="rId11"/>
          <a:stretch>
            <a:fillRect/>
          </a:stretch>
        </p:blipFill>
        <p:spPr>
          <a:xfrm>
            <a:off x="6599591" y="4679351"/>
            <a:ext cx="260787" cy="260787"/>
          </a:xfrm>
          <a:prstGeom prst="rect">
            <a:avLst/>
          </a:prstGeom>
        </p:spPr>
      </p:pic>
      <p:sp>
        <p:nvSpPr>
          <p:cNvPr id="41" name="Text 30"/>
          <p:cNvSpPr/>
          <p:nvPr/>
        </p:nvSpPr>
        <p:spPr>
          <a:xfrm>
            <a:off x="7132320" y="4553712"/>
            <a:ext cx="4206240" cy="411480"/>
          </a:xfrm>
          <a:prstGeom prst="rect">
            <a:avLst/>
          </a:prstGeom>
          <a:noFill/>
          <a:ln/>
        </p:spPr>
        <p:txBody>
          <a:bodyPr wrap="square" lIns="0" tIns="0" rIns="0" bIns="0" rtlCol="0" anchor="ctr"/>
          <a:lstStyle/>
          <a:p>
            <a:pPr marL="0" indent="0">
              <a:buNone/>
            </a:pPr>
            <a:r>
              <a:rPr lang="en-US" sz="1450" b="1" dirty="0">
                <a:solidFill>
                  <a:srgbClr val="16293A"/>
                </a:solidFill>
                <a:latin typeface="Arial" pitchFamily="34" charset="0"/>
                <a:ea typeface="Arial" pitchFamily="34" charset="-122"/>
                <a:cs typeface="Arial" pitchFamily="34" charset="-120"/>
              </a:rPr>
              <a:t>Casino day cruise (simple path)</a:t>
            </a:r>
            <a:endParaRPr lang="en-US" sz="1450" dirty="0"/>
          </a:p>
        </p:txBody>
      </p:sp>
      <p:sp>
        <p:nvSpPr>
          <p:cNvPr id="42" name="Text 31"/>
          <p:cNvSpPr/>
          <p:nvPr/>
        </p:nvSpPr>
        <p:spPr>
          <a:xfrm>
            <a:off x="6446520" y="5074920"/>
            <a:ext cx="4937760" cy="868680"/>
          </a:xfrm>
          <a:prstGeom prst="rect">
            <a:avLst/>
          </a:prstGeom>
          <a:noFill/>
          <a:ln/>
        </p:spPr>
        <p:txBody>
          <a:bodyPr wrap="square" lIns="0" tIns="0" rIns="0" bIns="0" rtlCol="0" anchor="ctr"/>
          <a:lstStyle/>
          <a:p>
            <a:pPr marL="0" indent="0">
              <a:lnSpc>
                <a:spcPct val="110000"/>
              </a:lnSpc>
              <a:buNone/>
            </a:pPr>
            <a:r>
              <a:rPr lang="en-US" sz="1250" dirty="0">
                <a:solidFill>
                  <a:srgbClr val="5C6B7A"/>
                </a:solidFill>
                <a:latin typeface="Arial" pitchFamily="34" charset="0"/>
                <a:ea typeface="Arial" pitchFamily="34" charset="-122"/>
                <a:cs typeface="Arial" pitchFamily="34" charset="-120"/>
              </a:rPr>
              <a:t>Skips Room and Dining, exactly the “relatively simple” path Jane described in the interview.</a:t>
            </a:r>
            <a:endParaRPr lang="en-US" sz="1250" dirty="0"/>
          </a:p>
        </p:txBody>
      </p:sp>
      <p:sp>
        <p:nvSpPr>
          <p:cNvPr id="43" name="Text 32"/>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44" name="Text 33"/>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INPUTS &amp; OUTPUTS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What goes in, what comes out</a:t>
            </a:r>
            <a:endParaRPr lang="en-US" sz="3000" dirty="0"/>
          </a:p>
        </p:txBody>
      </p:sp>
      <p:sp>
        <p:nvSpPr>
          <p:cNvPr id="4" name="Shape 2"/>
          <p:cNvSpPr/>
          <p:nvPr/>
        </p:nvSpPr>
        <p:spPr>
          <a:xfrm>
            <a:off x="640080" y="1645920"/>
            <a:ext cx="3520440" cy="4434840"/>
          </a:xfrm>
          <a:prstGeom prst="roundRect">
            <a:avLst>
              <a:gd name="adj" fmla="val 2597"/>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5" name="Shape 3"/>
          <p:cNvSpPr/>
          <p:nvPr/>
        </p:nvSpPr>
        <p:spPr>
          <a:xfrm>
            <a:off x="896112" y="1874520"/>
            <a:ext cx="566928" cy="566928"/>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049183" y="2027591"/>
            <a:ext cx="260787" cy="260787"/>
          </a:xfrm>
          <a:prstGeom prst="rect">
            <a:avLst/>
          </a:prstGeom>
        </p:spPr>
      </p:pic>
      <p:sp>
        <p:nvSpPr>
          <p:cNvPr id="7" name="Text 4"/>
          <p:cNvSpPr/>
          <p:nvPr/>
        </p:nvSpPr>
        <p:spPr>
          <a:xfrm>
            <a:off x="1554480" y="1874520"/>
            <a:ext cx="2468880" cy="566928"/>
          </a:xfrm>
          <a:prstGeom prst="rect">
            <a:avLst/>
          </a:prstGeom>
          <a:noFill/>
          <a:ln/>
        </p:spPr>
        <p:txBody>
          <a:bodyPr wrap="square" lIns="0" tIns="0" rIns="0" bIns="0" rtlCol="0" anchor="ctr"/>
          <a:lstStyle/>
          <a:p>
            <a:pPr marL="0" indent="0">
              <a:buNone/>
            </a:pPr>
            <a:r>
              <a:rPr lang="en-US" sz="1450" b="1" dirty="0">
                <a:solidFill>
                  <a:srgbClr val="16293A"/>
                </a:solidFill>
                <a:latin typeface="Arial" pitchFamily="34" charset="0"/>
                <a:ea typeface="Arial" pitchFamily="34" charset="-122"/>
                <a:cs typeface="Arial" pitchFamily="34" charset="-120"/>
              </a:rPr>
              <a:t>Customer inputs</a:t>
            </a:r>
            <a:endParaRPr lang="en-US" sz="1450" dirty="0"/>
          </a:p>
        </p:txBody>
      </p:sp>
      <p:sp>
        <p:nvSpPr>
          <p:cNvPr id="8" name="Text 5"/>
          <p:cNvSpPr/>
          <p:nvPr/>
        </p:nvSpPr>
        <p:spPr>
          <a:xfrm>
            <a:off x="896112" y="2560320"/>
            <a:ext cx="3063240" cy="329184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16293A"/>
                </a:solidFill>
                <a:latin typeface="Arial" pitchFamily="34" charset="0"/>
                <a:ea typeface="Arial" pitchFamily="34" charset="-122"/>
                <a:cs typeface="Arial" pitchFamily="34" charset="-120"/>
              </a:rPr>
              <a:t>Cruise type &amp; destination</a:t>
            </a:r>
            <a:endParaRPr lang="en-US" sz="1200" dirty="0"/>
          </a:p>
          <a:p>
            <a:pPr marL="342900" indent="-342900">
              <a:spcAft>
                <a:spcPts val="900"/>
              </a:spcAft>
              <a:buSzPct val="100000"/>
              <a:buChar char="•"/>
            </a:pPr>
            <a:r>
              <a:rPr lang="en-US" sz="1200" dirty="0">
                <a:solidFill>
                  <a:srgbClr val="16293A"/>
                </a:solidFill>
                <a:latin typeface="Arial" pitchFamily="34" charset="0"/>
                <a:ea typeface="Arial" pitchFamily="34" charset="-122"/>
                <a:cs typeface="Arial" pitchFamily="34" charset="-120"/>
              </a:rPr>
              <a:t>Departure date, length, trip type</a:t>
            </a:r>
            <a:endParaRPr lang="en-US" sz="1200" dirty="0"/>
          </a:p>
          <a:p>
            <a:pPr marL="342900" indent="-342900">
              <a:spcAft>
                <a:spcPts val="900"/>
              </a:spcAft>
              <a:buSzPct val="100000"/>
              <a:buChar char="•"/>
            </a:pPr>
            <a:r>
              <a:rPr lang="en-US" sz="1200" dirty="0">
                <a:solidFill>
                  <a:srgbClr val="16293A"/>
                </a:solidFill>
                <a:latin typeface="Arial" pitchFamily="34" charset="0"/>
                <a:ea typeface="Arial" pitchFamily="34" charset="-122"/>
                <a:cs typeface="Arial" pitchFamily="34" charset="-120"/>
              </a:rPr>
              <a:t>Ship, cabin class, fare class</a:t>
            </a:r>
            <a:endParaRPr lang="en-US" sz="1200" dirty="0"/>
          </a:p>
          <a:p>
            <a:pPr marL="342900" indent="-342900">
              <a:spcAft>
                <a:spcPts val="900"/>
              </a:spcAft>
              <a:buSzPct val="100000"/>
              <a:buChar char="•"/>
            </a:pPr>
            <a:r>
              <a:rPr lang="en-US" sz="1200" dirty="0">
                <a:solidFill>
                  <a:srgbClr val="16293A"/>
                </a:solidFill>
                <a:latin typeface="Arial" pitchFamily="34" charset="0"/>
                <a:ea typeface="Arial" pitchFamily="34" charset="-122"/>
                <a:cs typeface="Arial" pitchFamily="34" charset="-120"/>
              </a:rPr>
              <a:t>Guests &amp; customer type</a:t>
            </a:r>
            <a:endParaRPr lang="en-US" sz="1200" dirty="0"/>
          </a:p>
          <a:p>
            <a:pPr marL="342900" indent="-342900">
              <a:spcAft>
                <a:spcPts val="900"/>
              </a:spcAft>
              <a:buSzPct val="100000"/>
              <a:buChar char="•"/>
            </a:pPr>
            <a:r>
              <a:rPr lang="en-US" sz="1200" dirty="0">
                <a:solidFill>
                  <a:srgbClr val="16293A"/>
                </a:solidFill>
                <a:latin typeface="Arial" pitchFamily="34" charset="0"/>
                <a:ea typeface="Arial" pitchFamily="34" charset="-122"/>
                <a:cs typeface="Arial" pitchFamily="34" charset="-120"/>
              </a:rPr>
              <a:t>Add-ons: transport, meal, credit, tours</a:t>
            </a:r>
            <a:endParaRPr lang="en-US" sz="1200" dirty="0"/>
          </a:p>
          <a:p>
            <a:pPr marL="342900" indent="-342900">
              <a:spcAft>
                <a:spcPts val="900"/>
              </a:spcAft>
              <a:buSzPct val="100000"/>
              <a:buChar char="•"/>
            </a:pPr>
            <a:r>
              <a:rPr lang="en-US" sz="1200" dirty="0">
                <a:solidFill>
                  <a:srgbClr val="16293A"/>
                </a:solidFill>
                <a:latin typeface="Arial" pitchFamily="34" charset="0"/>
                <a:ea typeface="Arial" pitchFamily="34" charset="-122"/>
                <a:cs typeface="Arial" pitchFamily="34" charset="-120"/>
              </a:rPr>
              <a:t>Sign-up details &amp; card payment</a:t>
            </a:r>
            <a:endParaRPr lang="en-US" sz="1200" dirty="0"/>
          </a:p>
        </p:txBody>
      </p:sp>
      <p:sp>
        <p:nvSpPr>
          <p:cNvPr id="9" name="Shape 6"/>
          <p:cNvSpPr/>
          <p:nvPr/>
        </p:nvSpPr>
        <p:spPr>
          <a:xfrm>
            <a:off x="4315968" y="1645920"/>
            <a:ext cx="3520440" cy="4434840"/>
          </a:xfrm>
          <a:prstGeom prst="roundRect">
            <a:avLst>
              <a:gd name="adj" fmla="val 2597"/>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0" name="Shape 7"/>
          <p:cNvSpPr/>
          <p:nvPr/>
        </p:nvSpPr>
        <p:spPr>
          <a:xfrm>
            <a:off x="4572000" y="1874520"/>
            <a:ext cx="566928" cy="566928"/>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4725071" y="2027591"/>
            <a:ext cx="260787" cy="260787"/>
          </a:xfrm>
          <a:prstGeom prst="rect">
            <a:avLst/>
          </a:prstGeom>
        </p:spPr>
      </p:pic>
      <p:sp>
        <p:nvSpPr>
          <p:cNvPr id="12" name="Text 8"/>
          <p:cNvSpPr/>
          <p:nvPr/>
        </p:nvSpPr>
        <p:spPr>
          <a:xfrm>
            <a:off x="5230368" y="1874520"/>
            <a:ext cx="2468880" cy="566928"/>
          </a:xfrm>
          <a:prstGeom prst="rect">
            <a:avLst/>
          </a:prstGeom>
          <a:noFill/>
          <a:ln/>
        </p:spPr>
        <p:txBody>
          <a:bodyPr wrap="square" lIns="0" tIns="0" rIns="0" bIns="0" rtlCol="0" anchor="ctr"/>
          <a:lstStyle/>
          <a:p>
            <a:pPr marL="0" indent="0">
              <a:buNone/>
            </a:pPr>
            <a:r>
              <a:rPr lang="en-US" sz="1450" b="1" dirty="0">
                <a:solidFill>
                  <a:srgbClr val="16293A"/>
                </a:solidFill>
                <a:latin typeface="Arial" pitchFamily="34" charset="0"/>
                <a:ea typeface="Arial" pitchFamily="34" charset="-122"/>
                <a:cs typeface="Arial" pitchFamily="34" charset="-120"/>
              </a:rPr>
              <a:t>Company inputs (admin)</a:t>
            </a:r>
            <a:endParaRPr lang="en-US" sz="1450" dirty="0"/>
          </a:p>
        </p:txBody>
      </p:sp>
      <p:sp>
        <p:nvSpPr>
          <p:cNvPr id="13" name="Text 9"/>
          <p:cNvSpPr/>
          <p:nvPr/>
        </p:nvSpPr>
        <p:spPr>
          <a:xfrm>
            <a:off x="4572000" y="2560320"/>
            <a:ext cx="3063240" cy="329184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16293A"/>
                </a:solidFill>
                <a:latin typeface="Arial" pitchFamily="34" charset="0"/>
                <a:ea typeface="Arial" pitchFamily="34" charset="-122"/>
                <a:cs typeface="Arial" pitchFamily="34" charset="-120"/>
              </a:rPr>
              <a:t>Base fares &amp; per-night cabin prices</a:t>
            </a:r>
            <a:endParaRPr lang="en-US" sz="1200" dirty="0"/>
          </a:p>
          <a:p>
            <a:pPr marL="342900" indent="-342900">
              <a:spcAft>
                <a:spcPts val="900"/>
              </a:spcAft>
              <a:buSzPct val="100000"/>
              <a:buChar char="•"/>
            </a:pPr>
            <a:r>
              <a:rPr lang="en-US" sz="1200" dirty="0">
                <a:solidFill>
                  <a:srgbClr val="16293A"/>
                </a:solidFill>
                <a:latin typeface="Arial" pitchFamily="34" charset="0"/>
                <a:ea typeface="Arial" pitchFamily="34" charset="-122"/>
                <a:cs typeface="Arial" pitchFamily="34" charset="-120"/>
              </a:rPr>
              <a:t>Day-cruise rates &amp; add-on prices</a:t>
            </a:r>
            <a:endParaRPr lang="en-US" sz="1200" dirty="0"/>
          </a:p>
          <a:p>
            <a:pPr marL="342900" indent="-342900">
              <a:spcAft>
                <a:spcPts val="900"/>
              </a:spcAft>
              <a:buSzPct val="100000"/>
              <a:buChar char="•"/>
            </a:pPr>
            <a:r>
              <a:rPr lang="en-US" sz="1200" dirty="0">
                <a:solidFill>
                  <a:srgbClr val="16293A"/>
                </a:solidFill>
                <a:latin typeface="Arial" pitchFamily="34" charset="0"/>
                <a:ea typeface="Arial" pitchFamily="34" charset="-122"/>
                <a:cs typeface="Arial" pitchFamily="34" charset="-120"/>
              </a:rPr>
              <a:t>Premium uplift, tax %, one-way factor</a:t>
            </a:r>
            <a:endParaRPr lang="en-US" sz="1200" dirty="0"/>
          </a:p>
          <a:p>
            <a:pPr marL="342900" indent="-342900">
              <a:spcAft>
                <a:spcPts val="900"/>
              </a:spcAft>
              <a:buSzPct val="100000"/>
              <a:buChar char="•"/>
            </a:pPr>
            <a:r>
              <a:rPr lang="en-US" sz="1200" dirty="0">
                <a:solidFill>
                  <a:srgbClr val="16293A"/>
                </a:solidFill>
                <a:latin typeface="Arial" pitchFamily="34" charset="0"/>
                <a:ea typeface="Arial" pitchFamily="34" charset="-122"/>
                <a:cs typeface="Arial" pitchFamily="34" charset="-120"/>
              </a:rPr>
              <a:t>High-demand occupancy threshold</a:t>
            </a:r>
            <a:endParaRPr lang="en-US" sz="1200" dirty="0"/>
          </a:p>
          <a:p>
            <a:pPr marL="342900" indent="-342900">
              <a:spcAft>
                <a:spcPts val="900"/>
              </a:spcAft>
              <a:buSzPct val="100000"/>
              <a:buChar char="•"/>
            </a:pPr>
            <a:r>
              <a:rPr lang="en-US" sz="1200" dirty="0">
                <a:solidFill>
                  <a:srgbClr val="16293A"/>
                </a:solidFill>
                <a:latin typeface="Arial" pitchFamily="34" charset="0"/>
                <a:ea typeface="Arial" pitchFamily="34" charset="-122"/>
                <a:cs typeface="Arial" pitchFamily="34" charset="-120"/>
              </a:rPr>
              <a:t>Time-to-departure pricing rules</a:t>
            </a:r>
            <a:endParaRPr lang="en-US" sz="1200" dirty="0"/>
          </a:p>
          <a:p>
            <a:pPr marL="342900" indent="-342900">
              <a:spcAft>
                <a:spcPts val="900"/>
              </a:spcAft>
              <a:buSzPct val="100000"/>
              <a:buChar char="•"/>
            </a:pPr>
            <a:r>
              <a:rPr lang="en-US" sz="1200" dirty="0">
                <a:solidFill>
                  <a:srgbClr val="16293A"/>
                </a:solidFill>
                <a:latin typeface="Arial" pitchFamily="34" charset="0"/>
                <a:ea typeface="Arial" pitchFamily="34" charset="-122"/>
                <a:cs typeface="Arial" pitchFamily="34" charset="-120"/>
              </a:rPr>
              <a:t>Surge &amp; discount rates</a:t>
            </a:r>
            <a:endParaRPr lang="en-US" sz="1200" dirty="0"/>
          </a:p>
        </p:txBody>
      </p:sp>
      <p:sp>
        <p:nvSpPr>
          <p:cNvPr id="14" name="Shape 10"/>
          <p:cNvSpPr/>
          <p:nvPr/>
        </p:nvSpPr>
        <p:spPr>
          <a:xfrm>
            <a:off x="7991856" y="1645920"/>
            <a:ext cx="3566160" cy="4434840"/>
          </a:xfrm>
          <a:prstGeom prst="roundRect">
            <a:avLst>
              <a:gd name="adj" fmla="val 2564"/>
            </a:avLst>
          </a:prstGeom>
          <a:solidFill>
            <a:srgbClr val="0B2D4D"/>
          </a:solidFill>
          <a:ln/>
          <a:effectLst>
            <a:outerShdw blurRad="114300" dist="38100" dir="5400000" algn="bl" rotWithShape="0">
              <a:srgbClr val="0B2D4D">
                <a:alpha val="16000"/>
              </a:srgbClr>
            </a:outerShdw>
          </a:effectLst>
        </p:spPr>
        <p:txBody>
          <a:bodyPr/>
          <a:lstStyle/>
          <a:p>
            <a:endParaRPr lang="en-US"/>
          </a:p>
        </p:txBody>
      </p:sp>
      <p:sp>
        <p:nvSpPr>
          <p:cNvPr id="15" name="Shape 11"/>
          <p:cNvSpPr/>
          <p:nvPr/>
        </p:nvSpPr>
        <p:spPr>
          <a:xfrm>
            <a:off x="8247888" y="1874520"/>
            <a:ext cx="566928" cy="566928"/>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8400959" y="2027591"/>
            <a:ext cx="260787" cy="260787"/>
          </a:xfrm>
          <a:prstGeom prst="rect">
            <a:avLst/>
          </a:prstGeom>
        </p:spPr>
      </p:pic>
      <p:sp>
        <p:nvSpPr>
          <p:cNvPr id="17" name="Text 12"/>
          <p:cNvSpPr/>
          <p:nvPr/>
        </p:nvSpPr>
        <p:spPr>
          <a:xfrm>
            <a:off x="8906256" y="1874520"/>
            <a:ext cx="2606040" cy="566928"/>
          </a:xfrm>
          <a:prstGeom prst="rect">
            <a:avLst/>
          </a:prstGeom>
          <a:noFill/>
          <a:ln/>
        </p:spPr>
        <p:txBody>
          <a:bodyPr wrap="square" lIns="0" tIns="0" rIns="0" bIns="0" rtlCol="0" anchor="ctr"/>
          <a:lstStyle/>
          <a:p>
            <a:pPr marL="0" indent="0">
              <a:buNone/>
            </a:pPr>
            <a:r>
              <a:rPr lang="en-US" sz="1450" b="1" dirty="0">
                <a:solidFill>
                  <a:srgbClr val="FFFFFF"/>
                </a:solidFill>
                <a:latin typeface="Arial" pitchFamily="34" charset="0"/>
                <a:ea typeface="Arial" pitchFamily="34" charset="-122"/>
                <a:cs typeface="Arial" pitchFamily="34" charset="-120"/>
              </a:rPr>
              <a:t>Outputs = decisions</a:t>
            </a:r>
            <a:endParaRPr lang="en-US" sz="1450" dirty="0"/>
          </a:p>
        </p:txBody>
      </p:sp>
      <p:sp>
        <p:nvSpPr>
          <p:cNvPr id="18" name="Text 13"/>
          <p:cNvSpPr/>
          <p:nvPr/>
        </p:nvSpPr>
        <p:spPr>
          <a:xfrm>
            <a:off x="8247888" y="2560320"/>
            <a:ext cx="3108960" cy="3291840"/>
          </a:xfrm>
          <a:prstGeom prst="rect">
            <a:avLst/>
          </a:prstGeom>
          <a:noFill/>
          <a:ln/>
        </p:spPr>
        <p:txBody>
          <a:bodyPr wrap="square" lIns="0" tIns="0" rIns="0" bIns="0" rtlCol="0" anchor="t"/>
          <a:lstStyle/>
          <a:p>
            <a:pPr marL="342900" indent="-342900">
              <a:spcAft>
                <a:spcPts val="900"/>
              </a:spcAft>
              <a:buSzPct val="100000"/>
              <a:buChar char="•"/>
            </a:pPr>
            <a:r>
              <a:rPr lang="en-US" sz="1200" dirty="0">
                <a:solidFill>
                  <a:srgbClr val="DCE6EF"/>
                </a:solidFill>
                <a:latin typeface="Arial" pitchFamily="34" charset="0"/>
                <a:ea typeface="Arial" pitchFamily="34" charset="-122"/>
                <a:cs typeface="Arial" pitchFamily="34" charset="-120"/>
              </a:rPr>
              <a:t>Confirmed, paid reservation (booking ID + e-mail)</a:t>
            </a:r>
            <a:endParaRPr lang="en-US" sz="1200" dirty="0"/>
          </a:p>
          <a:p>
            <a:pPr marL="342900" indent="-342900">
              <a:spcAft>
                <a:spcPts val="900"/>
              </a:spcAft>
              <a:buSzPct val="100000"/>
              <a:buChar char="•"/>
            </a:pPr>
            <a:r>
              <a:rPr lang="en-US" sz="1200" dirty="0">
                <a:solidFill>
                  <a:srgbClr val="DCE6EF"/>
                </a:solidFill>
                <a:latin typeface="Arial" pitchFamily="34" charset="0"/>
                <a:ea typeface="Arial" pitchFamily="34" charset="-122"/>
                <a:cs typeface="Arial" pitchFamily="34" charset="-120"/>
              </a:rPr>
              <a:t>An entry in the reservation log</a:t>
            </a:r>
            <a:endParaRPr lang="en-US" sz="1200" dirty="0"/>
          </a:p>
          <a:p>
            <a:pPr marL="342900" indent="-342900">
              <a:spcAft>
                <a:spcPts val="900"/>
              </a:spcAft>
              <a:buSzPct val="100000"/>
              <a:buChar char="•"/>
            </a:pPr>
            <a:r>
              <a:rPr lang="en-US" sz="1200" dirty="0">
                <a:solidFill>
                  <a:srgbClr val="DCE6EF"/>
                </a:solidFill>
                <a:latin typeface="Arial" pitchFamily="34" charset="0"/>
                <a:ea typeface="Arial" pitchFamily="34" charset="-122"/>
                <a:cs typeface="Arial" pitchFamily="34" charset="-120"/>
              </a:rPr>
              <a:t>Commission saved &amp; in-house capture %</a:t>
            </a:r>
            <a:endParaRPr lang="en-US" sz="1200" dirty="0"/>
          </a:p>
          <a:p>
            <a:pPr marL="342900" indent="-342900">
              <a:spcAft>
                <a:spcPts val="900"/>
              </a:spcAft>
              <a:buSzPct val="100000"/>
              <a:buChar char="•"/>
            </a:pPr>
            <a:r>
              <a:rPr lang="en-US" sz="1200" dirty="0">
                <a:solidFill>
                  <a:srgbClr val="DCE6EF"/>
                </a:solidFill>
                <a:latin typeface="Arial" pitchFamily="34" charset="0"/>
                <a:ea typeface="Arial" pitchFamily="34" charset="-122"/>
                <a:cs typeface="Arial" pitchFamily="34" charset="-120"/>
              </a:rPr>
              <a:t>Revenue, demand &amp; ship utilization</a:t>
            </a:r>
            <a:endParaRPr lang="en-US" sz="1200" dirty="0"/>
          </a:p>
          <a:p>
            <a:pPr marL="342900" indent="-342900">
              <a:spcAft>
                <a:spcPts val="900"/>
              </a:spcAft>
              <a:buSzPct val="100000"/>
              <a:buChar char="•"/>
            </a:pPr>
            <a:r>
              <a:rPr lang="en-US" sz="1200" dirty="0">
                <a:solidFill>
                  <a:srgbClr val="DCE6EF"/>
                </a:solidFill>
                <a:latin typeface="Arial" pitchFamily="34" charset="0"/>
                <a:ea typeface="Arial" pitchFamily="34" charset="-122"/>
                <a:cs typeface="Arial" pitchFamily="34" charset="-120"/>
              </a:rPr>
              <a:t>Occupancy per sailing</a:t>
            </a:r>
            <a:endParaRPr lang="en-US" sz="1200" dirty="0"/>
          </a:p>
          <a:p>
            <a:pPr marL="342900" indent="-342900">
              <a:spcAft>
                <a:spcPts val="900"/>
              </a:spcAft>
              <a:buSzPct val="100000"/>
              <a:buChar char="•"/>
            </a:pPr>
            <a:r>
              <a:rPr lang="en-US" sz="1200" dirty="0">
                <a:solidFill>
                  <a:srgbClr val="DCE6EF"/>
                </a:solidFill>
                <a:latin typeface="Arial" pitchFamily="34" charset="0"/>
                <a:ea typeface="Arial" pitchFamily="34" charset="-122"/>
                <a:cs typeface="Arial" pitchFamily="34" charset="-120"/>
              </a:rPr>
              <a:t>Revenue &amp; demand forecasts</a:t>
            </a:r>
            <a:endParaRPr lang="en-US" sz="1200" dirty="0"/>
          </a:p>
        </p:txBody>
      </p:sp>
      <p:sp>
        <p:nvSpPr>
          <p:cNvPr id="19" name="Text 14"/>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20" name="Text 15"/>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PRICING &amp; REVENUE MANAGEMENT</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Airline-style fares, company-controlled</a:t>
            </a:r>
            <a:endParaRPr lang="en-US" sz="3000" dirty="0"/>
          </a:p>
        </p:txBody>
      </p:sp>
      <p:sp>
        <p:nvSpPr>
          <p:cNvPr id="4" name="Shape 2"/>
          <p:cNvSpPr/>
          <p:nvPr/>
        </p:nvSpPr>
        <p:spPr>
          <a:xfrm>
            <a:off x="640080" y="1554480"/>
            <a:ext cx="10927080" cy="1234440"/>
          </a:xfrm>
          <a:prstGeom prst="roundRect">
            <a:avLst>
              <a:gd name="adj" fmla="val 7407"/>
            </a:avLst>
          </a:prstGeom>
          <a:solidFill>
            <a:srgbClr val="0B2D4D"/>
          </a:solidFill>
          <a:ln/>
          <a:effectLst>
            <a:outerShdw blurRad="114300" dist="38100" dir="5400000" algn="bl" rotWithShape="0">
              <a:srgbClr val="0B2D4D">
                <a:alpha val="16000"/>
              </a:srgbClr>
            </a:outerShdw>
          </a:effectLst>
        </p:spPr>
        <p:txBody>
          <a:bodyPr/>
          <a:lstStyle/>
          <a:p>
            <a:endParaRPr lang="en-US"/>
          </a:p>
        </p:txBody>
      </p:sp>
      <p:sp>
        <p:nvSpPr>
          <p:cNvPr id="5" name="Text 3"/>
          <p:cNvSpPr/>
          <p:nvPr/>
        </p:nvSpPr>
        <p:spPr>
          <a:xfrm>
            <a:off x="914400" y="1664208"/>
            <a:ext cx="3657600" cy="274320"/>
          </a:xfrm>
          <a:prstGeom prst="rect">
            <a:avLst/>
          </a:prstGeom>
          <a:noFill/>
          <a:ln/>
        </p:spPr>
        <p:txBody>
          <a:bodyPr wrap="square" lIns="0" tIns="0" rIns="0" bIns="0" rtlCol="0" anchor="ctr"/>
          <a:lstStyle/>
          <a:p>
            <a:pPr marL="0" indent="0">
              <a:buNone/>
            </a:pPr>
            <a:r>
              <a:rPr lang="en-US" sz="1100" b="1" kern="0" spc="200" dirty="0">
                <a:solidFill>
                  <a:srgbClr val="E0A82E"/>
                </a:solidFill>
                <a:latin typeface="Arial" pitchFamily="34" charset="0"/>
                <a:ea typeface="Arial" pitchFamily="34" charset="-122"/>
                <a:cs typeface="Arial" pitchFamily="34" charset="-120"/>
              </a:rPr>
              <a:t>FARE FORMULA</a:t>
            </a:r>
            <a:endParaRPr lang="en-US" sz="1100" dirty="0"/>
          </a:p>
        </p:txBody>
      </p:sp>
      <p:sp>
        <p:nvSpPr>
          <p:cNvPr id="6" name="Text 4"/>
          <p:cNvSpPr/>
          <p:nvPr/>
        </p:nvSpPr>
        <p:spPr>
          <a:xfrm>
            <a:off x="914400" y="1993392"/>
            <a:ext cx="10424160" cy="685800"/>
          </a:xfrm>
          <a:prstGeom prst="rect">
            <a:avLst/>
          </a:prstGeom>
          <a:noFill/>
          <a:ln/>
        </p:spPr>
        <p:txBody>
          <a:bodyPr wrap="square" lIns="0" tIns="0" rIns="0" bIns="0" rtlCol="0" anchor="ctr"/>
          <a:lstStyle/>
          <a:p>
            <a:pPr marL="0" indent="0">
              <a:lnSpc>
                <a:spcPct val="110000"/>
              </a:lnSpc>
              <a:buNone/>
            </a:pPr>
            <a:r>
              <a:rPr lang="en-US" sz="1500" dirty="0">
                <a:solidFill>
                  <a:srgbClr val="FFFFFF"/>
                </a:solidFill>
                <a:latin typeface="Courier New" pitchFamily="34" charset="0"/>
                <a:ea typeface="Courier New" pitchFamily="34" charset="-122"/>
                <a:cs typeface="Courier New" pitchFamily="34" charset="-120"/>
              </a:rPr>
              <a:t>Total = [ Base fare + (cabin/night × nights) ] × dynamic multiplier × guests + premium + add-ons − group discount + tax</a:t>
            </a:r>
            <a:endParaRPr lang="en-US" sz="1500" dirty="0"/>
          </a:p>
        </p:txBody>
      </p:sp>
      <p:sp>
        <p:nvSpPr>
          <p:cNvPr id="7" name="Text 5"/>
          <p:cNvSpPr/>
          <p:nvPr/>
        </p:nvSpPr>
        <p:spPr>
          <a:xfrm>
            <a:off x="640080" y="2971800"/>
            <a:ext cx="10972800" cy="365760"/>
          </a:xfrm>
          <a:prstGeom prst="rect">
            <a:avLst/>
          </a:prstGeom>
          <a:noFill/>
          <a:ln/>
        </p:spPr>
        <p:txBody>
          <a:bodyPr wrap="square" lIns="0" tIns="0" rIns="0" bIns="0" rtlCol="0" anchor="ctr"/>
          <a:lstStyle/>
          <a:p>
            <a:pPr marL="0" indent="0">
              <a:buNone/>
            </a:pPr>
            <a:r>
              <a:rPr lang="en-US" sz="1350" dirty="0">
                <a:solidFill>
                  <a:srgbClr val="5C6B7A"/>
                </a:solidFill>
                <a:latin typeface="Arial" pitchFamily="34" charset="0"/>
                <a:ea typeface="Arial" pitchFamily="34" charset="-122"/>
                <a:cs typeface="Arial" pitchFamily="34" charset="-120"/>
              </a:rPr>
              <a:t>Dynamic pricing reacts to two live signals, bounded between 0.6× and 1.8× and shown transparently to the guest:</a:t>
            </a:r>
            <a:endParaRPr lang="en-US" sz="1350" dirty="0"/>
          </a:p>
        </p:txBody>
      </p:sp>
      <p:sp>
        <p:nvSpPr>
          <p:cNvPr id="8" name="Shape 6"/>
          <p:cNvSpPr/>
          <p:nvPr/>
        </p:nvSpPr>
        <p:spPr>
          <a:xfrm>
            <a:off x="640080" y="3474720"/>
            <a:ext cx="5303520" cy="1691640"/>
          </a:xfrm>
          <a:prstGeom prst="roundRect">
            <a:avLst>
              <a:gd name="adj" fmla="val 5405"/>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9" name="Shape 7"/>
          <p:cNvSpPr/>
          <p:nvPr/>
        </p:nvSpPr>
        <p:spPr>
          <a:xfrm>
            <a:off x="914400" y="3703320"/>
            <a:ext cx="658368" cy="658368"/>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10" name="Image 0" descr="preencoded.png"/>
          <p:cNvPicPr>
            <a:picLocks noChangeAspect="1"/>
          </p:cNvPicPr>
          <p:nvPr/>
        </p:nvPicPr>
        <p:blipFill>
          <a:blip r:embed="rId3"/>
          <a:stretch>
            <a:fillRect/>
          </a:stretch>
        </p:blipFill>
        <p:spPr>
          <a:xfrm>
            <a:off x="1092159" y="3881079"/>
            <a:ext cx="302849" cy="302849"/>
          </a:xfrm>
          <a:prstGeom prst="rect">
            <a:avLst/>
          </a:prstGeom>
        </p:spPr>
      </p:pic>
      <p:sp>
        <p:nvSpPr>
          <p:cNvPr id="11" name="Text 8"/>
          <p:cNvSpPr/>
          <p:nvPr/>
        </p:nvSpPr>
        <p:spPr>
          <a:xfrm>
            <a:off x="1737360" y="3730752"/>
            <a:ext cx="4023360" cy="594360"/>
          </a:xfrm>
          <a:prstGeom prst="rect">
            <a:avLst/>
          </a:prstGeom>
          <a:noFill/>
          <a:ln/>
        </p:spPr>
        <p:txBody>
          <a:bodyPr wrap="square" lIns="0" tIns="0" rIns="0" bIns="0" rtlCol="0" anchor="ctr"/>
          <a:lstStyle/>
          <a:p>
            <a:pPr marL="0" indent="0">
              <a:buNone/>
            </a:pPr>
            <a:r>
              <a:rPr lang="en-US" sz="1600" b="1" dirty="0">
                <a:solidFill>
                  <a:srgbClr val="16293A"/>
                </a:solidFill>
                <a:latin typeface="Arial" pitchFamily="34" charset="0"/>
                <a:ea typeface="Arial" pitchFamily="34" charset="-122"/>
                <a:cs typeface="Arial" pitchFamily="34" charset="-120"/>
              </a:rPr>
              <a:t>Demand (occupancy)</a:t>
            </a:r>
            <a:endParaRPr lang="en-US" sz="1600" dirty="0"/>
          </a:p>
        </p:txBody>
      </p:sp>
      <p:sp>
        <p:nvSpPr>
          <p:cNvPr id="12" name="Text 9"/>
          <p:cNvSpPr/>
          <p:nvPr/>
        </p:nvSpPr>
        <p:spPr>
          <a:xfrm>
            <a:off x="950976" y="4434840"/>
            <a:ext cx="4754880" cy="640080"/>
          </a:xfrm>
          <a:prstGeom prst="rect">
            <a:avLst/>
          </a:prstGeom>
          <a:noFill/>
          <a:ln/>
        </p:spPr>
        <p:txBody>
          <a:bodyPr wrap="square" lIns="0" tIns="0" rIns="0" bIns="0" rtlCol="0" anchor="ctr"/>
          <a:lstStyle/>
          <a:p>
            <a:pPr marL="0" indent="0">
              <a:lnSpc>
                <a:spcPct val="110000"/>
              </a:lnSpc>
              <a:buNone/>
            </a:pPr>
            <a:r>
              <a:rPr lang="en-US" sz="1250" dirty="0">
                <a:solidFill>
                  <a:srgbClr val="5C6B7A"/>
                </a:solidFill>
                <a:latin typeface="Arial" pitchFamily="34" charset="0"/>
                <a:ea typeface="Arial" pitchFamily="34" charset="-122"/>
                <a:cs typeface="Arial" pitchFamily="34" charset="-120"/>
              </a:rPr>
              <a:t>Sailing above the company's high-demand threshold triggers a surge; a near-empty sailing is discounted to fill seats.</a:t>
            </a:r>
            <a:endParaRPr lang="en-US" sz="1250" dirty="0"/>
          </a:p>
        </p:txBody>
      </p:sp>
      <p:sp>
        <p:nvSpPr>
          <p:cNvPr id="13" name="Shape 10"/>
          <p:cNvSpPr/>
          <p:nvPr/>
        </p:nvSpPr>
        <p:spPr>
          <a:xfrm>
            <a:off x="6217920" y="3474720"/>
            <a:ext cx="5303520" cy="1691640"/>
          </a:xfrm>
          <a:prstGeom prst="roundRect">
            <a:avLst>
              <a:gd name="adj" fmla="val 5405"/>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4" name="Shape 11"/>
          <p:cNvSpPr/>
          <p:nvPr/>
        </p:nvSpPr>
        <p:spPr>
          <a:xfrm>
            <a:off x="6492240" y="3703320"/>
            <a:ext cx="658368" cy="658368"/>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5" name="Image 1" descr="preencoded.png"/>
          <p:cNvPicPr>
            <a:picLocks noChangeAspect="1"/>
          </p:cNvPicPr>
          <p:nvPr/>
        </p:nvPicPr>
        <p:blipFill>
          <a:blip r:embed="rId4"/>
          <a:stretch>
            <a:fillRect/>
          </a:stretch>
        </p:blipFill>
        <p:spPr>
          <a:xfrm>
            <a:off x="6669999" y="3881079"/>
            <a:ext cx="302849" cy="302849"/>
          </a:xfrm>
          <a:prstGeom prst="rect">
            <a:avLst/>
          </a:prstGeom>
        </p:spPr>
      </p:pic>
      <p:sp>
        <p:nvSpPr>
          <p:cNvPr id="16" name="Text 12"/>
          <p:cNvSpPr/>
          <p:nvPr/>
        </p:nvSpPr>
        <p:spPr>
          <a:xfrm>
            <a:off x="7315200" y="3730752"/>
            <a:ext cx="4023360" cy="594360"/>
          </a:xfrm>
          <a:prstGeom prst="rect">
            <a:avLst/>
          </a:prstGeom>
          <a:noFill/>
          <a:ln/>
        </p:spPr>
        <p:txBody>
          <a:bodyPr wrap="square" lIns="0" tIns="0" rIns="0" bIns="0" rtlCol="0" anchor="ctr"/>
          <a:lstStyle/>
          <a:p>
            <a:pPr marL="0" indent="0">
              <a:buNone/>
            </a:pPr>
            <a:r>
              <a:rPr lang="en-US" sz="1600" b="1" dirty="0">
                <a:solidFill>
                  <a:srgbClr val="16293A"/>
                </a:solidFill>
                <a:latin typeface="Arial" pitchFamily="34" charset="0"/>
                <a:ea typeface="Arial" pitchFamily="34" charset="-122"/>
                <a:cs typeface="Arial" pitchFamily="34" charset="-120"/>
              </a:rPr>
              <a:t>Time to departure</a:t>
            </a:r>
            <a:endParaRPr lang="en-US" sz="1600" dirty="0"/>
          </a:p>
        </p:txBody>
      </p:sp>
      <p:sp>
        <p:nvSpPr>
          <p:cNvPr id="17" name="Text 13"/>
          <p:cNvSpPr/>
          <p:nvPr/>
        </p:nvSpPr>
        <p:spPr>
          <a:xfrm>
            <a:off x="6528816" y="4434840"/>
            <a:ext cx="4754880" cy="640080"/>
          </a:xfrm>
          <a:prstGeom prst="rect">
            <a:avLst/>
          </a:prstGeom>
          <a:noFill/>
          <a:ln/>
        </p:spPr>
        <p:txBody>
          <a:bodyPr wrap="square" lIns="0" tIns="0" rIns="0" bIns="0" rtlCol="0" anchor="ctr"/>
          <a:lstStyle/>
          <a:p>
            <a:pPr marL="0" indent="0">
              <a:lnSpc>
                <a:spcPct val="110000"/>
              </a:lnSpc>
              <a:buNone/>
            </a:pPr>
            <a:r>
              <a:rPr lang="en-US" sz="1250" dirty="0">
                <a:solidFill>
                  <a:srgbClr val="5C6B7A"/>
                </a:solidFill>
                <a:latin typeface="Arial" pitchFamily="34" charset="0"/>
                <a:ea typeface="Arial" pitchFamily="34" charset="-122"/>
                <a:cs typeface="Arial" pitchFamily="34" charset="-120"/>
              </a:rPr>
              <a:t>Early-bird saver far out, a “departing soon” surge, and a last-minute deal or clearance close to sailing.</a:t>
            </a:r>
            <a:endParaRPr lang="en-US" sz="1250" dirty="0"/>
          </a:p>
        </p:txBody>
      </p:sp>
      <p:sp>
        <p:nvSpPr>
          <p:cNvPr id="18" name="Shape 14"/>
          <p:cNvSpPr/>
          <p:nvPr/>
        </p:nvSpPr>
        <p:spPr>
          <a:xfrm>
            <a:off x="640080" y="5349240"/>
            <a:ext cx="10927080" cy="777240"/>
          </a:xfrm>
          <a:prstGeom prst="roundRect">
            <a:avLst>
              <a:gd name="adj" fmla="val 9412"/>
            </a:avLst>
          </a:prstGeom>
          <a:solidFill>
            <a:srgbClr val="EAF1F7"/>
          </a:solidFill>
          <a:ln w="12700">
            <a:solidFill>
              <a:srgbClr val="CFE0EC"/>
            </a:solidFill>
            <a:prstDash val="solid"/>
          </a:ln>
        </p:spPr>
        <p:txBody>
          <a:bodyPr/>
          <a:lstStyle/>
          <a:p>
            <a:endParaRPr lang="en-US"/>
          </a:p>
        </p:txBody>
      </p:sp>
      <p:sp>
        <p:nvSpPr>
          <p:cNvPr id="19" name="Text 15"/>
          <p:cNvSpPr/>
          <p:nvPr/>
        </p:nvSpPr>
        <p:spPr>
          <a:xfrm>
            <a:off x="914400" y="5394960"/>
            <a:ext cx="10424160" cy="685800"/>
          </a:xfrm>
          <a:prstGeom prst="rect">
            <a:avLst/>
          </a:prstGeom>
          <a:noFill/>
          <a:ln/>
        </p:spPr>
        <p:txBody>
          <a:bodyPr wrap="square" lIns="0" tIns="0" rIns="0" bIns="0" rtlCol="0" anchor="ctr"/>
          <a:lstStyle/>
          <a:p>
            <a:pPr marL="0" indent="0">
              <a:lnSpc>
                <a:spcPct val="110000"/>
              </a:lnSpc>
              <a:buNone/>
            </a:pPr>
            <a:r>
              <a:rPr lang="en-US" sz="1250" b="1" dirty="0">
                <a:solidFill>
                  <a:srgbClr val="0E7C86"/>
                </a:solidFill>
                <a:latin typeface="Arial" pitchFamily="34" charset="0"/>
                <a:ea typeface="Arial" pitchFamily="34" charset="-122"/>
                <a:cs typeface="Arial" pitchFamily="34" charset="-120"/>
              </a:rPr>
              <a:t>Why it matters.  </a:t>
            </a:r>
            <a:r>
              <a:rPr lang="en-US" sz="1250" dirty="0">
                <a:solidFill>
                  <a:srgbClr val="16293A"/>
                </a:solidFill>
                <a:latin typeface="Arial" pitchFamily="34" charset="0"/>
                <a:ea typeface="Arial" pitchFamily="34" charset="-122"/>
                <a:cs typeface="Arial" pitchFamily="34" charset="-120"/>
              </a:rPr>
              <a:t>This realizes the case's requirement that “the revenue-management system updates pricing depending on how bookings are going.” Corporate / travel-club groups also receive a 10% group rate.</a:t>
            </a:r>
            <a:endParaRPr lang="en-US" sz="1250" dirty="0"/>
          </a:p>
        </p:txBody>
      </p:sp>
      <p:sp>
        <p:nvSpPr>
          <p:cNvPr id="20" name="Text 16"/>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21" name="Text 17"/>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THE DSS DASHBOARD</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Six tools managers actually use</a:t>
            </a:r>
            <a:endParaRPr lang="en-US" sz="3000" dirty="0"/>
          </a:p>
        </p:txBody>
      </p:sp>
      <p:sp>
        <p:nvSpPr>
          <p:cNvPr id="4" name="Shape 2"/>
          <p:cNvSpPr/>
          <p:nvPr/>
        </p:nvSpPr>
        <p:spPr>
          <a:xfrm>
            <a:off x="640080" y="1554480"/>
            <a:ext cx="2560320" cy="868680"/>
          </a:xfrm>
          <a:prstGeom prst="roundRect">
            <a:avLst>
              <a:gd name="adj" fmla="val 8421"/>
            </a:avLst>
          </a:prstGeom>
          <a:solidFill>
            <a:srgbClr val="0B2D4D"/>
          </a:solidFill>
          <a:ln/>
          <a:effectLst>
            <a:outerShdw blurRad="114300" dist="38100" dir="5400000" algn="bl" rotWithShape="0">
              <a:srgbClr val="0B2D4D">
                <a:alpha val="16000"/>
              </a:srgbClr>
            </a:outerShdw>
          </a:effectLst>
        </p:spPr>
        <p:txBody>
          <a:bodyPr/>
          <a:lstStyle/>
          <a:p>
            <a:endParaRPr lang="en-US"/>
          </a:p>
        </p:txBody>
      </p:sp>
      <p:sp>
        <p:nvSpPr>
          <p:cNvPr id="5" name="Text 3"/>
          <p:cNvSpPr/>
          <p:nvPr/>
        </p:nvSpPr>
        <p:spPr>
          <a:xfrm>
            <a:off x="777240" y="1627632"/>
            <a:ext cx="2286000" cy="457200"/>
          </a:xfrm>
          <a:prstGeom prst="rect">
            <a:avLst/>
          </a:prstGeom>
          <a:noFill/>
          <a:ln/>
        </p:spPr>
        <p:txBody>
          <a:bodyPr wrap="square" lIns="0" tIns="0" rIns="0" bIns="0" rtlCol="0" anchor="ctr"/>
          <a:lstStyle/>
          <a:p>
            <a:pPr marL="0" indent="0">
              <a:buNone/>
            </a:pPr>
            <a:r>
              <a:rPr lang="en-US" sz="2400" b="1" dirty="0">
                <a:solidFill>
                  <a:srgbClr val="E0A82E"/>
                </a:solidFill>
                <a:latin typeface="Arial" pitchFamily="34" charset="0"/>
                <a:ea typeface="Arial" pitchFamily="34" charset="-122"/>
                <a:cs typeface="Arial" pitchFamily="34" charset="-120"/>
              </a:rPr>
              <a:t>18,989</a:t>
            </a:r>
            <a:endParaRPr lang="en-US" sz="2400" dirty="0"/>
          </a:p>
        </p:txBody>
      </p:sp>
      <p:sp>
        <p:nvSpPr>
          <p:cNvPr id="6" name="Text 4"/>
          <p:cNvSpPr/>
          <p:nvPr/>
        </p:nvSpPr>
        <p:spPr>
          <a:xfrm>
            <a:off x="777240" y="2103120"/>
            <a:ext cx="2331720" cy="274320"/>
          </a:xfrm>
          <a:prstGeom prst="rect">
            <a:avLst/>
          </a:prstGeom>
          <a:noFill/>
          <a:ln/>
        </p:spPr>
        <p:txBody>
          <a:bodyPr wrap="square" lIns="0" tIns="0" rIns="0" bIns="0" rtlCol="0" anchor="ctr"/>
          <a:lstStyle/>
          <a:p>
            <a:pPr marL="0" indent="0">
              <a:buNone/>
            </a:pPr>
            <a:r>
              <a:rPr lang="en-US" sz="950" b="1" kern="0" spc="100" dirty="0">
                <a:solidFill>
                  <a:srgbClr val="C9DCEA"/>
                </a:solidFill>
                <a:latin typeface="Arial" pitchFamily="34" charset="0"/>
                <a:ea typeface="Arial" pitchFamily="34" charset="-122"/>
                <a:cs typeface="Arial" pitchFamily="34" charset="-120"/>
              </a:rPr>
              <a:t>BOOKINGS ANALYZED</a:t>
            </a:r>
            <a:endParaRPr lang="en-US" sz="950" dirty="0"/>
          </a:p>
        </p:txBody>
      </p:sp>
      <p:sp>
        <p:nvSpPr>
          <p:cNvPr id="7" name="Shape 5"/>
          <p:cNvSpPr/>
          <p:nvPr/>
        </p:nvSpPr>
        <p:spPr>
          <a:xfrm>
            <a:off x="3383280" y="1554480"/>
            <a:ext cx="2560320" cy="868680"/>
          </a:xfrm>
          <a:prstGeom prst="roundRect">
            <a:avLst>
              <a:gd name="adj" fmla="val 8421"/>
            </a:avLst>
          </a:prstGeom>
          <a:solidFill>
            <a:srgbClr val="0B2D4D"/>
          </a:solidFill>
          <a:ln/>
          <a:effectLst>
            <a:outerShdw blurRad="114300" dist="38100" dir="5400000" algn="bl" rotWithShape="0">
              <a:srgbClr val="0B2D4D">
                <a:alpha val="16000"/>
              </a:srgbClr>
            </a:outerShdw>
          </a:effectLst>
        </p:spPr>
        <p:txBody>
          <a:bodyPr/>
          <a:lstStyle/>
          <a:p>
            <a:endParaRPr lang="en-US"/>
          </a:p>
        </p:txBody>
      </p:sp>
      <p:sp>
        <p:nvSpPr>
          <p:cNvPr id="8" name="Text 6"/>
          <p:cNvSpPr/>
          <p:nvPr/>
        </p:nvSpPr>
        <p:spPr>
          <a:xfrm>
            <a:off x="3520440" y="1627632"/>
            <a:ext cx="2286000" cy="457200"/>
          </a:xfrm>
          <a:prstGeom prst="rect">
            <a:avLst/>
          </a:prstGeom>
          <a:noFill/>
          <a:ln/>
        </p:spPr>
        <p:txBody>
          <a:bodyPr wrap="square" lIns="0" tIns="0" rIns="0" bIns="0" rtlCol="0" anchor="ctr"/>
          <a:lstStyle/>
          <a:p>
            <a:pPr marL="0" indent="0">
              <a:buNone/>
            </a:pPr>
            <a:r>
              <a:rPr lang="en-US" sz="2400" b="1" dirty="0">
                <a:solidFill>
                  <a:srgbClr val="E0A82E"/>
                </a:solidFill>
                <a:latin typeface="Arial" pitchFamily="34" charset="0"/>
                <a:ea typeface="Arial" pitchFamily="34" charset="-122"/>
                <a:cs typeface="Arial" pitchFamily="34" charset="-120"/>
              </a:rPr>
              <a:t>$98M</a:t>
            </a:r>
            <a:endParaRPr lang="en-US" sz="2400" dirty="0"/>
          </a:p>
        </p:txBody>
      </p:sp>
      <p:sp>
        <p:nvSpPr>
          <p:cNvPr id="9" name="Text 7"/>
          <p:cNvSpPr/>
          <p:nvPr/>
        </p:nvSpPr>
        <p:spPr>
          <a:xfrm>
            <a:off x="3520440" y="2103120"/>
            <a:ext cx="2331720" cy="274320"/>
          </a:xfrm>
          <a:prstGeom prst="rect">
            <a:avLst/>
          </a:prstGeom>
          <a:noFill/>
          <a:ln/>
        </p:spPr>
        <p:txBody>
          <a:bodyPr wrap="square" lIns="0" tIns="0" rIns="0" bIns="0" rtlCol="0" anchor="ctr"/>
          <a:lstStyle/>
          <a:p>
            <a:pPr marL="0" indent="0">
              <a:buNone/>
            </a:pPr>
            <a:r>
              <a:rPr lang="en-US" sz="950" b="1" kern="0" spc="100" dirty="0">
                <a:solidFill>
                  <a:srgbClr val="C9DCEA"/>
                </a:solidFill>
                <a:latin typeface="Arial" pitchFamily="34" charset="0"/>
                <a:ea typeface="Arial" pitchFamily="34" charset="-122"/>
                <a:cs typeface="Arial" pitchFamily="34" charset="-120"/>
              </a:rPr>
              <a:t>REVENUE TRACKED</a:t>
            </a:r>
            <a:endParaRPr lang="en-US" sz="950" dirty="0"/>
          </a:p>
        </p:txBody>
      </p:sp>
      <p:sp>
        <p:nvSpPr>
          <p:cNvPr id="10" name="Shape 8"/>
          <p:cNvSpPr/>
          <p:nvPr/>
        </p:nvSpPr>
        <p:spPr>
          <a:xfrm>
            <a:off x="6126480" y="1554480"/>
            <a:ext cx="2560320" cy="868680"/>
          </a:xfrm>
          <a:prstGeom prst="roundRect">
            <a:avLst>
              <a:gd name="adj" fmla="val 8421"/>
            </a:avLst>
          </a:prstGeom>
          <a:solidFill>
            <a:srgbClr val="0B2D4D"/>
          </a:solidFill>
          <a:ln/>
          <a:effectLst>
            <a:outerShdw blurRad="114300" dist="38100" dir="5400000" algn="bl" rotWithShape="0">
              <a:srgbClr val="0B2D4D">
                <a:alpha val="16000"/>
              </a:srgbClr>
            </a:outerShdw>
          </a:effectLst>
        </p:spPr>
        <p:txBody>
          <a:bodyPr/>
          <a:lstStyle/>
          <a:p>
            <a:endParaRPr lang="en-US"/>
          </a:p>
        </p:txBody>
      </p:sp>
      <p:sp>
        <p:nvSpPr>
          <p:cNvPr id="11" name="Text 9"/>
          <p:cNvSpPr/>
          <p:nvPr/>
        </p:nvSpPr>
        <p:spPr>
          <a:xfrm>
            <a:off x="6263640" y="1627632"/>
            <a:ext cx="2286000" cy="457200"/>
          </a:xfrm>
          <a:prstGeom prst="rect">
            <a:avLst/>
          </a:prstGeom>
          <a:noFill/>
          <a:ln/>
        </p:spPr>
        <p:txBody>
          <a:bodyPr wrap="square" lIns="0" tIns="0" rIns="0" bIns="0" rtlCol="0" anchor="ctr"/>
          <a:lstStyle/>
          <a:p>
            <a:pPr marL="0" indent="0">
              <a:buNone/>
            </a:pPr>
            <a:r>
              <a:rPr lang="en-US" sz="2400" b="1" dirty="0">
                <a:solidFill>
                  <a:srgbClr val="E0A82E"/>
                </a:solidFill>
                <a:latin typeface="Arial" pitchFamily="34" charset="0"/>
                <a:ea typeface="Arial" pitchFamily="34" charset="-122"/>
                <a:cs typeface="Arial" pitchFamily="34" charset="-120"/>
              </a:rPr>
              <a:t>3</a:t>
            </a:r>
            <a:endParaRPr lang="en-US" sz="2400" dirty="0"/>
          </a:p>
        </p:txBody>
      </p:sp>
      <p:sp>
        <p:nvSpPr>
          <p:cNvPr id="12" name="Text 10"/>
          <p:cNvSpPr/>
          <p:nvPr/>
        </p:nvSpPr>
        <p:spPr>
          <a:xfrm>
            <a:off x="6263640" y="2103120"/>
            <a:ext cx="2331720" cy="274320"/>
          </a:xfrm>
          <a:prstGeom prst="rect">
            <a:avLst/>
          </a:prstGeom>
          <a:noFill/>
          <a:ln/>
        </p:spPr>
        <p:txBody>
          <a:bodyPr wrap="square" lIns="0" tIns="0" rIns="0" bIns="0" rtlCol="0" anchor="ctr"/>
          <a:lstStyle/>
          <a:p>
            <a:pPr marL="0" indent="0">
              <a:buNone/>
            </a:pPr>
            <a:r>
              <a:rPr lang="en-US" sz="950" b="1" kern="0" spc="100" dirty="0">
                <a:solidFill>
                  <a:srgbClr val="C9DCEA"/>
                </a:solidFill>
                <a:latin typeface="Arial" pitchFamily="34" charset="0"/>
                <a:ea typeface="Arial" pitchFamily="34" charset="-122"/>
                <a:cs typeface="Arial" pitchFamily="34" charset="-120"/>
              </a:rPr>
              <a:t>SHIPS SCHEDULED</a:t>
            </a:r>
            <a:endParaRPr lang="en-US" sz="950" dirty="0"/>
          </a:p>
        </p:txBody>
      </p:sp>
      <p:sp>
        <p:nvSpPr>
          <p:cNvPr id="13" name="Shape 11"/>
          <p:cNvSpPr/>
          <p:nvPr/>
        </p:nvSpPr>
        <p:spPr>
          <a:xfrm>
            <a:off x="8869680" y="1554480"/>
            <a:ext cx="2560320" cy="868680"/>
          </a:xfrm>
          <a:prstGeom prst="roundRect">
            <a:avLst>
              <a:gd name="adj" fmla="val 8421"/>
            </a:avLst>
          </a:prstGeom>
          <a:solidFill>
            <a:srgbClr val="0B2D4D"/>
          </a:solidFill>
          <a:ln/>
          <a:effectLst>
            <a:outerShdw blurRad="114300" dist="38100" dir="5400000" algn="bl" rotWithShape="0">
              <a:srgbClr val="0B2D4D">
                <a:alpha val="16000"/>
              </a:srgbClr>
            </a:outerShdw>
          </a:effectLst>
        </p:spPr>
        <p:txBody>
          <a:bodyPr/>
          <a:lstStyle/>
          <a:p>
            <a:endParaRPr lang="en-US"/>
          </a:p>
        </p:txBody>
      </p:sp>
      <p:sp>
        <p:nvSpPr>
          <p:cNvPr id="14" name="Text 12"/>
          <p:cNvSpPr/>
          <p:nvPr/>
        </p:nvSpPr>
        <p:spPr>
          <a:xfrm>
            <a:off x="9006840" y="1627632"/>
            <a:ext cx="2286000" cy="457200"/>
          </a:xfrm>
          <a:prstGeom prst="rect">
            <a:avLst/>
          </a:prstGeom>
          <a:noFill/>
          <a:ln/>
        </p:spPr>
        <p:txBody>
          <a:bodyPr wrap="square" lIns="0" tIns="0" rIns="0" bIns="0" rtlCol="0" anchor="ctr"/>
          <a:lstStyle/>
          <a:p>
            <a:pPr marL="0" indent="0">
              <a:buNone/>
            </a:pPr>
            <a:r>
              <a:rPr lang="en-US" sz="2400" b="1" dirty="0">
                <a:solidFill>
                  <a:srgbClr val="E0A82E"/>
                </a:solidFill>
                <a:latin typeface="Arial" pitchFamily="34" charset="0"/>
                <a:ea typeface="Arial" pitchFamily="34" charset="-122"/>
                <a:cs typeface="Arial" pitchFamily="34" charset="-120"/>
              </a:rPr>
              <a:t>12 mo</a:t>
            </a:r>
            <a:endParaRPr lang="en-US" sz="2400" dirty="0"/>
          </a:p>
        </p:txBody>
      </p:sp>
      <p:sp>
        <p:nvSpPr>
          <p:cNvPr id="15" name="Text 13"/>
          <p:cNvSpPr/>
          <p:nvPr/>
        </p:nvSpPr>
        <p:spPr>
          <a:xfrm>
            <a:off x="9006840" y="2103120"/>
            <a:ext cx="2331720" cy="274320"/>
          </a:xfrm>
          <a:prstGeom prst="rect">
            <a:avLst/>
          </a:prstGeom>
          <a:noFill/>
          <a:ln/>
        </p:spPr>
        <p:txBody>
          <a:bodyPr wrap="square" lIns="0" tIns="0" rIns="0" bIns="0" rtlCol="0" anchor="ctr"/>
          <a:lstStyle/>
          <a:p>
            <a:pPr marL="0" indent="0">
              <a:buNone/>
            </a:pPr>
            <a:r>
              <a:rPr lang="en-US" sz="950" b="1" kern="0" spc="100" dirty="0">
                <a:solidFill>
                  <a:srgbClr val="C9DCEA"/>
                </a:solidFill>
                <a:latin typeface="Arial" pitchFamily="34" charset="0"/>
                <a:ea typeface="Arial" pitchFamily="34" charset="-122"/>
                <a:cs typeface="Arial" pitchFamily="34" charset="-120"/>
              </a:rPr>
              <a:t>OF SEEDED HISTORY</a:t>
            </a:r>
            <a:endParaRPr lang="en-US" sz="950" dirty="0"/>
          </a:p>
        </p:txBody>
      </p:sp>
      <p:sp>
        <p:nvSpPr>
          <p:cNvPr id="16" name="Shape 14"/>
          <p:cNvSpPr/>
          <p:nvPr/>
        </p:nvSpPr>
        <p:spPr>
          <a:xfrm>
            <a:off x="640080" y="2606040"/>
            <a:ext cx="3520440" cy="1554480"/>
          </a:xfrm>
          <a:prstGeom prst="roundRect">
            <a:avLst>
              <a:gd name="adj" fmla="val 588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7" name="Shape 15"/>
          <p:cNvSpPr/>
          <p:nvPr/>
        </p:nvSpPr>
        <p:spPr>
          <a:xfrm>
            <a:off x="877824" y="2843784"/>
            <a:ext cx="603504" cy="603504"/>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18" name="Image 0" descr="preencoded.png"/>
          <p:cNvPicPr>
            <a:picLocks noChangeAspect="1"/>
          </p:cNvPicPr>
          <p:nvPr/>
        </p:nvPicPr>
        <p:blipFill>
          <a:blip r:embed="rId3"/>
          <a:stretch>
            <a:fillRect/>
          </a:stretch>
        </p:blipFill>
        <p:spPr>
          <a:xfrm>
            <a:off x="1040770" y="3006730"/>
            <a:ext cx="277612" cy="277612"/>
          </a:xfrm>
          <a:prstGeom prst="rect">
            <a:avLst/>
          </a:prstGeom>
        </p:spPr>
      </p:pic>
      <p:sp>
        <p:nvSpPr>
          <p:cNvPr id="19" name="Text 16"/>
          <p:cNvSpPr/>
          <p:nvPr/>
        </p:nvSpPr>
        <p:spPr>
          <a:xfrm>
            <a:off x="1600200" y="2862072"/>
            <a:ext cx="2423160" cy="548640"/>
          </a:xfrm>
          <a:prstGeom prst="rect">
            <a:avLst/>
          </a:prstGeom>
          <a:noFill/>
          <a:ln/>
        </p:spPr>
        <p:txBody>
          <a:bodyPr wrap="square" lIns="0" tIns="0" rIns="0" bIns="0" rtlCol="0" anchor="ctr"/>
          <a:lstStyle/>
          <a:p>
            <a:pPr marL="0" indent="0">
              <a:buNone/>
            </a:pPr>
            <a:r>
              <a:rPr lang="en-US" sz="1500" b="1" dirty="0">
                <a:solidFill>
                  <a:srgbClr val="16293A"/>
                </a:solidFill>
                <a:latin typeface="Arial" pitchFamily="34" charset="0"/>
                <a:ea typeface="Arial" pitchFamily="34" charset="-122"/>
                <a:cs typeface="Arial" pitchFamily="34" charset="-120"/>
              </a:rPr>
              <a:t>Pricing Control</a:t>
            </a:r>
            <a:endParaRPr lang="en-US" sz="1500" dirty="0"/>
          </a:p>
        </p:txBody>
      </p:sp>
      <p:sp>
        <p:nvSpPr>
          <p:cNvPr id="20" name="Text 17"/>
          <p:cNvSpPr/>
          <p:nvPr/>
        </p:nvSpPr>
        <p:spPr>
          <a:xfrm>
            <a:off x="896112" y="3520440"/>
            <a:ext cx="3063240" cy="548640"/>
          </a:xfrm>
          <a:prstGeom prst="rect">
            <a:avLst/>
          </a:prstGeom>
          <a:noFill/>
          <a:ln/>
        </p:spPr>
        <p:txBody>
          <a:bodyPr wrap="square" lIns="0" tIns="0" rIns="0" bIns="0" rtlCol="0" anchor="ctr"/>
          <a:lstStyle/>
          <a:p>
            <a:pPr marL="0" indent="0">
              <a:lnSpc>
                <a:spcPct val="105000"/>
              </a:lnSpc>
              <a:buNone/>
            </a:pPr>
            <a:r>
              <a:rPr lang="en-US" sz="1150" dirty="0">
                <a:solidFill>
                  <a:srgbClr val="5C6B7A"/>
                </a:solidFill>
                <a:latin typeface="Arial" pitchFamily="34" charset="0"/>
                <a:ea typeface="Arial" pitchFamily="34" charset="-122"/>
                <a:cs typeface="Arial" pitchFamily="34" charset="-120"/>
              </a:rPr>
              <a:t>Set every base fare, cabin, add-on and tax; applied live.</a:t>
            </a:r>
            <a:endParaRPr lang="en-US" sz="1150" dirty="0"/>
          </a:p>
        </p:txBody>
      </p:sp>
      <p:sp>
        <p:nvSpPr>
          <p:cNvPr id="21" name="Shape 18"/>
          <p:cNvSpPr/>
          <p:nvPr/>
        </p:nvSpPr>
        <p:spPr>
          <a:xfrm>
            <a:off x="4325112" y="2606040"/>
            <a:ext cx="3520440" cy="1554480"/>
          </a:xfrm>
          <a:prstGeom prst="roundRect">
            <a:avLst>
              <a:gd name="adj" fmla="val 588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22" name="Shape 19"/>
          <p:cNvSpPr/>
          <p:nvPr/>
        </p:nvSpPr>
        <p:spPr>
          <a:xfrm>
            <a:off x="4562856" y="2843784"/>
            <a:ext cx="603504" cy="603504"/>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23" name="Image 1" descr="preencoded.png"/>
          <p:cNvPicPr>
            <a:picLocks noChangeAspect="1"/>
          </p:cNvPicPr>
          <p:nvPr/>
        </p:nvPicPr>
        <p:blipFill>
          <a:blip r:embed="rId4"/>
          <a:stretch>
            <a:fillRect/>
          </a:stretch>
        </p:blipFill>
        <p:spPr>
          <a:xfrm>
            <a:off x="4725802" y="3006730"/>
            <a:ext cx="277612" cy="277612"/>
          </a:xfrm>
          <a:prstGeom prst="rect">
            <a:avLst/>
          </a:prstGeom>
        </p:spPr>
      </p:pic>
      <p:sp>
        <p:nvSpPr>
          <p:cNvPr id="24" name="Text 20"/>
          <p:cNvSpPr/>
          <p:nvPr/>
        </p:nvSpPr>
        <p:spPr>
          <a:xfrm>
            <a:off x="5285232" y="2862072"/>
            <a:ext cx="2423160" cy="548640"/>
          </a:xfrm>
          <a:prstGeom prst="rect">
            <a:avLst/>
          </a:prstGeom>
          <a:noFill/>
          <a:ln/>
        </p:spPr>
        <p:txBody>
          <a:bodyPr wrap="square" lIns="0" tIns="0" rIns="0" bIns="0" rtlCol="0" anchor="ctr"/>
          <a:lstStyle/>
          <a:p>
            <a:pPr marL="0" indent="0">
              <a:buNone/>
            </a:pPr>
            <a:r>
              <a:rPr lang="en-US" sz="1500" b="1" dirty="0">
                <a:solidFill>
                  <a:srgbClr val="16293A"/>
                </a:solidFill>
                <a:latin typeface="Arial" pitchFamily="34" charset="0"/>
                <a:ea typeface="Arial" pitchFamily="34" charset="-122"/>
                <a:cs typeface="Arial" pitchFamily="34" charset="-120"/>
              </a:rPr>
              <a:t>Dynamic Pricing</a:t>
            </a:r>
            <a:endParaRPr lang="en-US" sz="1500" dirty="0"/>
          </a:p>
        </p:txBody>
      </p:sp>
      <p:sp>
        <p:nvSpPr>
          <p:cNvPr id="25" name="Text 21"/>
          <p:cNvSpPr/>
          <p:nvPr/>
        </p:nvSpPr>
        <p:spPr>
          <a:xfrm>
            <a:off x="4581144" y="3520440"/>
            <a:ext cx="3063240" cy="548640"/>
          </a:xfrm>
          <a:prstGeom prst="rect">
            <a:avLst/>
          </a:prstGeom>
          <a:noFill/>
          <a:ln/>
        </p:spPr>
        <p:txBody>
          <a:bodyPr wrap="square" lIns="0" tIns="0" rIns="0" bIns="0" rtlCol="0" anchor="ctr"/>
          <a:lstStyle/>
          <a:p>
            <a:pPr marL="0" indent="0">
              <a:lnSpc>
                <a:spcPct val="105000"/>
              </a:lnSpc>
              <a:buNone/>
            </a:pPr>
            <a:r>
              <a:rPr lang="en-US" sz="1150" dirty="0">
                <a:solidFill>
                  <a:srgbClr val="5C6B7A"/>
                </a:solidFill>
                <a:latin typeface="Arial" pitchFamily="34" charset="0"/>
                <a:ea typeface="Arial" pitchFamily="34" charset="-122"/>
                <a:cs typeface="Arial" pitchFamily="34" charset="-120"/>
              </a:rPr>
              <a:t>Surge / discount rules by demand and time-to-departure.</a:t>
            </a:r>
            <a:endParaRPr lang="en-US" sz="1150" dirty="0"/>
          </a:p>
        </p:txBody>
      </p:sp>
      <p:sp>
        <p:nvSpPr>
          <p:cNvPr id="26" name="Shape 22"/>
          <p:cNvSpPr/>
          <p:nvPr/>
        </p:nvSpPr>
        <p:spPr>
          <a:xfrm>
            <a:off x="8010144" y="2606040"/>
            <a:ext cx="3520440" cy="1554480"/>
          </a:xfrm>
          <a:prstGeom prst="roundRect">
            <a:avLst>
              <a:gd name="adj" fmla="val 588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27" name="Shape 23"/>
          <p:cNvSpPr/>
          <p:nvPr/>
        </p:nvSpPr>
        <p:spPr>
          <a:xfrm>
            <a:off x="8247888" y="2843784"/>
            <a:ext cx="603504" cy="603504"/>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28" name="Image 2" descr="preencoded.png"/>
          <p:cNvPicPr>
            <a:picLocks noChangeAspect="1"/>
          </p:cNvPicPr>
          <p:nvPr/>
        </p:nvPicPr>
        <p:blipFill>
          <a:blip r:embed="rId5"/>
          <a:stretch>
            <a:fillRect/>
          </a:stretch>
        </p:blipFill>
        <p:spPr>
          <a:xfrm>
            <a:off x="8410834" y="3006730"/>
            <a:ext cx="277612" cy="277612"/>
          </a:xfrm>
          <a:prstGeom prst="rect">
            <a:avLst/>
          </a:prstGeom>
        </p:spPr>
      </p:pic>
      <p:sp>
        <p:nvSpPr>
          <p:cNvPr id="29" name="Text 24"/>
          <p:cNvSpPr/>
          <p:nvPr/>
        </p:nvSpPr>
        <p:spPr>
          <a:xfrm>
            <a:off x="8970264" y="2862072"/>
            <a:ext cx="2423160" cy="548640"/>
          </a:xfrm>
          <a:prstGeom prst="rect">
            <a:avLst/>
          </a:prstGeom>
          <a:noFill/>
          <a:ln/>
        </p:spPr>
        <p:txBody>
          <a:bodyPr wrap="square" lIns="0" tIns="0" rIns="0" bIns="0" rtlCol="0" anchor="ctr"/>
          <a:lstStyle/>
          <a:p>
            <a:pPr marL="0" indent="0">
              <a:buNone/>
            </a:pPr>
            <a:r>
              <a:rPr lang="en-US" sz="1500" b="1" dirty="0">
                <a:solidFill>
                  <a:srgbClr val="16293A"/>
                </a:solidFill>
                <a:latin typeface="Arial" pitchFamily="34" charset="0"/>
                <a:ea typeface="Arial" pitchFamily="34" charset="-122"/>
                <a:cs typeface="Arial" pitchFamily="34" charset="-120"/>
              </a:rPr>
              <a:t>Trip Schedule</a:t>
            </a:r>
            <a:endParaRPr lang="en-US" sz="1500" dirty="0"/>
          </a:p>
        </p:txBody>
      </p:sp>
      <p:sp>
        <p:nvSpPr>
          <p:cNvPr id="30" name="Text 25"/>
          <p:cNvSpPr/>
          <p:nvPr/>
        </p:nvSpPr>
        <p:spPr>
          <a:xfrm>
            <a:off x="8266176" y="3520440"/>
            <a:ext cx="3063240" cy="548640"/>
          </a:xfrm>
          <a:prstGeom prst="rect">
            <a:avLst/>
          </a:prstGeom>
          <a:noFill/>
          <a:ln/>
        </p:spPr>
        <p:txBody>
          <a:bodyPr wrap="square" lIns="0" tIns="0" rIns="0" bIns="0" rtlCol="0" anchor="ctr"/>
          <a:lstStyle/>
          <a:p>
            <a:pPr marL="0" indent="0">
              <a:lnSpc>
                <a:spcPct val="105000"/>
              </a:lnSpc>
              <a:buNone/>
            </a:pPr>
            <a:r>
              <a:rPr lang="en-US" sz="1150" dirty="0">
                <a:solidFill>
                  <a:srgbClr val="5C6B7A"/>
                </a:solidFill>
                <a:latin typeface="Arial" pitchFamily="34" charset="0"/>
                <a:ea typeface="Arial" pitchFamily="34" charset="-122"/>
                <a:cs typeface="Arial" pitchFamily="34" charset="-120"/>
              </a:rPr>
              <a:t>Demand-driven monthly sailing plan with live room inventory.</a:t>
            </a:r>
            <a:endParaRPr lang="en-US" sz="1150" dirty="0"/>
          </a:p>
        </p:txBody>
      </p:sp>
      <p:sp>
        <p:nvSpPr>
          <p:cNvPr id="31" name="Shape 26"/>
          <p:cNvSpPr/>
          <p:nvPr/>
        </p:nvSpPr>
        <p:spPr>
          <a:xfrm>
            <a:off x="640080" y="4343400"/>
            <a:ext cx="3520440" cy="1554480"/>
          </a:xfrm>
          <a:prstGeom prst="roundRect">
            <a:avLst>
              <a:gd name="adj" fmla="val 588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32" name="Shape 27"/>
          <p:cNvSpPr/>
          <p:nvPr/>
        </p:nvSpPr>
        <p:spPr>
          <a:xfrm>
            <a:off x="877824" y="4581144"/>
            <a:ext cx="603504" cy="603504"/>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33" name="Image 3" descr="preencoded.png"/>
          <p:cNvPicPr>
            <a:picLocks noChangeAspect="1"/>
          </p:cNvPicPr>
          <p:nvPr/>
        </p:nvPicPr>
        <p:blipFill>
          <a:blip r:embed="rId6"/>
          <a:stretch>
            <a:fillRect/>
          </a:stretch>
        </p:blipFill>
        <p:spPr>
          <a:xfrm>
            <a:off x="1040770" y="4744090"/>
            <a:ext cx="277612" cy="277612"/>
          </a:xfrm>
          <a:prstGeom prst="rect">
            <a:avLst/>
          </a:prstGeom>
        </p:spPr>
      </p:pic>
      <p:sp>
        <p:nvSpPr>
          <p:cNvPr id="34" name="Text 28"/>
          <p:cNvSpPr/>
          <p:nvPr/>
        </p:nvSpPr>
        <p:spPr>
          <a:xfrm>
            <a:off x="1600200" y="4599432"/>
            <a:ext cx="2423160" cy="548640"/>
          </a:xfrm>
          <a:prstGeom prst="rect">
            <a:avLst/>
          </a:prstGeom>
          <a:noFill/>
          <a:ln/>
        </p:spPr>
        <p:txBody>
          <a:bodyPr wrap="square" lIns="0" tIns="0" rIns="0" bIns="0" rtlCol="0" anchor="ctr"/>
          <a:lstStyle/>
          <a:p>
            <a:pPr marL="0" indent="0">
              <a:buNone/>
            </a:pPr>
            <a:r>
              <a:rPr lang="en-US" sz="1500" b="1" dirty="0">
                <a:solidFill>
                  <a:srgbClr val="16293A"/>
                </a:solidFill>
                <a:latin typeface="Arial" pitchFamily="34" charset="0"/>
                <a:ea typeface="Arial" pitchFamily="34" charset="-122"/>
                <a:cs typeface="Arial" pitchFamily="34" charset="-120"/>
              </a:rPr>
              <a:t>Reservation Log</a:t>
            </a:r>
            <a:endParaRPr lang="en-US" sz="1500" dirty="0"/>
          </a:p>
        </p:txBody>
      </p:sp>
      <p:sp>
        <p:nvSpPr>
          <p:cNvPr id="35" name="Text 29"/>
          <p:cNvSpPr/>
          <p:nvPr/>
        </p:nvSpPr>
        <p:spPr>
          <a:xfrm>
            <a:off x="896112" y="5257800"/>
            <a:ext cx="3063240" cy="548640"/>
          </a:xfrm>
          <a:prstGeom prst="rect">
            <a:avLst/>
          </a:prstGeom>
          <a:noFill/>
          <a:ln/>
        </p:spPr>
        <p:txBody>
          <a:bodyPr wrap="square" lIns="0" tIns="0" rIns="0" bIns="0" rtlCol="0" anchor="ctr"/>
          <a:lstStyle/>
          <a:p>
            <a:pPr marL="0" indent="0">
              <a:lnSpc>
                <a:spcPct val="105000"/>
              </a:lnSpc>
              <a:buNone/>
            </a:pPr>
            <a:r>
              <a:rPr lang="en-US" sz="1150" dirty="0">
                <a:solidFill>
                  <a:srgbClr val="5C6B7A"/>
                </a:solidFill>
                <a:latin typeface="Arial" pitchFamily="34" charset="0"/>
                <a:ea typeface="Arial" pitchFamily="34" charset="-122"/>
                <a:cs typeface="Arial" pitchFamily="34" charset="-120"/>
              </a:rPr>
              <a:t>Full registry, search / filter, payment status, CSV export.</a:t>
            </a:r>
            <a:endParaRPr lang="en-US" sz="1150" dirty="0"/>
          </a:p>
        </p:txBody>
      </p:sp>
      <p:sp>
        <p:nvSpPr>
          <p:cNvPr id="36" name="Shape 30"/>
          <p:cNvSpPr/>
          <p:nvPr/>
        </p:nvSpPr>
        <p:spPr>
          <a:xfrm>
            <a:off x="4325112" y="4343400"/>
            <a:ext cx="3520440" cy="1554480"/>
          </a:xfrm>
          <a:prstGeom prst="roundRect">
            <a:avLst>
              <a:gd name="adj" fmla="val 588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37" name="Shape 31"/>
          <p:cNvSpPr/>
          <p:nvPr/>
        </p:nvSpPr>
        <p:spPr>
          <a:xfrm>
            <a:off x="4562856" y="4581144"/>
            <a:ext cx="603504" cy="603504"/>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38" name="Image 4" descr="preencoded.png"/>
          <p:cNvPicPr>
            <a:picLocks noChangeAspect="1"/>
          </p:cNvPicPr>
          <p:nvPr/>
        </p:nvPicPr>
        <p:blipFill>
          <a:blip r:embed="rId7"/>
          <a:stretch>
            <a:fillRect/>
          </a:stretch>
        </p:blipFill>
        <p:spPr>
          <a:xfrm>
            <a:off x="4725802" y="4744090"/>
            <a:ext cx="277612" cy="277612"/>
          </a:xfrm>
          <a:prstGeom prst="rect">
            <a:avLst/>
          </a:prstGeom>
        </p:spPr>
      </p:pic>
      <p:sp>
        <p:nvSpPr>
          <p:cNvPr id="39" name="Text 32"/>
          <p:cNvSpPr/>
          <p:nvPr/>
        </p:nvSpPr>
        <p:spPr>
          <a:xfrm>
            <a:off x="5285232" y="4599432"/>
            <a:ext cx="2423160" cy="548640"/>
          </a:xfrm>
          <a:prstGeom prst="rect">
            <a:avLst/>
          </a:prstGeom>
          <a:noFill/>
          <a:ln/>
        </p:spPr>
        <p:txBody>
          <a:bodyPr wrap="square" lIns="0" tIns="0" rIns="0" bIns="0" rtlCol="0" anchor="ctr"/>
          <a:lstStyle/>
          <a:p>
            <a:pPr marL="0" indent="0">
              <a:buNone/>
            </a:pPr>
            <a:r>
              <a:rPr lang="en-US" sz="1500" b="1" dirty="0">
                <a:solidFill>
                  <a:srgbClr val="16293A"/>
                </a:solidFill>
                <a:latin typeface="Arial" pitchFamily="34" charset="0"/>
                <a:ea typeface="Arial" pitchFamily="34" charset="-122"/>
                <a:cs typeface="Arial" pitchFamily="34" charset="-120"/>
              </a:rPr>
              <a:t>Log Analytics</a:t>
            </a:r>
            <a:endParaRPr lang="en-US" sz="1500" dirty="0"/>
          </a:p>
        </p:txBody>
      </p:sp>
      <p:sp>
        <p:nvSpPr>
          <p:cNvPr id="40" name="Text 33"/>
          <p:cNvSpPr/>
          <p:nvPr/>
        </p:nvSpPr>
        <p:spPr>
          <a:xfrm>
            <a:off x="4581144" y="5257800"/>
            <a:ext cx="3063240" cy="548640"/>
          </a:xfrm>
          <a:prstGeom prst="rect">
            <a:avLst/>
          </a:prstGeom>
          <a:noFill/>
          <a:ln/>
        </p:spPr>
        <p:txBody>
          <a:bodyPr wrap="square" lIns="0" tIns="0" rIns="0" bIns="0" rtlCol="0" anchor="ctr"/>
          <a:lstStyle/>
          <a:p>
            <a:pPr marL="0" indent="0">
              <a:lnSpc>
                <a:spcPct val="105000"/>
              </a:lnSpc>
              <a:buNone/>
            </a:pPr>
            <a:r>
              <a:rPr lang="en-US" sz="1150" dirty="0">
                <a:solidFill>
                  <a:srgbClr val="5C6B7A"/>
                </a:solidFill>
                <a:latin typeface="Arial" pitchFamily="34" charset="0"/>
                <a:ea typeface="Arial" pitchFamily="34" charset="-122"/>
                <a:cs typeface="Arial" pitchFamily="34" charset="-120"/>
              </a:rPr>
              <a:t>KPIs, revenue, demand, utilization, weekday, Pareto.</a:t>
            </a:r>
            <a:endParaRPr lang="en-US" sz="1150" dirty="0"/>
          </a:p>
        </p:txBody>
      </p:sp>
      <p:sp>
        <p:nvSpPr>
          <p:cNvPr id="41" name="Shape 34"/>
          <p:cNvSpPr/>
          <p:nvPr/>
        </p:nvSpPr>
        <p:spPr>
          <a:xfrm>
            <a:off x="8010144" y="4343400"/>
            <a:ext cx="3520440" cy="1554480"/>
          </a:xfrm>
          <a:prstGeom prst="roundRect">
            <a:avLst>
              <a:gd name="adj" fmla="val 588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42" name="Shape 35"/>
          <p:cNvSpPr/>
          <p:nvPr/>
        </p:nvSpPr>
        <p:spPr>
          <a:xfrm>
            <a:off x="8247888" y="4581144"/>
            <a:ext cx="603504" cy="603504"/>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43" name="Image 5" descr="preencoded.png"/>
          <p:cNvPicPr>
            <a:picLocks noChangeAspect="1"/>
          </p:cNvPicPr>
          <p:nvPr/>
        </p:nvPicPr>
        <p:blipFill>
          <a:blip r:embed="rId8"/>
          <a:stretch>
            <a:fillRect/>
          </a:stretch>
        </p:blipFill>
        <p:spPr>
          <a:xfrm>
            <a:off x="8410834" y="4744090"/>
            <a:ext cx="277612" cy="277612"/>
          </a:xfrm>
          <a:prstGeom prst="rect">
            <a:avLst/>
          </a:prstGeom>
        </p:spPr>
      </p:pic>
      <p:sp>
        <p:nvSpPr>
          <p:cNvPr id="44" name="Text 36"/>
          <p:cNvSpPr/>
          <p:nvPr/>
        </p:nvSpPr>
        <p:spPr>
          <a:xfrm>
            <a:off x="8970264" y="4599432"/>
            <a:ext cx="2423160" cy="548640"/>
          </a:xfrm>
          <a:prstGeom prst="rect">
            <a:avLst/>
          </a:prstGeom>
          <a:noFill/>
          <a:ln/>
        </p:spPr>
        <p:txBody>
          <a:bodyPr wrap="square" lIns="0" tIns="0" rIns="0" bIns="0" rtlCol="0" anchor="ctr"/>
          <a:lstStyle/>
          <a:p>
            <a:pPr marL="0" indent="0">
              <a:buNone/>
            </a:pPr>
            <a:r>
              <a:rPr lang="en-US" sz="1500" b="1" dirty="0">
                <a:solidFill>
                  <a:srgbClr val="16293A"/>
                </a:solidFill>
                <a:latin typeface="Arial" pitchFamily="34" charset="0"/>
                <a:ea typeface="Arial" pitchFamily="34" charset="-122"/>
                <a:cs typeface="Arial" pitchFamily="34" charset="-120"/>
              </a:rPr>
              <a:t>Cost &amp; Forecast</a:t>
            </a:r>
            <a:endParaRPr lang="en-US" sz="1500" dirty="0"/>
          </a:p>
        </p:txBody>
      </p:sp>
      <p:sp>
        <p:nvSpPr>
          <p:cNvPr id="45" name="Text 37"/>
          <p:cNvSpPr/>
          <p:nvPr/>
        </p:nvSpPr>
        <p:spPr>
          <a:xfrm>
            <a:off x="8266176" y="5257800"/>
            <a:ext cx="3063240" cy="548640"/>
          </a:xfrm>
          <a:prstGeom prst="rect">
            <a:avLst/>
          </a:prstGeom>
          <a:noFill/>
          <a:ln/>
        </p:spPr>
        <p:txBody>
          <a:bodyPr wrap="square" lIns="0" tIns="0" rIns="0" bIns="0" rtlCol="0" anchor="ctr"/>
          <a:lstStyle/>
          <a:p>
            <a:pPr marL="0" indent="0">
              <a:lnSpc>
                <a:spcPct val="105000"/>
              </a:lnSpc>
              <a:buNone/>
            </a:pPr>
            <a:r>
              <a:rPr lang="en-US" sz="1150" dirty="0">
                <a:solidFill>
                  <a:srgbClr val="5C6B7A"/>
                </a:solidFill>
                <a:latin typeface="Arial" pitchFamily="34" charset="0"/>
                <a:ea typeface="Arial" pitchFamily="34" charset="-122"/>
                <a:cs typeface="Arial" pitchFamily="34" charset="-120"/>
              </a:rPr>
              <a:t>Commission-savings model plus revenue &amp; demand forecasts.</a:t>
            </a:r>
            <a:endParaRPr lang="en-US" sz="1150" dirty="0"/>
          </a:p>
        </p:txBody>
      </p:sp>
      <p:sp>
        <p:nvSpPr>
          <p:cNvPr id="46" name="Text 38"/>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47" name="Text 39"/>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LOG ANALYTICS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Turning the log into decisions</a:t>
            </a:r>
            <a:endParaRPr lang="en-US" sz="3000" dirty="0"/>
          </a:p>
        </p:txBody>
      </p:sp>
      <p:sp>
        <p:nvSpPr>
          <p:cNvPr id="4" name="Text 2"/>
          <p:cNvSpPr/>
          <p:nvPr/>
        </p:nvSpPr>
        <p:spPr>
          <a:xfrm>
            <a:off x="685800" y="1554480"/>
            <a:ext cx="5303520" cy="320040"/>
          </a:xfrm>
          <a:prstGeom prst="rect">
            <a:avLst/>
          </a:prstGeom>
          <a:noFill/>
          <a:ln/>
        </p:spPr>
        <p:txBody>
          <a:bodyPr wrap="square" lIns="0" tIns="0" rIns="0" bIns="0" rtlCol="0" anchor="ctr"/>
          <a:lstStyle/>
          <a:p>
            <a:pPr marL="0" indent="0">
              <a:buNone/>
            </a:pPr>
            <a:r>
              <a:rPr lang="en-US" sz="1400" b="1" dirty="0">
                <a:solidFill>
                  <a:srgbClr val="16293A"/>
                </a:solidFill>
                <a:latin typeface="Arial" pitchFamily="34" charset="0"/>
                <a:ea typeface="Arial" pitchFamily="34" charset="-122"/>
                <a:cs typeface="Arial" pitchFamily="34" charset="-120"/>
              </a:rPr>
              <a:t>Revenue by ship</a:t>
            </a:r>
            <a:endParaRPr lang="en-US" sz="1400" dirty="0"/>
          </a:p>
        </p:txBody>
      </p:sp>
      <p:graphicFrame>
        <p:nvGraphicFramePr>
          <p:cNvPr id="5" name="Chart 0"/>
          <p:cNvGraphicFramePr/>
          <p:nvPr/>
        </p:nvGraphicFramePr>
        <p:xfrm>
          <a:off x="548640" y="1874520"/>
          <a:ext cx="54864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400800" y="1554480"/>
            <a:ext cx="5303520" cy="320040"/>
          </a:xfrm>
          <a:prstGeom prst="rect">
            <a:avLst/>
          </a:prstGeom>
          <a:noFill/>
          <a:ln/>
        </p:spPr>
        <p:txBody>
          <a:bodyPr wrap="square" lIns="0" tIns="0" rIns="0" bIns="0" rtlCol="0" anchor="ctr"/>
          <a:lstStyle/>
          <a:p>
            <a:pPr marL="0" indent="0">
              <a:buNone/>
            </a:pPr>
            <a:r>
              <a:rPr lang="en-US" sz="1400" b="1" dirty="0">
                <a:solidFill>
                  <a:srgbClr val="16293A"/>
                </a:solidFill>
                <a:latin typeface="Arial" pitchFamily="34" charset="0"/>
                <a:ea typeface="Arial" pitchFamily="34" charset="-122"/>
                <a:cs typeface="Arial" pitchFamily="34" charset="-120"/>
              </a:rPr>
              <a:t>Top destinations by revenue</a:t>
            </a:r>
            <a:endParaRPr lang="en-US" sz="1400" dirty="0"/>
          </a:p>
        </p:txBody>
      </p:sp>
      <p:graphicFrame>
        <p:nvGraphicFramePr>
          <p:cNvPr id="7" name="Chart 1"/>
          <p:cNvGraphicFramePr/>
          <p:nvPr/>
        </p:nvGraphicFramePr>
        <p:xfrm>
          <a:off x="6263640" y="1874520"/>
          <a:ext cx="557784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9" name="Text 5"/>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FORECASTING</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Two models, each matched to its target</a:t>
            </a:r>
            <a:endParaRPr lang="en-US" sz="3000" dirty="0"/>
          </a:p>
        </p:txBody>
      </p:sp>
      <p:sp>
        <p:nvSpPr>
          <p:cNvPr id="4" name="Text 2"/>
          <p:cNvSpPr/>
          <p:nvPr/>
        </p:nvSpPr>
        <p:spPr>
          <a:xfrm>
            <a:off x="685800" y="1508760"/>
            <a:ext cx="7315200" cy="320040"/>
          </a:xfrm>
          <a:prstGeom prst="rect">
            <a:avLst/>
          </a:prstGeom>
          <a:noFill/>
          <a:ln/>
        </p:spPr>
        <p:txBody>
          <a:bodyPr wrap="square" lIns="0" tIns="0" rIns="0" bIns="0" rtlCol="0" anchor="ctr"/>
          <a:lstStyle/>
          <a:p>
            <a:pPr marL="0" indent="0">
              <a:buNone/>
            </a:pPr>
            <a:r>
              <a:rPr lang="en-US" sz="1350" b="1" dirty="0">
                <a:solidFill>
                  <a:srgbClr val="16293A"/>
                </a:solidFill>
                <a:latin typeface="Arial" pitchFamily="34" charset="0"/>
                <a:ea typeface="Arial" pitchFamily="34" charset="-122"/>
                <a:cs typeface="Arial" pitchFamily="34" charset="-120"/>
              </a:rPr>
              <a:t>Monthly demand shows clear seasonality (the model's signal)</a:t>
            </a:r>
            <a:endParaRPr lang="en-US" sz="1350" dirty="0"/>
          </a:p>
        </p:txBody>
      </p:sp>
      <p:graphicFrame>
        <p:nvGraphicFramePr>
          <p:cNvPr id="5" name="Chart 0"/>
          <p:cNvGraphicFramePr/>
          <p:nvPr/>
        </p:nvGraphicFramePr>
        <p:xfrm>
          <a:off x="548640" y="1828800"/>
          <a:ext cx="649224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269480" y="1874520"/>
            <a:ext cx="4297680" cy="1920240"/>
          </a:xfrm>
          <a:prstGeom prst="roundRect">
            <a:avLst>
              <a:gd name="adj" fmla="val 476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7" name="Shape 4"/>
          <p:cNvSpPr/>
          <p:nvPr/>
        </p:nvSpPr>
        <p:spPr>
          <a:xfrm>
            <a:off x="7498080" y="2130552"/>
            <a:ext cx="621792" cy="621792"/>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8" name="Image 0" descr="preencoded.png"/>
          <p:cNvPicPr>
            <a:picLocks noChangeAspect="1"/>
          </p:cNvPicPr>
          <p:nvPr/>
        </p:nvPicPr>
        <p:blipFill>
          <a:blip r:embed="rId4"/>
          <a:stretch>
            <a:fillRect/>
          </a:stretch>
        </p:blipFill>
        <p:spPr>
          <a:xfrm>
            <a:off x="7665964" y="2298436"/>
            <a:ext cx="286024" cy="286024"/>
          </a:xfrm>
          <a:prstGeom prst="rect">
            <a:avLst/>
          </a:prstGeom>
        </p:spPr>
      </p:pic>
      <p:sp>
        <p:nvSpPr>
          <p:cNvPr id="9" name="Text 5"/>
          <p:cNvSpPr/>
          <p:nvPr/>
        </p:nvSpPr>
        <p:spPr>
          <a:xfrm>
            <a:off x="8275320" y="2148840"/>
            <a:ext cx="3108960" cy="548640"/>
          </a:xfrm>
          <a:prstGeom prst="rect">
            <a:avLst/>
          </a:prstGeom>
          <a:noFill/>
          <a:ln/>
        </p:spPr>
        <p:txBody>
          <a:bodyPr wrap="square" lIns="0" tIns="0" rIns="0" bIns="0" rtlCol="0" anchor="ctr"/>
          <a:lstStyle/>
          <a:p>
            <a:pPr marL="0" indent="0">
              <a:buNone/>
            </a:pPr>
            <a:r>
              <a:rPr lang="en-US" sz="1600" b="1" dirty="0">
                <a:solidFill>
                  <a:srgbClr val="16293A"/>
                </a:solidFill>
                <a:latin typeface="Arial" pitchFamily="34" charset="0"/>
                <a:ea typeface="Arial" pitchFamily="34" charset="-122"/>
                <a:cs typeface="Arial" pitchFamily="34" charset="-120"/>
              </a:rPr>
              <a:t>Revenue</a:t>
            </a:r>
            <a:endParaRPr lang="en-US" sz="1600" dirty="0"/>
          </a:p>
        </p:txBody>
      </p:sp>
      <p:sp>
        <p:nvSpPr>
          <p:cNvPr id="10" name="Text 6"/>
          <p:cNvSpPr/>
          <p:nvPr/>
        </p:nvSpPr>
        <p:spPr>
          <a:xfrm>
            <a:off x="7516368" y="2834640"/>
            <a:ext cx="3886200" cy="868680"/>
          </a:xfrm>
          <a:prstGeom prst="rect">
            <a:avLst/>
          </a:prstGeom>
          <a:noFill/>
          <a:ln/>
        </p:spPr>
        <p:txBody>
          <a:bodyPr wrap="square" lIns="0" tIns="0" rIns="0" bIns="0" rtlCol="0" anchor="ctr"/>
          <a:lstStyle/>
          <a:p>
            <a:pPr marL="0" indent="0">
              <a:lnSpc>
                <a:spcPct val="112000"/>
              </a:lnSpc>
              <a:buNone/>
            </a:pPr>
            <a:r>
              <a:rPr lang="en-US" sz="1250" dirty="0">
                <a:solidFill>
                  <a:srgbClr val="5C6B7A"/>
                </a:solidFill>
                <a:latin typeface="Arial" pitchFamily="34" charset="0"/>
                <a:ea typeface="Arial" pitchFamily="34" charset="-122"/>
                <a:cs typeface="Arial" pitchFamily="34" charset="-120"/>
              </a:rPr>
              <a:t>Multiple linear regression: time trend + seasonality + vacation &amp; school-break dummies.</a:t>
            </a:r>
            <a:endParaRPr lang="en-US" sz="1250" dirty="0"/>
          </a:p>
        </p:txBody>
      </p:sp>
      <p:sp>
        <p:nvSpPr>
          <p:cNvPr id="11" name="Shape 7"/>
          <p:cNvSpPr/>
          <p:nvPr/>
        </p:nvSpPr>
        <p:spPr>
          <a:xfrm>
            <a:off x="7269480" y="4023360"/>
            <a:ext cx="4297680" cy="1920240"/>
          </a:xfrm>
          <a:prstGeom prst="roundRect">
            <a:avLst>
              <a:gd name="adj" fmla="val 4762"/>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2" name="Shape 8"/>
          <p:cNvSpPr/>
          <p:nvPr/>
        </p:nvSpPr>
        <p:spPr>
          <a:xfrm>
            <a:off x="7498080" y="4279392"/>
            <a:ext cx="621792" cy="621792"/>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3" name="Image 1" descr="preencoded.png"/>
          <p:cNvPicPr>
            <a:picLocks noChangeAspect="1"/>
          </p:cNvPicPr>
          <p:nvPr/>
        </p:nvPicPr>
        <p:blipFill>
          <a:blip r:embed="rId5"/>
          <a:stretch>
            <a:fillRect/>
          </a:stretch>
        </p:blipFill>
        <p:spPr>
          <a:xfrm>
            <a:off x="7665964" y="4447276"/>
            <a:ext cx="286024" cy="286024"/>
          </a:xfrm>
          <a:prstGeom prst="rect">
            <a:avLst/>
          </a:prstGeom>
        </p:spPr>
      </p:pic>
      <p:sp>
        <p:nvSpPr>
          <p:cNvPr id="14" name="Text 9"/>
          <p:cNvSpPr/>
          <p:nvPr/>
        </p:nvSpPr>
        <p:spPr>
          <a:xfrm>
            <a:off x="8275320" y="4297680"/>
            <a:ext cx="3108960" cy="548640"/>
          </a:xfrm>
          <a:prstGeom prst="rect">
            <a:avLst/>
          </a:prstGeom>
          <a:noFill/>
          <a:ln/>
        </p:spPr>
        <p:txBody>
          <a:bodyPr wrap="square" lIns="0" tIns="0" rIns="0" bIns="0" rtlCol="0" anchor="ctr"/>
          <a:lstStyle/>
          <a:p>
            <a:pPr marL="0" indent="0">
              <a:buNone/>
            </a:pPr>
            <a:r>
              <a:rPr lang="en-US" sz="1600" b="1" dirty="0">
                <a:solidFill>
                  <a:srgbClr val="16293A"/>
                </a:solidFill>
                <a:latin typeface="Arial" pitchFamily="34" charset="0"/>
                <a:ea typeface="Arial" pitchFamily="34" charset="-122"/>
                <a:cs typeface="Arial" pitchFamily="34" charset="-120"/>
              </a:rPr>
              <a:t>Demand</a:t>
            </a:r>
            <a:endParaRPr lang="en-US" sz="1600" dirty="0"/>
          </a:p>
        </p:txBody>
      </p:sp>
      <p:sp>
        <p:nvSpPr>
          <p:cNvPr id="15" name="Text 10"/>
          <p:cNvSpPr/>
          <p:nvPr/>
        </p:nvSpPr>
        <p:spPr>
          <a:xfrm>
            <a:off x="7516368" y="4983480"/>
            <a:ext cx="3886200" cy="868680"/>
          </a:xfrm>
          <a:prstGeom prst="rect">
            <a:avLst/>
          </a:prstGeom>
          <a:noFill/>
          <a:ln/>
        </p:spPr>
        <p:txBody>
          <a:bodyPr wrap="square" lIns="0" tIns="0" rIns="0" bIns="0" rtlCol="0" anchor="ctr"/>
          <a:lstStyle/>
          <a:p>
            <a:pPr marL="0" indent="0">
              <a:lnSpc>
                <a:spcPct val="112000"/>
              </a:lnSpc>
              <a:buNone/>
            </a:pPr>
            <a:r>
              <a:rPr lang="en-US" sz="1250" dirty="0">
                <a:solidFill>
                  <a:srgbClr val="5C6B7A"/>
                </a:solidFill>
                <a:latin typeface="Arial" pitchFamily="34" charset="0"/>
                <a:ea typeface="Arial" pitchFamily="34" charset="-122"/>
                <a:cs typeface="Arial" pitchFamily="34" charset="-120"/>
              </a:rPr>
              <a:t>Multiplicative seasonal decomposition (ratio-to-average) with a linear trend, forecast through December.</a:t>
            </a:r>
            <a:endParaRPr lang="en-US" sz="1250" dirty="0"/>
          </a:p>
        </p:txBody>
      </p:sp>
      <p:sp>
        <p:nvSpPr>
          <p:cNvPr id="16" name="Text 11"/>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17" name="Text 12"/>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COST &amp; SAVINGS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Turning a cost into recurring savings</a:t>
            </a:r>
            <a:endParaRPr lang="en-US" sz="3000" dirty="0"/>
          </a:p>
        </p:txBody>
      </p:sp>
      <p:sp>
        <p:nvSpPr>
          <p:cNvPr id="4" name="Shape 2"/>
          <p:cNvSpPr/>
          <p:nvPr/>
        </p:nvSpPr>
        <p:spPr>
          <a:xfrm>
            <a:off x="640080" y="1600200"/>
            <a:ext cx="3429000" cy="1600200"/>
          </a:xfrm>
          <a:prstGeom prst="roundRect">
            <a:avLst>
              <a:gd name="adj" fmla="val 5714"/>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5" name="Text 3"/>
          <p:cNvSpPr/>
          <p:nvPr/>
        </p:nvSpPr>
        <p:spPr>
          <a:xfrm>
            <a:off x="731520" y="1755648"/>
            <a:ext cx="3246120" cy="822960"/>
          </a:xfrm>
          <a:prstGeom prst="rect">
            <a:avLst/>
          </a:prstGeom>
          <a:noFill/>
          <a:ln/>
        </p:spPr>
        <p:txBody>
          <a:bodyPr wrap="square" lIns="0" tIns="0" rIns="0" bIns="0" rtlCol="0" anchor="ctr"/>
          <a:lstStyle/>
          <a:p>
            <a:pPr marL="0" indent="0" algn="ctr">
              <a:buNone/>
            </a:pPr>
            <a:r>
              <a:rPr lang="en-US" sz="4000" b="1" dirty="0">
                <a:solidFill>
                  <a:srgbClr val="E0A82E"/>
                </a:solidFill>
                <a:latin typeface="Arial" pitchFamily="34" charset="0"/>
                <a:ea typeface="Arial" pitchFamily="34" charset="-122"/>
                <a:cs typeface="Arial" pitchFamily="34" charset="-120"/>
              </a:rPr>
              <a:t>~$11M</a:t>
            </a:r>
            <a:endParaRPr lang="en-US" sz="4000" dirty="0"/>
          </a:p>
        </p:txBody>
      </p:sp>
      <p:sp>
        <p:nvSpPr>
          <p:cNvPr id="6" name="Text 4"/>
          <p:cNvSpPr/>
          <p:nvPr/>
        </p:nvSpPr>
        <p:spPr>
          <a:xfrm>
            <a:off x="822960" y="2651760"/>
            <a:ext cx="3063240" cy="411480"/>
          </a:xfrm>
          <a:prstGeom prst="rect">
            <a:avLst/>
          </a:prstGeom>
          <a:noFill/>
          <a:ln/>
        </p:spPr>
        <p:txBody>
          <a:bodyPr wrap="square" lIns="0" tIns="0" rIns="0" bIns="0" rtlCol="0" anchor="ctr"/>
          <a:lstStyle/>
          <a:p>
            <a:pPr marL="0" indent="0" algn="ctr">
              <a:buNone/>
            </a:pPr>
            <a:r>
              <a:rPr lang="en-US" sz="1300" dirty="0">
                <a:solidFill>
                  <a:srgbClr val="16293A"/>
                </a:solidFill>
                <a:latin typeface="Arial" pitchFamily="34" charset="0"/>
                <a:ea typeface="Arial" pitchFamily="34" charset="-122"/>
                <a:cs typeface="Arial" pitchFamily="34" charset="-120"/>
              </a:rPr>
              <a:t>Commissions paid today</a:t>
            </a:r>
            <a:endParaRPr lang="en-US" sz="1300" dirty="0"/>
          </a:p>
        </p:txBody>
      </p:sp>
      <p:sp>
        <p:nvSpPr>
          <p:cNvPr id="7" name="Shape 5"/>
          <p:cNvSpPr/>
          <p:nvPr/>
        </p:nvSpPr>
        <p:spPr>
          <a:xfrm>
            <a:off x="4343400" y="1600200"/>
            <a:ext cx="3429000" cy="1600200"/>
          </a:xfrm>
          <a:prstGeom prst="roundRect">
            <a:avLst>
              <a:gd name="adj" fmla="val 5714"/>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8" name="Text 6"/>
          <p:cNvSpPr/>
          <p:nvPr/>
        </p:nvSpPr>
        <p:spPr>
          <a:xfrm>
            <a:off x="4434840" y="1755648"/>
            <a:ext cx="3246120" cy="822960"/>
          </a:xfrm>
          <a:prstGeom prst="rect">
            <a:avLst/>
          </a:prstGeom>
          <a:noFill/>
          <a:ln/>
        </p:spPr>
        <p:txBody>
          <a:bodyPr wrap="square" lIns="0" tIns="0" rIns="0" bIns="0" rtlCol="0" anchor="ctr"/>
          <a:lstStyle/>
          <a:p>
            <a:pPr marL="0" indent="0" algn="ctr">
              <a:buNone/>
            </a:pPr>
            <a:r>
              <a:rPr lang="en-US" sz="4000" b="1" dirty="0">
                <a:solidFill>
                  <a:srgbClr val="0E7C86"/>
                </a:solidFill>
                <a:latin typeface="Arial" pitchFamily="34" charset="0"/>
                <a:ea typeface="Arial" pitchFamily="34" charset="-122"/>
                <a:cs typeface="Arial" pitchFamily="34" charset="-120"/>
              </a:rPr>
              <a:t>50%</a:t>
            </a:r>
            <a:endParaRPr lang="en-US" sz="4000" dirty="0"/>
          </a:p>
        </p:txBody>
      </p:sp>
      <p:sp>
        <p:nvSpPr>
          <p:cNvPr id="9" name="Text 7"/>
          <p:cNvSpPr/>
          <p:nvPr/>
        </p:nvSpPr>
        <p:spPr>
          <a:xfrm>
            <a:off x="4526280" y="2651760"/>
            <a:ext cx="3063240" cy="411480"/>
          </a:xfrm>
          <a:prstGeom prst="rect">
            <a:avLst/>
          </a:prstGeom>
          <a:noFill/>
          <a:ln/>
        </p:spPr>
        <p:txBody>
          <a:bodyPr wrap="square" lIns="0" tIns="0" rIns="0" bIns="0" rtlCol="0" anchor="ctr"/>
          <a:lstStyle/>
          <a:p>
            <a:pPr marL="0" indent="0" algn="ctr">
              <a:buNone/>
            </a:pPr>
            <a:r>
              <a:rPr lang="en-US" sz="1300" dirty="0">
                <a:solidFill>
                  <a:srgbClr val="16293A"/>
                </a:solidFill>
                <a:latin typeface="Arial" pitchFamily="34" charset="0"/>
                <a:ea typeface="Arial" pitchFamily="34" charset="-122"/>
                <a:cs typeface="Arial" pitchFamily="34" charset="-120"/>
              </a:rPr>
              <a:t>Target in-house capture</a:t>
            </a:r>
            <a:endParaRPr lang="en-US" sz="1300" dirty="0"/>
          </a:p>
        </p:txBody>
      </p:sp>
      <p:sp>
        <p:nvSpPr>
          <p:cNvPr id="10" name="Shape 8"/>
          <p:cNvSpPr/>
          <p:nvPr/>
        </p:nvSpPr>
        <p:spPr>
          <a:xfrm>
            <a:off x="8046720" y="1600200"/>
            <a:ext cx="3429000" cy="1600200"/>
          </a:xfrm>
          <a:prstGeom prst="roundRect">
            <a:avLst>
              <a:gd name="adj" fmla="val 5714"/>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1" name="Text 9"/>
          <p:cNvSpPr/>
          <p:nvPr/>
        </p:nvSpPr>
        <p:spPr>
          <a:xfrm>
            <a:off x="8138160" y="1755648"/>
            <a:ext cx="3246120" cy="822960"/>
          </a:xfrm>
          <a:prstGeom prst="rect">
            <a:avLst/>
          </a:prstGeom>
          <a:noFill/>
          <a:ln/>
        </p:spPr>
        <p:txBody>
          <a:bodyPr wrap="square" lIns="0" tIns="0" rIns="0" bIns="0" rtlCol="0" anchor="ctr"/>
          <a:lstStyle/>
          <a:p>
            <a:pPr marL="0" indent="0" algn="ctr">
              <a:buNone/>
            </a:pPr>
            <a:r>
              <a:rPr lang="en-US" sz="4000" b="1" dirty="0">
                <a:solidFill>
                  <a:srgbClr val="0B2D4D"/>
                </a:solidFill>
                <a:latin typeface="Arial" pitchFamily="34" charset="0"/>
                <a:ea typeface="Arial" pitchFamily="34" charset="-122"/>
                <a:cs typeface="Arial" pitchFamily="34" charset="-120"/>
              </a:rPr>
              <a:t>$4M–$5M</a:t>
            </a:r>
            <a:endParaRPr lang="en-US" sz="4000" dirty="0"/>
          </a:p>
        </p:txBody>
      </p:sp>
      <p:sp>
        <p:nvSpPr>
          <p:cNvPr id="12" name="Text 10"/>
          <p:cNvSpPr/>
          <p:nvPr/>
        </p:nvSpPr>
        <p:spPr>
          <a:xfrm>
            <a:off x="8229600" y="2651760"/>
            <a:ext cx="3063240" cy="411480"/>
          </a:xfrm>
          <a:prstGeom prst="rect">
            <a:avLst/>
          </a:prstGeom>
          <a:noFill/>
          <a:ln/>
        </p:spPr>
        <p:txBody>
          <a:bodyPr wrap="square" lIns="0" tIns="0" rIns="0" bIns="0" rtlCol="0" anchor="ctr"/>
          <a:lstStyle/>
          <a:p>
            <a:pPr marL="0" indent="0" algn="ctr">
              <a:buNone/>
            </a:pPr>
            <a:r>
              <a:rPr lang="en-US" sz="1300" dirty="0">
                <a:solidFill>
                  <a:srgbClr val="16293A"/>
                </a:solidFill>
                <a:latin typeface="Arial" pitchFamily="34" charset="0"/>
                <a:ea typeface="Arial" pitchFamily="34" charset="-122"/>
                <a:cs typeface="Arial" pitchFamily="34" charset="-120"/>
              </a:rPr>
              <a:t>Projected annual savings</a:t>
            </a:r>
            <a:endParaRPr lang="en-US" sz="1300" dirty="0"/>
          </a:p>
        </p:txBody>
      </p:sp>
      <p:sp>
        <p:nvSpPr>
          <p:cNvPr id="13" name="Text 11"/>
          <p:cNvSpPr/>
          <p:nvPr/>
        </p:nvSpPr>
        <p:spPr>
          <a:xfrm>
            <a:off x="685800" y="3383280"/>
            <a:ext cx="5486400" cy="320040"/>
          </a:xfrm>
          <a:prstGeom prst="rect">
            <a:avLst/>
          </a:prstGeom>
          <a:noFill/>
          <a:ln/>
        </p:spPr>
        <p:txBody>
          <a:bodyPr wrap="square" lIns="0" tIns="0" rIns="0" bIns="0" rtlCol="0" anchor="ctr"/>
          <a:lstStyle/>
          <a:p>
            <a:pPr marL="0" indent="0">
              <a:buNone/>
            </a:pPr>
            <a:r>
              <a:rPr lang="en-US" sz="1350" b="1" dirty="0">
                <a:solidFill>
                  <a:srgbClr val="16293A"/>
                </a:solidFill>
                <a:latin typeface="Arial" pitchFamily="34" charset="0"/>
                <a:ea typeface="Arial" pitchFamily="34" charset="-122"/>
                <a:cs typeface="Arial" pitchFamily="34" charset="-120"/>
              </a:rPr>
              <a:t>Annual commission: today vs in-house capture</a:t>
            </a:r>
            <a:endParaRPr lang="en-US" sz="1350" dirty="0"/>
          </a:p>
        </p:txBody>
      </p:sp>
      <p:graphicFrame>
        <p:nvGraphicFramePr>
          <p:cNvPr id="14" name="Chart 0"/>
          <p:cNvGraphicFramePr/>
          <p:nvPr/>
        </p:nvGraphicFramePr>
        <p:xfrm>
          <a:off x="548640" y="3703320"/>
          <a:ext cx="585216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2"/>
          <p:cNvSpPr/>
          <p:nvPr/>
        </p:nvSpPr>
        <p:spPr>
          <a:xfrm>
            <a:off x="6675120" y="3703320"/>
            <a:ext cx="4892040" cy="2377440"/>
          </a:xfrm>
          <a:prstGeom prst="roundRect">
            <a:avLst>
              <a:gd name="adj" fmla="val 3846"/>
            </a:avLst>
          </a:prstGeom>
          <a:solidFill>
            <a:srgbClr val="0B2D4D"/>
          </a:solidFill>
          <a:ln/>
          <a:effectLst>
            <a:outerShdw blurRad="114300" dist="38100" dir="5400000" algn="bl" rotWithShape="0">
              <a:srgbClr val="0B2D4D">
                <a:alpha val="16000"/>
              </a:srgbClr>
            </a:outerShdw>
          </a:effectLst>
        </p:spPr>
        <p:txBody>
          <a:bodyPr/>
          <a:lstStyle/>
          <a:p>
            <a:endParaRPr lang="en-US"/>
          </a:p>
        </p:txBody>
      </p:sp>
      <p:sp>
        <p:nvSpPr>
          <p:cNvPr id="16" name="Shape 13"/>
          <p:cNvSpPr/>
          <p:nvPr/>
        </p:nvSpPr>
        <p:spPr>
          <a:xfrm>
            <a:off x="6949440" y="3931920"/>
            <a:ext cx="640080" cy="640080"/>
          </a:xfrm>
          <a:prstGeom prst="ellipse">
            <a:avLst/>
          </a:prstGeom>
          <a:solidFill>
            <a:srgbClr val="E0A82E"/>
          </a:solidFill>
          <a:ln/>
          <a:effectLst>
            <a:outerShdw blurRad="88900" dist="25400" dir="5400000" algn="bl" rotWithShape="0">
              <a:srgbClr val="000000">
                <a:alpha val="10000"/>
              </a:srgbClr>
            </a:outerShdw>
          </a:effectLst>
        </p:spPr>
        <p:txBody>
          <a:bodyPr/>
          <a:lstStyle/>
          <a:p>
            <a:endParaRPr lang="en-US"/>
          </a:p>
        </p:txBody>
      </p:sp>
      <p:pic>
        <p:nvPicPr>
          <p:cNvPr id="17" name="Image 0" descr="preencoded.png"/>
          <p:cNvPicPr>
            <a:picLocks noChangeAspect="1"/>
          </p:cNvPicPr>
          <p:nvPr/>
        </p:nvPicPr>
        <p:blipFill>
          <a:blip r:embed="rId4"/>
          <a:stretch>
            <a:fillRect/>
          </a:stretch>
        </p:blipFill>
        <p:spPr>
          <a:xfrm>
            <a:off x="7122262" y="4104742"/>
            <a:ext cx="294437" cy="294437"/>
          </a:xfrm>
          <a:prstGeom prst="rect">
            <a:avLst/>
          </a:prstGeom>
        </p:spPr>
      </p:pic>
      <p:sp>
        <p:nvSpPr>
          <p:cNvPr id="18" name="Text 14"/>
          <p:cNvSpPr/>
          <p:nvPr/>
        </p:nvSpPr>
        <p:spPr>
          <a:xfrm>
            <a:off x="7772400" y="3950208"/>
            <a:ext cx="3657600" cy="5943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A live what-if model</a:t>
            </a:r>
            <a:endParaRPr lang="en-US" sz="1600" dirty="0"/>
          </a:p>
        </p:txBody>
      </p:sp>
      <p:sp>
        <p:nvSpPr>
          <p:cNvPr id="19" name="Text 15"/>
          <p:cNvSpPr/>
          <p:nvPr/>
        </p:nvSpPr>
        <p:spPr>
          <a:xfrm>
            <a:off x="6949440" y="4709160"/>
            <a:ext cx="4343400" cy="1280160"/>
          </a:xfrm>
          <a:prstGeom prst="rect">
            <a:avLst/>
          </a:prstGeom>
          <a:noFill/>
          <a:ln/>
        </p:spPr>
        <p:txBody>
          <a:bodyPr wrap="square" lIns="0" tIns="0" rIns="0" bIns="0" rtlCol="0" anchor="ctr"/>
          <a:lstStyle/>
          <a:p>
            <a:pPr marL="0" indent="0">
              <a:lnSpc>
                <a:spcPct val="115000"/>
              </a:lnSpc>
              <a:buNone/>
            </a:pPr>
            <a:r>
              <a:rPr lang="en-US" sz="1250" dirty="0">
                <a:solidFill>
                  <a:srgbClr val="DCE6EF"/>
                </a:solidFill>
                <a:latin typeface="Arial" pitchFamily="34" charset="0"/>
                <a:ea typeface="Arial" pitchFamily="34" charset="-122"/>
                <a:cs typeface="Arial" pitchFamily="34" charset="-120"/>
              </a:rPr>
              <a:t>Managers slide the in-house capture % and watch projected savings move toward the industry benchmark. Each in-house booking removes its commission and lifts the captured share, so the saving compounds as adoption grows.</a:t>
            </a:r>
            <a:endParaRPr lang="en-US" sz="1250" dirty="0"/>
          </a:p>
        </p:txBody>
      </p:sp>
      <p:sp>
        <p:nvSpPr>
          <p:cNvPr id="20" name="Text 16"/>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21" name="Text 17"/>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WORKED CASE STUDY</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A family of two books Halifax</a:t>
            </a:r>
            <a:endParaRPr lang="en-US" sz="3000" dirty="0"/>
          </a:p>
        </p:txBody>
      </p:sp>
      <p:sp>
        <p:nvSpPr>
          <p:cNvPr id="4" name="Shape 2"/>
          <p:cNvSpPr/>
          <p:nvPr/>
        </p:nvSpPr>
        <p:spPr>
          <a:xfrm>
            <a:off x="640080" y="1554480"/>
            <a:ext cx="10927080" cy="777240"/>
          </a:xfrm>
          <a:prstGeom prst="roundRect">
            <a:avLst>
              <a:gd name="adj" fmla="val 9412"/>
            </a:avLst>
          </a:prstGeom>
          <a:solidFill>
            <a:srgbClr val="EAF1F7"/>
          </a:solidFill>
          <a:ln w="12700">
            <a:solidFill>
              <a:srgbClr val="CFE0EC"/>
            </a:solidFill>
            <a:prstDash val="solid"/>
          </a:ln>
        </p:spPr>
        <p:txBody>
          <a:bodyPr/>
          <a:lstStyle/>
          <a:p>
            <a:endParaRPr lang="en-US"/>
          </a:p>
        </p:txBody>
      </p:sp>
      <p:sp>
        <p:nvSpPr>
          <p:cNvPr id="5" name="Text 3"/>
          <p:cNvSpPr/>
          <p:nvPr/>
        </p:nvSpPr>
        <p:spPr>
          <a:xfrm>
            <a:off x="914400" y="1600200"/>
            <a:ext cx="10424160" cy="685800"/>
          </a:xfrm>
          <a:prstGeom prst="rect">
            <a:avLst/>
          </a:prstGeom>
          <a:noFill/>
          <a:ln/>
        </p:spPr>
        <p:txBody>
          <a:bodyPr wrap="square" lIns="0" tIns="0" rIns="0" bIns="0" rtlCol="0" anchor="ctr"/>
          <a:lstStyle/>
          <a:p>
            <a:pPr marL="0" indent="0">
              <a:buNone/>
            </a:pPr>
            <a:r>
              <a:rPr lang="en-US" sz="1350" b="1" dirty="0">
                <a:solidFill>
                  <a:srgbClr val="0E7C86"/>
                </a:solidFill>
                <a:latin typeface="Arial" pitchFamily="34" charset="0"/>
                <a:ea typeface="Arial" pitchFamily="34" charset="-122"/>
                <a:cs typeface="Arial" pitchFamily="34" charset="-120"/>
              </a:rPr>
              <a:t>Scenario:  </a:t>
            </a:r>
            <a:r>
              <a:rPr lang="en-US" sz="1350" dirty="0">
                <a:solidFill>
                  <a:srgbClr val="16293A"/>
                </a:solidFill>
                <a:latin typeface="Arial" pitchFamily="34" charset="0"/>
                <a:ea typeface="Arial" pitchFamily="34" charset="-122"/>
                <a:cs typeface="Arial" pitchFamily="34" charset="-120"/>
              </a:rPr>
              <a:t>2 guests, 7-night Canada cruise to Halifax aboard Queen Victoria, Interior cabin, Standard fare, round-trip, no add-ons.</a:t>
            </a:r>
            <a:endParaRPr lang="en-US" sz="1350" dirty="0"/>
          </a:p>
        </p:txBody>
      </p:sp>
      <p:sp>
        <p:nvSpPr>
          <p:cNvPr id="6" name="Shape 4"/>
          <p:cNvSpPr/>
          <p:nvPr/>
        </p:nvSpPr>
        <p:spPr>
          <a:xfrm>
            <a:off x="640080" y="2514600"/>
            <a:ext cx="6675120" cy="475488"/>
          </a:xfrm>
          <a:prstGeom prst="roundRect">
            <a:avLst>
              <a:gd name="adj" fmla="val 9615"/>
            </a:avLst>
          </a:prstGeom>
          <a:solidFill>
            <a:srgbClr val="FFFFFF"/>
          </a:solidFill>
          <a:ln w="12700">
            <a:solidFill>
              <a:srgbClr val="E1E9F0"/>
            </a:solidFill>
            <a:prstDash val="solid"/>
          </a:ln>
        </p:spPr>
        <p:txBody>
          <a:bodyPr/>
          <a:lstStyle/>
          <a:p>
            <a:endParaRPr lang="en-US"/>
          </a:p>
        </p:txBody>
      </p:sp>
      <p:sp>
        <p:nvSpPr>
          <p:cNvPr id="7" name="Text 5"/>
          <p:cNvSpPr/>
          <p:nvPr/>
        </p:nvSpPr>
        <p:spPr>
          <a:xfrm>
            <a:off x="868680" y="2514600"/>
            <a:ext cx="5120640" cy="475488"/>
          </a:xfrm>
          <a:prstGeom prst="rect">
            <a:avLst/>
          </a:prstGeom>
          <a:noFill/>
          <a:ln/>
        </p:spPr>
        <p:txBody>
          <a:bodyPr wrap="square" lIns="0" tIns="0" rIns="0" bIns="0" rtlCol="0" anchor="ctr"/>
          <a:lstStyle/>
          <a:p>
            <a:pPr marL="0" indent="0">
              <a:buNone/>
            </a:pPr>
            <a:r>
              <a:rPr lang="en-US" sz="1300" dirty="0">
                <a:solidFill>
                  <a:srgbClr val="16293A"/>
                </a:solidFill>
                <a:latin typeface="Arial" pitchFamily="34" charset="0"/>
                <a:ea typeface="Arial" pitchFamily="34" charset="-122"/>
                <a:cs typeface="Arial" pitchFamily="34" charset="-120"/>
              </a:rPr>
              <a:t>Base fare per guest</a:t>
            </a:r>
            <a:endParaRPr lang="en-US" sz="1300" dirty="0"/>
          </a:p>
        </p:txBody>
      </p:sp>
      <p:sp>
        <p:nvSpPr>
          <p:cNvPr id="8" name="Text 6"/>
          <p:cNvSpPr/>
          <p:nvPr/>
        </p:nvSpPr>
        <p:spPr>
          <a:xfrm>
            <a:off x="5852160" y="2514600"/>
            <a:ext cx="1325880" cy="475488"/>
          </a:xfrm>
          <a:prstGeom prst="rect">
            <a:avLst/>
          </a:prstGeom>
          <a:noFill/>
          <a:ln/>
        </p:spPr>
        <p:txBody>
          <a:bodyPr wrap="square" lIns="0" tIns="0" rIns="0" bIns="0" rtlCol="0" anchor="ctr"/>
          <a:lstStyle/>
          <a:p>
            <a:pPr marL="0" indent="0" algn="r">
              <a:buNone/>
            </a:pPr>
            <a:r>
              <a:rPr lang="en-US" sz="1400" b="1" dirty="0">
                <a:solidFill>
                  <a:srgbClr val="0E7C86"/>
                </a:solidFill>
                <a:latin typeface="Arial" pitchFamily="34" charset="0"/>
                <a:ea typeface="Arial" pitchFamily="34" charset="-122"/>
                <a:cs typeface="Arial" pitchFamily="34" charset="-120"/>
              </a:rPr>
              <a:t>$200</a:t>
            </a:r>
            <a:endParaRPr lang="en-US" sz="1400" dirty="0"/>
          </a:p>
        </p:txBody>
      </p:sp>
      <p:sp>
        <p:nvSpPr>
          <p:cNvPr id="9" name="Shape 7"/>
          <p:cNvSpPr/>
          <p:nvPr/>
        </p:nvSpPr>
        <p:spPr>
          <a:xfrm>
            <a:off x="640080" y="3081528"/>
            <a:ext cx="6675120" cy="475488"/>
          </a:xfrm>
          <a:prstGeom prst="roundRect">
            <a:avLst>
              <a:gd name="adj" fmla="val 9615"/>
            </a:avLst>
          </a:prstGeom>
          <a:solidFill>
            <a:srgbClr val="FFFFFF"/>
          </a:solidFill>
          <a:ln w="12700">
            <a:solidFill>
              <a:srgbClr val="E1E9F0"/>
            </a:solidFill>
            <a:prstDash val="solid"/>
          </a:ln>
        </p:spPr>
        <p:txBody>
          <a:bodyPr/>
          <a:lstStyle/>
          <a:p>
            <a:endParaRPr lang="en-US"/>
          </a:p>
        </p:txBody>
      </p:sp>
      <p:sp>
        <p:nvSpPr>
          <p:cNvPr id="10" name="Text 8"/>
          <p:cNvSpPr/>
          <p:nvPr/>
        </p:nvSpPr>
        <p:spPr>
          <a:xfrm>
            <a:off x="868680" y="3081528"/>
            <a:ext cx="5120640" cy="475488"/>
          </a:xfrm>
          <a:prstGeom prst="rect">
            <a:avLst/>
          </a:prstGeom>
          <a:noFill/>
          <a:ln/>
        </p:spPr>
        <p:txBody>
          <a:bodyPr wrap="square" lIns="0" tIns="0" rIns="0" bIns="0" rtlCol="0" anchor="ctr"/>
          <a:lstStyle/>
          <a:p>
            <a:pPr marL="0" indent="0">
              <a:buNone/>
            </a:pPr>
            <a:r>
              <a:rPr lang="en-US" sz="1300" dirty="0">
                <a:solidFill>
                  <a:srgbClr val="16293A"/>
                </a:solidFill>
                <a:latin typeface="Arial" pitchFamily="34" charset="0"/>
                <a:ea typeface="Arial" pitchFamily="34" charset="-122"/>
                <a:cs typeface="Arial" pitchFamily="34" charset="-120"/>
              </a:rPr>
              <a:t>Interior cabin  $95 × 7 nights</a:t>
            </a:r>
            <a:endParaRPr lang="en-US" sz="1300" dirty="0"/>
          </a:p>
        </p:txBody>
      </p:sp>
      <p:sp>
        <p:nvSpPr>
          <p:cNvPr id="11" name="Text 9"/>
          <p:cNvSpPr/>
          <p:nvPr/>
        </p:nvSpPr>
        <p:spPr>
          <a:xfrm>
            <a:off x="5852160" y="3081528"/>
            <a:ext cx="1325880" cy="475488"/>
          </a:xfrm>
          <a:prstGeom prst="rect">
            <a:avLst/>
          </a:prstGeom>
          <a:noFill/>
          <a:ln/>
        </p:spPr>
        <p:txBody>
          <a:bodyPr wrap="square" lIns="0" tIns="0" rIns="0" bIns="0" rtlCol="0" anchor="ctr"/>
          <a:lstStyle/>
          <a:p>
            <a:pPr marL="0" indent="0" algn="r">
              <a:buNone/>
            </a:pPr>
            <a:r>
              <a:rPr lang="en-US" sz="1400" b="1" dirty="0">
                <a:solidFill>
                  <a:srgbClr val="0E7C86"/>
                </a:solidFill>
                <a:latin typeface="Arial" pitchFamily="34" charset="0"/>
                <a:ea typeface="Arial" pitchFamily="34" charset="-122"/>
                <a:cs typeface="Arial" pitchFamily="34" charset="-120"/>
              </a:rPr>
              <a:t>$665</a:t>
            </a:r>
            <a:endParaRPr lang="en-US" sz="1400" dirty="0"/>
          </a:p>
        </p:txBody>
      </p:sp>
      <p:sp>
        <p:nvSpPr>
          <p:cNvPr id="12" name="Shape 10"/>
          <p:cNvSpPr/>
          <p:nvPr/>
        </p:nvSpPr>
        <p:spPr>
          <a:xfrm>
            <a:off x="640080" y="3648456"/>
            <a:ext cx="6675120" cy="475488"/>
          </a:xfrm>
          <a:prstGeom prst="roundRect">
            <a:avLst>
              <a:gd name="adj" fmla="val 9615"/>
            </a:avLst>
          </a:prstGeom>
          <a:solidFill>
            <a:srgbClr val="FFFFFF"/>
          </a:solidFill>
          <a:ln w="12700">
            <a:solidFill>
              <a:srgbClr val="E1E9F0"/>
            </a:solidFill>
            <a:prstDash val="solid"/>
          </a:ln>
        </p:spPr>
        <p:txBody>
          <a:bodyPr/>
          <a:lstStyle/>
          <a:p>
            <a:endParaRPr lang="en-US"/>
          </a:p>
        </p:txBody>
      </p:sp>
      <p:sp>
        <p:nvSpPr>
          <p:cNvPr id="13" name="Text 11"/>
          <p:cNvSpPr/>
          <p:nvPr/>
        </p:nvSpPr>
        <p:spPr>
          <a:xfrm>
            <a:off x="868680" y="3648456"/>
            <a:ext cx="5120640" cy="475488"/>
          </a:xfrm>
          <a:prstGeom prst="rect">
            <a:avLst/>
          </a:prstGeom>
          <a:noFill/>
          <a:ln/>
        </p:spPr>
        <p:txBody>
          <a:bodyPr wrap="square" lIns="0" tIns="0" rIns="0" bIns="0" rtlCol="0" anchor="ctr"/>
          <a:lstStyle/>
          <a:p>
            <a:pPr marL="0" indent="0">
              <a:buNone/>
            </a:pPr>
            <a:r>
              <a:rPr lang="en-US" sz="1300" dirty="0">
                <a:solidFill>
                  <a:srgbClr val="16293A"/>
                </a:solidFill>
                <a:latin typeface="Arial" pitchFamily="34" charset="0"/>
                <a:ea typeface="Arial" pitchFamily="34" charset="-122"/>
                <a:cs typeface="Arial" pitchFamily="34" charset="-120"/>
              </a:rPr>
              <a:t>Per guest subtotal</a:t>
            </a:r>
            <a:endParaRPr lang="en-US" sz="1300" dirty="0"/>
          </a:p>
        </p:txBody>
      </p:sp>
      <p:sp>
        <p:nvSpPr>
          <p:cNvPr id="14" name="Text 12"/>
          <p:cNvSpPr/>
          <p:nvPr/>
        </p:nvSpPr>
        <p:spPr>
          <a:xfrm>
            <a:off x="5852160" y="3648456"/>
            <a:ext cx="1325880" cy="475488"/>
          </a:xfrm>
          <a:prstGeom prst="rect">
            <a:avLst/>
          </a:prstGeom>
          <a:noFill/>
          <a:ln/>
        </p:spPr>
        <p:txBody>
          <a:bodyPr wrap="square" lIns="0" tIns="0" rIns="0" bIns="0" rtlCol="0" anchor="ctr"/>
          <a:lstStyle/>
          <a:p>
            <a:pPr marL="0" indent="0" algn="r">
              <a:buNone/>
            </a:pPr>
            <a:r>
              <a:rPr lang="en-US" sz="1400" b="1" dirty="0">
                <a:solidFill>
                  <a:srgbClr val="0E7C86"/>
                </a:solidFill>
                <a:latin typeface="Arial" pitchFamily="34" charset="0"/>
                <a:ea typeface="Arial" pitchFamily="34" charset="-122"/>
                <a:cs typeface="Arial" pitchFamily="34" charset="-120"/>
              </a:rPr>
              <a:t>$865</a:t>
            </a:r>
            <a:endParaRPr lang="en-US" sz="1400" dirty="0"/>
          </a:p>
        </p:txBody>
      </p:sp>
      <p:sp>
        <p:nvSpPr>
          <p:cNvPr id="15" name="Shape 13"/>
          <p:cNvSpPr/>
          <p:nvPr/>
        </p:nvSpPr>
        <p:spPr>
          <a:xfrm>
            <a:off x="640080" y="4215384"/>
            <a:ext cx="6675120" cy="475488"/>
          </a:xfrm>
          <a:prstGeom prst="roundRect">
            <a:avLst>
              <a:gd name="adj" fmla="val 9615"/>
            </a:avLst>
          </a:prstGeom>
          <a:solidFill>
            <a:srgbClr val="FFFFFF"/>
          </a:solidFill>
          <a:ln w="12700">
            <a:solidFill>
              <a:srgbClr val="E1E9F0"/>
            </a:solidFill>
            <a:prstDash val="solid"/>
          </a:ln>
        </p:spPr>
        <p:txBody>
          <a:bodyPr/>
          <a:lstStyle/>
          <a:p>
            <a:endParaRPr lang="en-US"/>
          </a:p>
        </p:txBody>
      </p:sp>
      <p:sp>
        <p:nvSpPr>
          <p:cNvPr id="16" name="Text 14"/>
          <p:cNvSpPr/>
          <p:nvPr/>
        </p:nvSpPr>
        <p:spPr>
          <a:xfrm>
            <a:off x="868680" y="4215384"/>
            <a:ext cx="5120640" cy="475488"/>
          </a:xfrm>
          <a:prstGeom prst="rect">
            <a:avLst/>
          </a:prstGeom>
          <a:noFill/>
          <a:ln/>
        </p:spPr>
        <p:txBody>
          <a:bodyPr wrap="square" lIns="0" tIns="0" rIns="0" bIns="0" rtlCol="0" anchor="ctr"/>
          <a:lstStyle/>
          <a:p>
            <a:pPr marL="0" indent="0">
              <a:buNone/>
            </a:pPr>
            <a:r>
              <a:rPr lang="en-US" sz="1300" dirty="0">
                <a:solidFill>
                  <a:srgbClr val="16293A"/>
                </a:solidFill>
                <a:latin typeface="Arial" pitchFamily="34" charset="0"/>
                <a:ea typeface="Arial" pitchFamily="34" charset="-122"/>
                <a:cs typeface="Arial" pitchFamily="34" charset="-120"/>
              </a:rPr>
              <a:t>× 2 guests = cruise fare</a:t>
            </a:r>
            <a:endParaRPr lang="en-US" sz="1300" dirty="0"/>
          </a:p>
        </p:txBody>
      </p:sp>
      <p:sp>
        <p:nvSpPr>
          <p:cNvPr id="17" name="Text 15"/>
          <p:cNvSpPr/>
          <p:nvPr/>
        </p:nvSpPr>
        <p:spPr>
          <a:xfrm>
            <a:off x="5852160" y="4215384"/>
            <a:ext cx="1325880" cy="475488"/>
          </a:xfrm>
          <a:prstGeom prst="rect">
            <a:avLst/>
          </a:prstGeom>
          <a:noFill/>
          <a:ln/>
        </p:spPr>
        <p:txBody>
          <a:bodyPr wrap="square" lIns="0" tIns="0" rIns="0" bIns="0" rtlCol="0" anchor="ctr"/>
          <a:lstStyle/>
          <a:p>
            <a:pPr marL="0" indent="0" algn="r">
              <a:buNone/>
            </a:pPr>
            <a:r>
              <a:rPr lang="en-US" sz="1400" b="1" dirty="0">
                <a:solidFill>
                  <a:srgbClr val="0E7C86"/>
                </a:solidFill>
                <a:latin typeface="Arial" pitchFamily="34" charset="0"/>
                <a:ea typeface="Arial" pitchFamily="34" charset="-122"/>
                <a:cs typeface="Arial" pitchFamily="34" charset="-120"/>
              </a:rPr>
              <a:t>$1,730</a:t>
            </a:r>
            <a:endParaRPr lang="en-US" sz="1400" dirty="0"/>
          </a:p>
        </p:txBody>
      </p:sp>
      <p:sp>
        <p:nvSpPr>
          <p:cNvPr id="18" name="Shape 16"/>
          <p:cNvSpPr/>
          <p:nvPr/>
        </p:nvSpPr>
        <p:spPr>
          <a:xfrm>
            <a:off x="640080" y="4782312"/>
            <a:ext cx="6675120" cy="475488"/>
          </a:xfrm>
          <a:prstGeom prst="roundRect">
            <a:avLst>
              <a:gd name="adj" fmla="val 9615"/>
            </a:avLst>
          </a:prstGeom>
          <a:solidFill>
            <a:srgbClr val="FFFFFF"/>
          </a:solidFill>
          <a:ln w="12700">
            <a:solidFill>
              <a:srgbClr val="E1E9F0"/>
            </a:solidFill>
            <a:prstDash val="solid"/>
          </a:ln>
        </p:spPr>
        <p:txBody>
          <a:bodyPr/>
          <a:lstStyle/>
          <a:p>
            <a:endParaRPr lang="en-US"/>
          </a:p>
        </p:txBody>
      </p:sp>
      <p:sp>
        <p:nvSpPr>
          <p:cNvPr id="19" name="Text 17"/>
          <p:cNvSpPr/>
          <p:nvPr/>
        </p:nvSpPr>
        <p:spPr>
          <a:xfrm>
            <a:off x="868680" y="4782312"/>
            <a:ext cx="5120640" cy="475488"/>
          </a:xfrm>
          <a:prstGeom prst="rect">
            <a:avLst/>
          </a:prstGeom>
          <a:noFill/>
          <a:ln/>
        </p:spPr>
        <p:txBody>
          <a:bodyPr wrap="square" lIns="0" tIns="0" rIns="0" bIns="0" rtlCol="0" anchor="ctr"/>
          <a:lstStyle/>
          <a:p>
            <a:pPr marL="0" indent="0">
              <a:buNone/>
            </a:pPr>
            <a:r>
              <a:rPr lang="en-US" sz="1300" dirty="0">
                <a:solidFill>
                  <a:srgbClr val="16293A"/>
                </a:solidFill>
                <a:latin typeface="Arial" pitchFamily="34" charset="0"/>
                <a:ea typeface="Arial" pitchFamily="34" charset="-122"/>
                <a:cs typeface="Arial" pitchFamily="34" charset="-120"/>
              </a:rPr>
              <a:t>+ 12% tax</a:t>
            </a:r>
            <a:endParaRPr lang="en-US" sz="1300" dirty="0"/>
          </a:p>
        </p:txBody>
      </p:sp>
      <p:sp>
        <p:nvSpPr>
          <p:cNvPr id="20" name="Text 18"/>
          <p:cNvSpPr/>
          <p:nvPr/>
        </p:nvSpPr>
        <p:spPr>
          <a:xfrm>
            <a:off x="5852160" y="4782312"/>
            <a:ext cx="1325880" cy="475488"/>
          </a:xfrm>
          <a:prstGeom prst="rect">
            <a:avLst/>
          </a:prstGeom>
          <a:noFill/>
          <a:ln/>
        </p:spPr>
        <p:txBody>
          <a:bodyPr wrap="square" lIns="0" tIns="0" rIns="0" bIns="0" rtlCol="0" anchor="ctr"/>
          <a:lstStyle/>
          <a:p>
            <a:pPr marL="0" indent="0" algn="r">
              <a:buNone/>
            </a:pPr>
            <a:r>
              <a:rPr lang="en-US" sz="1400" b="1" dirty="0">
                <a:solidFill>
                  <a:srgbClr val="0E7C86"/>
                </a:solidFill>
                <a:latin typeface="Arial" pitchFamily="34" charset="0"/>
                <a:ea typeface="Arial" pitchFamily="34" charset="-122"/>
                <a:cs typeface="Arial" pitchFamily="34" charset="-120"/>
              </a:rPr>
              <a:t>$208</a:t>
            </a:r>
            <a:endParaRPr lang="en-US" sz="1400" dirty="0"/>
          </a:p>
        </p:txBody>
      </p:sp>
      <p:sp>
        <p:nvSpPr>
          <p:cNvPr id="21" name="Shape 19"/>
          <p:cNvSpPr/>
          <p:nvPr/>
        </p:nvSpPr>
        <p:spPr>
          <a:xfrm>
            <a:off x="7589520" y="2514600"/>
            <a:ext cx="3977640" cy="1417320"/>
          </a:xfrm>
          <a:prstGeom prst="roundRect">
            <a:avLst>
              <a:gd name="adj" fmla="val 6452"/>
            </a:avLst>
          </a:prstGeom>
          <a:solidFill>
            <a:srgbClr val="0B2D4D"/>
          </a:solidFill>
          <a:ln/>
          <a:effectLst>
            <a:outerShdw blurRad="114300" dist="38100" dir="5400000" algn="bl" rotWithShape="0">
              <a:srgbClr val="0B2D4D">
                <a:alpha val="16000"/>
              </a:srgbClr>
            </a:outerShdw>
          </a:effectLst>
        </p:spPr>
        <p:txBody>
          <a:bodyPr/>
          <a:lstStyle/>
          <a:p>
            <a:endParaRPr lang="en-US"/>
          </a:p>
        </p:txBody>
      </p:sp>
      <p:sp>
        <p:nvSpPr>
          <p:cNvPr id="22" name="Text 20"/>
          <p:cNvSpPr/>
          <p:nvPr/>
        </p:nvSpPr>
        <p:spPr>
          <a:xfrm>
            <a:off x="7818120" y="2651760"/>
            <a:ext cx="3474720" cy="274320"/>
          </a:xfrm>
          <a:prstGeom prst="rect">
            <a:avLst/>
          </a:prstGeom>
          <a:noFill/>
          <a:ln/>
        </p:spPr>
        <p:txBody>
          <a:bodyPr wrap="square" lIns="0" tIns="0" rIns="0" bIns="0" rtlCol="0" anchor="ctr"/>
          <a:lstStyle/>
          <a:p>
            <a:pPr marL="0" indent="0">
              <a:buNone/>
            </a:pPr>
            <a:r>
              <a:rPr lang="en-US" sz="1100" b="1" kern="0" spc="200" dirty="0">
                <a:solidFill>
                  <a:srgbClr val="E0A82E"/>
                </a:solidFill>
                <a:latin typeface="Arial" pitchFamily="34" charset="0"/>
                <a:ea typeface="Arial" pitchFamily="34" charset="-122"/>
                <a:cs typeface="Arial" pitchFamily="34" charset="-120"/>
              </a:rPr>
              <a:t>TOTAL PRICE</a:t>
            </a:r>
            <a:endParaRPr lang="en-US" sz="1100" dirty="0"/>
          </a:p>
        </p:txBody>
      </p:sp>
      <p:sp>
        <p:nvSpPr>
          <p:cNvPr id="23" name="Text 21"/>
          <p:cNvSpPr/>
          <p:nvPr/>
        </p:nvSpPr>
        <p:spPr>
          <a:xfrm>
            <a:off x="7818120" y="2926080"/>
            <a:ext cx="3474720" cy="82296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$1,938</a:t>
            </a:r>
            <a:endParaRPr lang="en-US" sz="4600" dirty="0"/>
          </a:p>
        </p:txBody>
      </p:sp>
      <p:sp>
        <p:nvSpPr>
          <p:cNvPr id="24" name="Shape 22"/>
          <p:cNvSpPr/>
          <p:nvPr/>
        </p:nvSpPr>
        <p:spPr>
          <a:xfrm>
            <a:off x="7589520" y="4069080"/>
            <a:ext cx="3977640" cy="1417320"/>
          </a:xfrm>
          <a:prstGeom prst="roundRect">
            <a:avLst>
              <a:gd name="adj" fmla="val 6452"/>
            </a:avLst>
          </a:prstGeom>
          <a:solidFill>
            <a:srgbClr val="0E7C86"/>
          </a:solidFill>
          <a:ln/>
          <a:effectLst>
            <a:outerShdw blurRad="114300" dist="38100" dir="5400000" algn="bl" rotWithShape="0">
              <a:srgbClr val="0B2D4D">
                <a:alpha val="16000"/>
              </a:srgbClr>
            </a:outerShdw>
          </a:effectLst>
        </p:spPr>
        <p:txBody>
          <a:bodyPr/>
          <a:lstStyle/>
          <a:p>
            <a:endParaRPr lang="en-US"/>
          </a:p>
        </p:txBody>
      </p:sp>
      <p:sp>
        <p:nvSpPr>
          <p:cNvPr id="25" name="Text 23"/>
          <p:cNvSpPr/>
          <p:nvPr/>
        </p:nvSpPr>
        <p:spPr>
          <a:xfrm>
            <a:off x="7818120" y="4206240"/>
            <a:ext cx="3474720" cy="274320"/>
          </a:xfrm>
          <a:prstGeom prst="rect">
            <a:avLst/>
          </a:prstGeom>
          <a:noFill/>
          <a:ln/>
        </p:spPr>
        <p:txBody>
          <a:bodyPr wrap="square" lIns="0" tIns="0" rIns="0" bIns="0" rtlCol="0" anchor="ctr"/>
          <a:lstStyle/>
          <a:p>
            <a:pPr marL="0" indent="0">
              <a:buNone/>
            </a:pPr>
            <a:r>
              <a:rPr lang="en-US" sz="1100" b="1" kern="0" spc="100" dirty="0">
                <a:solidFill>
                  <a:srgbClr val="DFF3F2"/>
                </a:solidFill>
                <a:latin typeface="Arial" pitchFamily="34" charset="0"/>
                <a:ea typeface="Arial" pitchFamily="34" charset="-122"/>
                <a:cs typeface="Arial" pitchFamily="34" charset="-120"/>
              </a:rPr>
              <a:t>COMMISSION AVOIDED IN-HOUSE</a:t>
            </a:r>
            <a:endParaRPr lang="en-US" sz="1100" dirty="0"/>
          </a:p>
        </p:txBody>
      </p:sp>
      <p:sp>
        <p:nvSpPr>
          <p:cNvPr id="26" name="Text 24"/>
          <p:cNvSpPr/>
          <p:nvPr/>
        </p:nvSpPr>
        <p:spPr>
          <a:xfrm>
            <a:off x="7818120" y="4480560"/>
            <a:ext cx="3474720" cy="822960"/>
          </a:xfrm>
          <a:prstGeom prst="rect">
            <a:avLst/>
          </a:prstGeom>
          <a:noFill/>
          <a:ln/>
        </p:spPr>
        <p:txBody>
          <a:bodyPr wrap="square" lIns="0" tIns="0" rIns="0" bIns="0" rtlCol="0" anchor="ctr"/>
          <a:lstStyle/>
          <a:p>
            <a:pPr marL="0" indent="0">
              <a:buNone/>
            </a:pPr>
            <a:r>
              <a:rPr lang="en-US" sz="4600" b="1" dirty="0">
                <a:solidFill>
                  <a:srgbClr val="FFFFFF"/>
                </a:solidFill>
                <a:latin typeface="Arial" pitchFamily="34" charset="0"/>
                <a:ea typeface="Arial" pitchFamily="34" charset="-122"/>
                <a:cs typeface="Arial" pitchFamily="34" charset="-120"/>
              </a:rPr>
              <a:t>~$242</a:t>
            </a:r>
            <a:endParaRPr lang="en-US" sz="4600" dirty="0"/>
          </a:p>
        </p:txBody>
      </p:sp>
      <p:sp>
        <p:nvSpPr>
          <p:cNvPr id="27" name="Text 25"/>
          <p:cNvSpPr/>
          <p:nvPr/>
        </p:nvSpPr>
        <p:spPr>
          <a:xfrm>
            <a:off x="7818120" y="5138928"/>
            <a:ext cx="3520440" cy="320040"/>
          </a:xfrm>
          <a:prstGeom prst="rect">
            <a:avLst/>
          </a:prstGeom>
          <a:noFill/>
          <a:ln/>
        </p:spPr>
        <p:txBody>
          <a:bodyPr wrap="square" lIns="0" tIns="0" rIns="0" bIns="0" rtlCol="0" anchor="ctr"/>
          <a:lstStyle/>
          <a:p>
            <a:pPr marL="0" indent="0">
              <a:buNone/>
            </a:pPr>
            <a:r>
              <a:rPr lang="en-US" sz="1100" dirty="0">
                <a:solidFill>
                  <a:srgbClr val="DFF3F2"/>
                </a:solidFill>
                <a:latin typeface="Arial" pitchFamily="34" charset="0"/>
                <a:ea typeface="Arial" pitchFamily="34" charset="-122"/>
                <a:cs typeface="Arial" pitchFamily="34" charset="-120"/>
              </a:rPr>
              <a:t>≈ 12.5% blended commission that ABC keeps</a:t>
            </a:r>
            <a:endParaRPr lang="en-US" sz="1100" dirty="0"/>
          </a:p>
        </p:txBody>
      </p:sp>
      <p:sp>
        <p:nvSpPr>
          <p:cNvPr id="28" name="Shape 26"/>
          <p:cNvSpPr/>
          <p:nvPr/>
        </p:nvSpPr>
        <p:spPr>
          <a:xfrm>
            <a:off x="640080" y="5532120"/>
            <a:ext cx="6675120" cy="868680"/>
          </a:xfrm>
          <a:prstGeom prst="roundRect">
            <a:avLst>
              <a:gd name="adj" fmla="val 8421"/>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29" name="Shape 27"/>
          <p:cNvSpPr/>
          <p:nvPr/>
        </p:nvSpPr>
        <p:spPr>
          <a:xfrm>
            <a:off x="868680" y="5687568"/>
            <a:ext cx="548640" cy="548640"/>
          </a:xfrm>
          <a:prstGeom prst="ellipse">
            <a:avLst/>
          </a:prstGeom>
          <a:solidFill>
            <a:srgbClr val="E0A82E"/>
          </a:solidFill>
          <a:ln/>
          <a:effectLst>
            <a:outerShdw blurRad="88900" dist="25400" dir="5400000" algn="bl" rotWithShape="0">
              <a:srgbClr val="000000">
                <a:alpha val="10000"/>
              </a:srgbClr>
            </a:outerShdw>
          </a:effectLst>
        </p:spPr>
        <p:txBody>
          <a:bodyPr/>
          <a:lstStyle/>
          <a:p>
            <a:endParaRPr lang="en-US"/>
          </a:p>
        </p:txBody>
      </p:sp>
      <p:pic>
        <p:nvPicPr>
          <p:cNvPr id="30" name="Image 0" descr="preencoded.png"/>
          <p:cNvPicPr>
            <a:picLocks noChangeAspect="1"/>
          </p:cNvPicPr>
          <p:nvPr/>
        </p:nvPicPr>
        <p:blipFill>
          <a:blip r:embed="rId3"/>
          <a:stretch>
            <a:fillRect/>
          </a:stretch>
        </p:blipFill>
        <p:spPr>
          <a:xfrm>
            <a:off x="1016813" y="5835701"/>
            <a:ext cx="252374" cy="252374"/>
          </a:xfrm>
          <a:prstGeom prst="rect">
            <a:avLst/>
          </a:prstGeom>
        </p:spPr>
      </p:pic>
      <p:sp>
        <p:nvSpPr>
          <p:cNvPr id="31" name="Text 28"/>
          <p:cNvSpPr/>
          <p:nvPr/>
        </p:nvSpPr>
        <p:spPr>
          <a:xfrm>
            <a:off x="1554480" y="5577840"/>
            <a:ext cx="5623560" cy="777240"/>
          </a:xfrm>
          <a:prstGeom prst="rect">
            <a:avLst/>
          </a:prstGeom>
          <a:noFill/>
          <a:ln/>
        </p:spPr>
        <p:txBody>
          <a:bodyPr wrap="square" lIns="0" tIns="0" rIns="0" bIns="0" rtlCol="0" anchor="ctr"/>
          <a:lstStyle/>
          <a:p>
            <a:pPr marL="0" indent="0">
              <a:lnSpc>
                <a:spcPct val="108000"/>
              </a:lnSpc>
              <a:buNone/>
            </a:pPr>
            <a:r>
              <a:rPr lang="en-US" sz="1200" b="1" dirty="0">
                <a:solidFill>
                  <a:srgbClr val="0E7C86"/>
                </a:solidFill>
                <a:latin typeface="Arial" pitchFamily="34" charset="0"/>
                <a:ea typeface="Arial" pitchFamily="34" charset="-122"/>
                <a:cs typeface="Arial" pitchFamily="34" charset="-120"/>
              </a:rPr>
              <a:t>DSS impact.  </a:t>
            </a:r>
            <a:r>
              <a:rPr lang="en-US" sz="1200" dirty="0">
                <a:solidFill>
                  <a:srgbClr val="16293A"/>
                </a:solidFill>
                <a:latin typeface="Arial" pitchFamily="34" charset="0"/>
                <a:ea typeface="Arial" pitchFamily="34" charset="-122"/>
                <a:cs typeface="Arial" pitchFamily="34" charset="-120"/>
              </a:rPr>
              <a:t>The booking posts to the log, capture % ticks up, savings move toward target, and dynamic pricing raises later fares if the sailing fills.</a:t>
            </a:r>
            <a:endParaRPr lang="en-US" sz="1200" dirty="0"/>
          </a:p>
        </p:txBody>
      </p:sp>
      <p:sp>
        <p:nvSpPr>
          <p:cNvPr id="32" name="Text 29"/>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33" name="Text 30"/>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marL="0" indent="0">
              <a:buNone/>
            </a:pPr>
            <a:r>
              <a:rPr lang="en-US" sz="1200" b="1" kern="0" spc="300" dirty="0">
                <a:solidFill>
                  <a:srgbClr val="0E7C86"/>
                </a:solidFill>
                <a:latin typeface="Arial" pitchFamily="34" charset="0"/>
                <a:ea typeface="Arial" pitchFamily="34" charset="-122"/>
                <a:cs typeface="Arial" pitchFamily="34" charset="-120"/>
              </a:rPr>
              <a:t>ASSUMPTIONS &amp; LIMITATIONS</a:t>
            </a:r>
            <a:endParaRPr lang="en-US" sz="1200" dirty="0"/>
          </a:p>
        </p:txBody>
      </p:sp>
      <p:sp>
        <p:nvSpPr>
          <p:cNvPr id="3" name="Text 1"/>
          <p:cNvSpPr/>
          <p:nvPr/>
        </p:nvSpPr>
        <p:spPr>
          <a:xfrm>
            <a:off x="548640" y="658368"/>
            <a:ext cx="11064240" cy="777240"/>
          </a:xfrm>
          <a:prstGeom prst="rect">
            <a:avLst/>
          </a:prstGeom>
          <a:noFill/>
          <a:ln/>
        </p:spPr>
        <p:txBody>
          <a:bodyPr wrap="square" lIns="0" tIns="0" rIns="0" bIns="0" rtlCol="0" anchor="ctr"/>
          <a:lstStyle/>
          <a:p>
            <a:pPr marL="0" indent="0">
              <a:buNone/>
            </a:pPr>
            <a:r>
              <a:rPr lang="en-US" sz="3000" b="1" dirty="0">
                <a:solidFill>
                  <a:srgbClr val="16293A"/>
                </a:solidFill>
                <a:latin typeface="Arial" pitchFamily="34" charset="0"/>
                <a:ea typeface="Arial" pitchFamily="34" charset="-122"/>
                <a:cs typeface="Arial" pitchFamily="34" charset="-120"/>
              </a:rPr>
              <a:t>What we assumed, what comes next</a:t>
            </a:r>
            <a:endParaRPr lang="en-US" sz="3000" dirty="0"/>
          </a:p>
        </p:txBody>
      </p:sp>
      <p:sp>
        <p:nvSpPr>
          <p:cNvPr id="4" name="Shape 2"/>
          <p:cNvSpPr/>
          <p:nvPr/>
        </p:nvSpPr>
        <p:spPr>
          <a:xfrm>
            <a:off x="640080" y="1645920"/>
            <a:ext cx="5349240" cy="4343400"/>
          </a:xfrm>
          <a:prstGeom prst="roundRect">
            <a:avLst>
              <a:gd name="adj" fmla="val 2105"/>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5" name="Shape 3"/>
          <p:cNvSpPr/>
          <p:nvPr/>
        </p:nvSpPr>
        <p:spPr>
          <a:xfrm>
            <a:off x="914400" y="1874520"/>
            <a:ext cx="548640" cy="54864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062533" y="2022653"/>
            <a:ext cx="252374" cy="252374"/>
          </a:xfrm>
          <a:prstGeom prst="rect">
            <a:avLst/>
          </a:prstGeom>
        </p:spPr>
      </p:pic>
      <p:sp>
        <p:nvSpPr>
          <p:cNvPr id="7" name="Text 4"/>
          <p:cNvSpPr/>
          <p:nvPr/>
        </p:nvSpPr>
        <p:spPr>
          <a:xfrm>
            <a:off x="1600200" y="1874520"/>
            <a:ext cx="4114800" cy="548640"/>
          </a:xfrm>
          <a:prstGeom prst="rect">
            <a:avLst/>
          </a:prstGeom>
          <a:noFill/>
          <a:ln/>
        </p:spPr>
        <p:txBody>
          <a:bodyPr wrap="square" lIns="0" tIns="0" rIns="0" bIns="0" rtlCol="0" anchor="ctr"/>
          <a:lstStyle/>
          <a:p>
            <a:pPr marL="0" indent="0">
              <a:buNone/>
            </a:pPr>
            <a:r>
              <a:rPr lang="en-US" sz="1600" b="1" dirty="0">
                <a:solidFill>
                  <a:srgbClr val="16293A"/>
                </a:solidFill>
                <a:latin typeface="Arial" pitchFamily="34" charset="0"/>
                <a:ea typeface="Arial" pitchFamily="34" charset="-122"/>
                <a:cs typeface="Arial" pitchFamily="34" charset="-120"/>
              </a:rPr>
              <a:t>Assumptions</a:t>
            </a:r>
            <a:endParaRPr lang="en-US" sz="1600" dirty="0"/>
          </a:p>
        </p:txBody>
      </p:sp>
      <p:sp>
        <p:nvSpPr>
          <p:cNvPr id="8" name="Text 5"/>
          <p:cNvSpPr/>
          <p:nvPr/>
        </p:nvSpPr>
        <p:spPr>
          <a:xfrm>
            <a:off x="914400" y="2606040"/>
            <a:ext cx="4846320" cy="3291840"/>
          </a:xfrm>
          <a:prstGeom prst="rect">
            <a:avLst/>
          </a:prstGeom>
          <a:noFill/>
          <a:ln/>
        </p:spPr>
        <p:txBody>
          <a:bodyPr wrap="square" lIns="0" tIns="0" rIns="0" bIns="0" rtlCol="0" anchor="ctr"/>
          <a:lstStyle/>
          <a:p>
            <a:pPr marL="342900" indent="-342900">
              <a:lnSpc>
                <a:spcPct val="105000"/>
              </a:lnSpc>
              <a:spcAft>
                <a:spcPts val="700"/>
              </a:spcAft>
              <a:buSzPct val="100000"/>
              <a:buChar char="•"/>
            </a:pPr>
            <a:r>
              <a:rPr lang="en-US" sz="1250" dirty="0">
                <a:solidFill>
                  <a:srgbClr val="16293A"/>
                </a:solidFill>
                <a:latin typeface="Arial" pitchFamily="34" charset="0"/>
                <a:ea typeface="Arial" pitchFamily="34" charset="-122"/>
                <a:cs typeface="Arial" pitchFamily="34" charset="-120"/>
              </a:rPr>
              <a:t>Ship names, capacities, crew and prices are reasonable assumptions (the case provides none).</a:t>
            </a:r>
            <a:endParaRPr lang="en-US" sz="1250" dirty="0"/>
          </a:p>
          <a:p>
            <a:pPr marL="342900" indent="-342900">
              <a:lnSpc>
                <a:spcPct val="105000"/>
              </a:lnSpc>
              <a:spcAft>
                <a:spcPts val="700"/>
              </a:spcAft>
              <a:buSzPct val="100000"/>
              <a:buChar char="•"/>
            </a:pPr>
            <a:r>
              <a:rPr lang="en-US" sz="1250" dirty="0">
                <a:solidFill>
                  <a:srgbClr val="16293A"/>
                </a:solidFill>
                <a:latin typeface="Arial" pitchFamily="34" charset="0"/>
                <a:ea typeface="Arial" pitchFamily="34" charset="-122"/>
                <a:cs typeface="Arial" pitchFamily="34" charset="-120"/>
              </a:rPr>
              <a:t>Blended commission of 12.5% and a 50% target capture, per the interview.</a:t>
            </a:r>
            <a:endParaRPr lang="en-US" sz="1250" dirty="0"/>
          </a:p>
          <a:p>
            <a:pPr marL="342900" indent="-342900">
              <a:lnSpc>
                <a:spcPct val="105000"/>
              </a:lnSpc>
              <a:spcAft>
                <a:spcPts val="700"/>
              </a:spcAft>
              <a:buSzPct val="100000"/>
              <a:buChar char="•"/>
            </a:pPr>
            <a:r>
              <a:rPr lang="en-US" sz="1250" dirty="0">
                <a:solidFill>
                  <a:srgbClr val="16293A"/>
                </a:solidFill>
                <a:latin typeface="Arial" pitchFamily="34" charset="0"/>
                <a:ea typeface="Arial" pitchFamily="34" charset="-122"/>
                <a:cs typeface="Arial" pitchFamily="34" charset="-120"/>
              </a:rPr>
              <a:t>A demo “today” of June 2026, seeded with about 12 months of historical bookings.</a:t>
            </a:r>
            <a:endParaRPr lang="en-US" sz="1250" dirty="0"/>
          </a:p>
          <a:p>
            <a:pPr marL="342900" indent="-342900">
              <a:lnSpc>
                <a:spcPct val="105000"/>
              </a:lnSpc>
              <a:spcAft>
                <a:spcPts val="700"/>
              </a:spcAft>
              <a:buSzPct val="100000"/>
              <a:buChar char="•"/>
            </a:pPr>
            <a:r>
              <a:rPr lang="en-US" sz="1250" dirty="0">
                <a:solidFill>
                  <a:srgbClr val="16293A"/>
                </a:solidFill>
                <a:latin typeface="Arial" pitchFamily="34" charset="0"/>
                <a:ea typeface="Arial" pitchFamily="34" charset="-122"/>
                <a:cs typeface="Arial" pitchFamily="34" charset="-120"/>
              </a:rPr>
              <a:t>Seeded baseline is synthetic and clearly labeled; the KPI logic is the real contribution.</a:t>
            </a:r>
            <a:endParaRPr lang="en-US" sz="1250" dirty="0"/>
          </a:p>
          <a:p>
            <a:pPr marL="342900" indent="-342900">
              <a:lnSpc>
                <a:spcPct val="105000"/>
              </a:lnSpc>
              <a:spcAft>
                <a:spcPts val="700"/>
              </a:spcAft>
              <a:buSzPct val="100000"/>
              <a:buChar char="•"/>
            </a:pPr>
            <a:r>
              <a:rPr lang="en-US" sz="1250" dirty="0">
                <a:solidFill>
                  <a:srgbClr val="16293A"/>
                </a:solidFill>
                <a:latin typeface="Arial" pitchFamily="34" charset="0"/>
                <a:ea typeface="Arial" pitchFamily="34" charset="-122"/>
                <a:cs typeface="Arial" pitchFamily="34" charset="-120"/>
              </a:rPr>
              <a:t>Payment is validated, not processed; data persists per-browser.</a:t>
            </a:r>
            <a:endParaRPr lang="en-US" sz="1250" dirty="0"/>
          </a:p>
        </p:txBody>
      </p:sp>
      <p:sp>
        <p:nvSpPr>
          <p:cNvPr id="9" name="Shape 6"/>
          <p:cNvSpPr/>
          <p:nvPr/>
        </p:nvSpPr>
        <p:spPr>
          <a:xfrm>
            <a:off x="6172200" y="1645920"/>
            <a:ext cx="5394960" cy="4343400"/>
          </a:xfrm>
          <a:prstGeom prst="roundRect">
            <a:avLst>
              <a:gd name="adj" fmla="val 2105"/>
            </a:avLst>
          </a:prstGeom>
          <a:solidFill>
            <a:srgbClr val="FFFFFF"/>
          </a:solidFill>
          <a:ln w="12700">
            <a:solidFill>
              <a:srgbClr val="DCE6EF"/>
            </a:solidFill>
            <a:prstDash val="solid"/>
          </a:ln>
          <a:effectLst>
            <a:outerShdw blurRad="88900" dist="25400" dir="5400000" algn="bl" rotWithShape="0">
              <a:srgbClr val="000000">
                <a:alpha val="10000"/>
              </a:srgbClr>
            </a:outerShdw>
          </a:effectLst>
        </p:spPr>
        <p:txBody>
          <a:bodyPr/>
          <a:lstStyle/>
          <a:p>
            <a:endParaRPr lang="en-US"/>
          </a:p>
        </p:txBody>
      </p:sp>
      <p:sp>
        <p:nvSpPr>
          <p:cNvPr id="10" name="Shape 7"/>
          <p:cNvSpPr/>
          <p:nvPr/>
        </p:nvSpPr>
        <p:spPr>
          <a:xfrm>
            <a:off x="6446520" y="1874520"/>
            <a:ext cx="548640" cy="548640"/>
          </a:xfrm>
          <a:prstGeom prst="ellipse">
            <a:avLst/>
          </a:prstGeom>
          <a:solidFill>
            <a:srgbClr val="0B2D4D"/>
          </a:solidFill>
          <a:ln/>
          <a:effectLst>
            <a:outerShdw blurRad="88900" dist="25400" dir="5400000" algn="bl" rotWithShape="0">
              <a:srgbClr val="000000">
                <a:alpha val="10000"/>
              </a:srgbClr>
            </a:outerShdw>
          </a:effectLst>
        </p:spPr>
        <p:txBody>
          <a:bodyPr/>
          <a:lstStyle/>
          <a:p>
            <a:endParaRPr lang="en-US"/>
          </a:p>
        </p:txBody>
      </p:sp>
      <p:pic>
        <p:nvPicPr>
          <p:cNvPr id="11" name="Image 1" descr="preencoded.png"/>
          <p:cNvPicPr>
            <a:picLocks noChangeAspect="1"/>
          </p:cNvPicPr>
          <p:nvPr/>
        </p:nvPicPr>
        <p:blipFill>
          <a:blip r:embed="rId4"/>
          <a:stretch>
            <a:fillRect/>
          </a:stretch>
        </p:blipFill>
        <p:spPr>
          <a:xfrm>
            <a:off x="6594653" y="2022653"/>
            <a:ext cx="252374" cy="252374"/>
          </a:xfrm>
          <a:prstGeom prst="rect">
            <a:avLst/>
          </a:prstGeom>
        </p:spPr>
      </p:pic>
      <p:sp>
        <p:nvSpPr>
          <p:cNvPr id="12" name="Text 8"/>
          <p:cNvSpPr/>
          <p:nvPr/>
        </p:nvSpPr>
        <p:spPr>
          <a:xfrm>
            <a:off x="7132320" y="1874520"/>
            <a:ext cx="4297680" cy="548640"/>
          </a:xfrm>
          <a:prstGeom prst="rect">
            <a:avLst/>
          </a:prstGeom>
          <a:noFill/>
          <a:ln/>
        </p:spPr>
        <p:txBody>
          <a:bodyPr wrap="square" lIns="0" tIns="0" rIns="0" bIns="0" rtlCol="0" anchor="ctr"/>
          <a:lstStyle/>
          <a:p>
            <a:pPr marL="0" indent="0">
              <a:buNone/>
            </a:pPr>
            <a:r>
              <a:rPr lang="en-US" sz="1600" b="1" dirty="0">
                <a:solidFill>
                  <a:srgbClr val="16293A"/>
                </a:solidFill>
                <a:latin typeface="Arial" pitchFamily="34" charset="0"/>
                <a:ea typeface="Arial" pitchFamily="34" charset="-122"/>
                <a:cs typeface="Arial" pitchFamily="34" charset="-120"/>
              </a:rPr>
              <a:t>Limitations &amp; future work</a:t>
            </a:r>
            <a:endParaRPr lang="en-US" sz="1600" dirty="0"/>
          </a:p>
        </p:txBody>
      </p:sp>
      <p:sp>
        <p:nvSpPr>
          <p:cNvPr id="13" name="Text 9"/>
          <p:cNvSpPr/>
          <p:nvPr/>
        </p:nvSpPr>
        <p:spPr>
          <a:xfrm>
            <a:off x="6446520" y="2606040"/>
            <a:ext cx="4892040" cy="3291840"/>
          </a:xfrm>
          <a:prstGeom prst="rect">
            <a:avLst/>
          </a:prstGeom>
          <a:noFill/>
          <a:ln/>
        </p:spPr>
        <p:txBody>
          <a:bodyPr wrap="square" lIns="0" tIns="0" rIns="0" bIns="0" rtlCol="0" anchor="ctr"/>
          <a:lstStyle/>
          <a:p>
            <a:pPr marL="342900" indent="-342900">
              <a:lnSpc>
                <a:spcPct val="105000"/>
              </a:lnSpc>
              <a:spcAft>
                <a:spcPts val="700"/>
              </a:spcAft>
              <a:buSzPct val="100000"/>
              <a:buChar char="•"/>
            </a:pPr>
            <a:r>
              <a:rPr lang="en-US" sz="1250" dirty="0">
                <a:solidFill>
                  <a:srgbClr val="16293A"/>
                </a:solidFill>
                <a:latin typeface="Arial" pitchFamily="34" charset="0"/>
                <a:ea typeface="Arial" pitchFamily="34" charset="-122"/>
                <a:cs typeface="Arial" pitchFamily="34" charset="-120"/>
              </a:rPr>
              <a:t>Persistence &amp; scale: production needs a server + shared database, not browser storage.</a:t>
            </a:r>
            <a:endParaRPr lang="en-US" sz="1250" dirty="0"/>
          </a:p>
          <a:p>
            <a:pPr marL="342900" indent="-342900">
              <a:lnSpc>
                <a:spcPct val="105000"/>
              </a:lnSpc>
              <a:spcAft>
                <a:spcPts val="700"/>
              </a:spcAft>
              <a:buSzPct val="100000"/>
              <a:buChar char="•"/>
            </a:pPr>
            <a:r>
              <a:rPr lang="en-US" sz="1250" dirty="0">
                <a:solidFill>
                  <a:srgbClr val="16293A"/>
                </a:solidFill>
                <a:latin typeface="Arial" pitchFamily="34" charset="0"/>
                <a:ea typeface="Arial" pitchFamily="34" charset="-122"/>
                <a:cs typeface="Arial" pitchFamily="34" charset="-120"/>
              </a:rPr>
              <a:t>Authentication: the staff dashboard needs a real login.</a:t>
            </a:r>
            <a:endParaRPr lang="en-US" sz="1250" dirty="0"/>
          </a:p>
          <a:p>
            <a:pPr marL="342900" indent="-342900">
              <a:lnSpc>
                <a:spcPct val="105000"/>
              </a:lnSpc>
              <a:spcAft>
                <a:spcPts val="700"/>
              </a:spcAft>
              <a:buSzPct val="100000"/>
              <a:buChar char="•"/>
            </a:pPr>
            <a:r>
              <a:rPr lang="en-US" sz="1250" dirty="0">
                <a:solidFill>
                  <a:srgbClr val="16293A"/>
                </a:solidFill>
                <a:latin typeface="Arial" pitchFamily="34" charset="0"/>
                <a:ea typeface="Arial" pitchFamily="34" charset="-122"/>
                <a:cs typeface="Arial" pitchFamily="34" charset="-120"/>
              </a:rPr>
              <a:t>Forecasting: one seasonal cycle limits validation; a second year enables Holt-Winters.</a:t>
            </a:r>
            <a:endParaRPr lang="en-US" sz="1250" dirty="0"/>
          </a:p>
          <a:p>
            <a:pPr marL="342900" indent="-342900">
              <a:lnSpc>
                <a:spcPct val="105000"/>
              </a:lnSpc>
              <a:spcAft>
                <a:spcPts val="700"/>
              </a:spcAft>
              <a:buSzPct val="100000"/>
              <a:buChar char="•"/>
            </a:pPr>
            <a:r>
              <a:rPr lang="en-US" sz="1250" dirty="0">
                <a:solidFill>
                  <a:srgbClr val="16293A"/>
                </a:solidFill>
                <a:latin typeface="Arial" pitchFamily="34" charset="0"/>
                <a:ea typeface="Arial" pitchFamily="34" charset="-122"/>
                <a:cs typeface="Arial" pitchFamily="34" charset="-120"/>
              </a:rPr>
              <a:t>A logistic model could predict sell-out probability per sailing.</a:t>
            </a:r>
            <a:endParaRPr lang="en-US" sz="1250" dirty="0"/>
          </a:p>
          <a:p>
            <a:pPr marL="342900" indent="-342900">
              <a:lnSpc>
                <a:spcPct val="105000"/>
              </a:lnSpc>
              <a:spcAft>
                <a:spcPts val="700"/>
              </a:spcAft>
              <a:buSzPct val="100000"/>
              <a:buChar char="•"/>
            </a:pPr>
            <a:r>
              <a:rPr lang="en-US" sz="1250" dirty="0">
                <a:solidFill>
                  <a:srgbClr val="16293A"/>
                </a:solidFill>
                <a:latin typeface="Arial" pitchFamily="34" charset="0"/>
                <a:ea typeface="Arial" pitchFamily="34" charset="-122"/>
                <a:cs typeface="Arial" pitchFamily="34" charset="-120"/>
              </a:rPr>
              <a:t>Integrations: real shipboard-system handoff and a live payment gateway.</a:t>
            </a:r>
            <a:endParaRPr lang="en-US" sz="1250" dirty="0"/>
          </a:p>
        </p:txBody>
      </p:sp>
      <p:sp>
        <p:nvSpPr>
          <p:cNvPr id="14" name="Text 10"/>
          <p:cNvSpPr/>
          <p:nvPr/>
        </p:nvSpPr>
        <p:spPr>
          <a:xfrm>
            <a:off x="502920" y="6473952"/>
            <a:ext cx="7315200" cy="274320"/>
          </a:xfrm>
          <a:prstGeom prst="rect">
            <a:avLst/>
          </a:prstGeom>
          <a:noFill/>
          <a:ln/>
        </p:spPr>
        <p:txBody>
          <a:bodyPr wrap="square" lIns="0" tIns="0" rIns="0" bIns="0" rtlCol="0" anchor="ctr"/>
          <a:lstStyle/>
          <a:p>
            <a:pPr marL="0" indent="0" algn="l">
              <a:buNone/>
            </a:pPr>
            <a:r>
              <a:rPr lang="en-US" sz="900" dirty="0">
                <a:solidFill>
                  <a:srgbClr val="5C6B7A"/>
                </a:solidFill>
                <a:latin typeface="Arial" pitchFamily="34" charset="0"/>
                <a:ea typeface="Arial" pitchFamily="34" charset="-122"/>
                <a:cs typeface="Arial" pitchFamily="34" charset="-120"/>
              </a:rPr>
              <a:t>ABC Cruise Lines DSS  ·  SSIE 510 Enterprise Systems Engineering</a:t>
            </a:r>
            <a:endParaRPr lang="en-US" sz="900" dirty="0"/>
          </a:p>
        </p:txBody>
      </p:sp>
      <p:sp>
        <p:nvSpPr>
          <p:cNvPr id="15" name="Text 11"/>
          <p:cNvSpPr/>
          <p:nvPr/>
        </p:nvSpPr>
        <p:spPr>
          <a:xfrm>
            <a:off x="11155680" y="6473952"/>
            <a:ext cx="502920" cy="274320"/>
          </a:xfrm>
          <a:prstGeom prst="rect">
            <a:avLst/>
          </a:prstGeom>
          <a:noFill/>
          <a:ln/>
        </p:spPr>
        <p:txBody>
          <a:bodyPr wrap="square" lIns="0" tIns="0" rIns="0" bIns="0" rtlCol="0" anchor="ctr"/>
          <a:lstStyle/>
          <a:p>
            <a:pPr marL="0" indent="0" algn="r">
              <a:buNone/>
            </a:pPr>
            <a:r>
              <a:rPr lang="en-US" sz="1000" dirty="0">
                <a:solidFill>
                  <a:srgbClr val="5C6B7A"/>
                </a:solidFill>
                <a:latin typeface="Arial" pitchFamily="34" charset="0"/>
                <a:ea typeface="Arial" pitchFamily="34" charset="-122"/>
                <a:cs typeface="Arial"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2D4D"/>
        </a:solidFill>
        <a:effectLst/>
      </p:bgPr>
    </p:bg>
    <p:spTree>
      <p:nvGrpSpPr>
        <p:cNvPr id="1" name=""/>
        <p:cNvGrpSpPr/>
        <p:nvPr/>
      </p:nvGrpSpPr>
      <p:grpSpPr>
        <a:xfrm>
          <a:off x="0" y="0"/>
          <a:ext cx="0" cy="0"/>
          <a:chOff x="0" y="0"/>
          <a:chExt cx="0" cy="0"/>
        </a:xfrm>
      </p:grpSpPr>
      <p:sp>
        <p:nvSpPr>
          <p:cNvPr id="2" name="Shape 0"/>
          <p:cNvSpPr/>
          <p:nvPr/>
        </p:nvSpPr>
        <p:spPr>
          <a:xfrm>
            <a:off x="-1828800" y="4663440"/>
            <a:ext cx="8229600" cy="2926080"/>
          </a:xfrm>
          <a:prstGeom prst="ellipse">
            <a:avLst/>
          </a:prstGeom>
          <a:solidFill>
            <a:srgbClr val="0E7C86">
              <a:alpha val="22000"/>
            </a:srgbClr>
          </a:solidFill>
          <a:ln/>
        </p:spPr>
        <p:txBody>
          <a:bodyPr/>
          <a:lstStyle/>
          <a:p>
            <a:endParaRPr lang="en-US"/>
          </a:p>
        </p:txBody>
      </p:sp>
      <p:sp>
        <p:nvSpPr>
          <p:cNvPr id="3" name="Shape 1"/>
          <p:cNvSpPr/>
          <p:nvPr/>
        </p:nvSpPr>
        <p:spPr>
          <a:xfrm>
            <a:off x="4572000" y="5120640"/>
            <a:ext cx="10058400" cy="2926080"/>
          </a:xfrm>
          <a:prstGeom prst="ellipse">
            <a:avLst/>
          </a:prstGeom>
          <a:solidFill>
            <a:srgbClr val="1C9AA5">
              <a:alpha val="16000"/>
            </a:srgbClr>
          </a:solidFill>
          <a:ln/>
        </p:spPr>
        <p:txBody>
          <a:bodyPr/>
          <a:lstStyle/>
          <a:p>
            <a:endParaRPr lang="en-US"/>
          </a:p>
        </p:txBody>
      </p:sp>
      <p:sp>
        <p:nvSpPr>
          <p:cNvPr id="4" name="Shape 2"/>
          <p:cNvSpPr/>
          <p:nvPr/>
        </p:nvSpPr>
        <p:spPr>
          <a:xfrm>
            <a:off x="1828800" y="5669280"/>
            <a:ext cx="10972800" cy="2743200"/>
          </a:xfrm>
          <a:prstGeom prst="ellipse">
            <a:avLst/>
          </a:prstGeom>
          <a:solidFill>
            <a:srgbClr val="E0A82E">
              <a:alpha val="10000"/>
            </a:srgbClr>
          </a:solidFill>
          <a:ln/>
        </p:spPr>
        <p:txBody>
          <a:bodyPr/>
          <a:lstStyle/>
          <a:p>
            <a:endParaRPr lang="en-US"/>
          </a:p>
        </p:txBody>
      </p:sp>
      <p:sp>
        <p:nvSpPr>
          <p:cNvPr id="5" name="Shape 3"/>
          <p:cNvSpPr/>
          <p:nvPr/>
        </p:nvSpPr>
        <p:spPr>
          <a:xfrm>
            <a:off x="777240" y="685800"/>
            <a:ext cx="868680" cy="868680"/>
          </a:xfrm>
          <a:prstGeom prst="ellipse">
            <a:avLst/>
          </a:prstGeom>
          <a:solidFill>
            <a:srgbClr val="0E7C86"/>
          </a:solidFill>
          <a:ln/>
          <a:effectLst>
            <a:outerShdw blurRad="88900" dist="25400" dir="5400000" algn="bl" rotWithShape="0">
              <a:srgbClr val="000000">
                <a:alpha val="1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1011784" y="920344"/>
            <a:ext cx="399593" cy="399593"/>
          </a:xfrm>
          <a:prstGeom prst="rect">
            <a:avLst/>
          </a:prstGeom>
        </p:spPr>
      </p:pic>
      <p:sp>
        <p:nvSpPr>
          <p:cNvPr id="7" name="Text 4"/>
          <p:cNvSpPr/>
          <p:nvPr/>
        </p:nvSpPr>
        <p:spPr>
          <a:xfrm>
            <a:off x="1828800" y="868680"/>
            <a:ext cx="7315200" cy="274320"/>
          </a:xfrm>
          <a:prstGeom prst="rect">
            <a:avLst/>
          </a:prstGeom>
          <a:noFill/>
          <a:ln/>
        </p:spPr>
        <p:txBody>
          <a:bodyPr wrap="square" lIns="0" tIns="0" rIns="0" bIns="0" rtlCol="0" anchor="ctr"/>
          <a:lstStyle/>
          <a:p>
            <a:pPr marL="0" indent="0">
              <a:buNone/>
            </a:pPr>
            <a:r>
              <a:rPr lang="en-US" sz="1200" b="1" kern="0" spc="300" dirty="0">
                <a:solidFill>
                  <a:srgbClr val="E0A82E"/>
                </a:solidFill>
                <a:latin typeface="Arial" pitchFamily="34" charset="0"/>
                <a:ea typeface="Arial" pitchFamily="34" charset="-122"/>
                <a:cs typeface="Arial" pitchFamily="34" charset="-120"/>
              </a:rPr>
              <a:t>IN CLOSING</a:t>
            </a:r>
            <a:endParaRPr lang="en-US" sz="1200" dirty="0"/>
          </a:p>
        </p:txBody>
      </p:sp>
      <p:sp>
        <p:nvSpPr>
          <p:cNvPr id="8" name="Text 5"/>
          <p:cNvSpPr/>
          <p:nvPr/>
        </p:nvSpPr>
        <p:spPr>
          <a:xfrm>
            <a:off x="777240" y="1417320"/>
            <a:ext cx="10789920" cy="1005840"/>
          </a:xfrm>
          <a:prstGeom prst="rect">
            <a:avLst/>
          </a:prstGeom>
          <a:noFill/>
          <a:ln/>
        </p:spPr>
        <p:txBody>
          <a:bodyPr wrap="square" lIns="0" tIns="0" rIns="0" bIns="0" rtlCol="0" anchor="ctr"/>
          <a:lstStyle/>
          <a:p>
            <a:pPr marL="0" indent="0">
              <a:lnSpc>
                <a:spcPct val="100000"/>
              </a:lnSpc>
              <a:buNone/>
            </a:pPr>
            <a:r>
              <a:rPr lang="en-US" sz="3200" b="1" dirty="0">
                <a:solidFill>
                  <a:srgbClr val="FFFFFF"/>
                </a:solidFill>
                <a:latin typeface="Arial" pitchFamily="34" charset="0"/>
                <a:ea typeface="Arial" pitchFamily="34" charset="-122"/>
                <a:cs typeface="Arial" pitchFamily="34" charset="-120"/>
              </a:rPr>
              <a:t>A robust prototype that does what Jane envisioned</a:t>
            </a:r>
            <a:endParaRPr lang="en-US" sz="3200" dirty="0"/>
          </a:p>
        </p:txBody>
      </p:sp>
      <p:sp>
        <p:nvSpPr>
          <p:cNvPr id="9" name="Text 6"/>
          <p:cNvSpPr/>
          <p:nvPr/>
        </p:nvSpPr>
        <p:spPr>
          <a:xfrm>
            <a:off x="777240" y="2514600"/>
            <a:ext cx="10515600" cy="1097280"/>
          </a:xfrm>
          <a:prstGeom prst="rect">
            <a:avLst/>
          </a:prstGeom>
          <a:noFill/>
          <a:ln/>
        </p:spPr>
        <p:txBody>
          <a:bodyPr wrap="square" lIns="0" tIns="0" rIns="0" bIns="0" rtlCol="0" anchor="ctr"/>
          <a:lstStyle/>
          <a:p>
            <a:pPr marL="0" indent="0">
              <a:lnSpc>
                <a:spcPct val="120000"/>
              </a:lnSpc>
              <a:buNone/>
            </a:pPr>
            <a:r>
              <a:rPr lang="en-US" sz="1500" dirty="0">
                <a:solidFill>
                  <a:srgbClr val="C9DCEA"/>
                </a:solidFill>
                <a:latin typeface="Arial" pitchFamily="34" charset="0"/>
                <a:ea typeface="Arial" pitchFamily="34" charset="-122"/>
                <a:cs typeface="Arial" pitchFamily="34" charset="-120"/>
              </a:rPr>
              <a:t>It books and pays for cruises in-house, helps managers control commission cost, set and dynamically adjust prices, schedule the fleet by demand, and forecast revenue, demonstrating quantitatively how moving bookings in-house converts a multi-million-dollar expense into recurring savings.</a:t>
            </a:r>
            <a:endParaRPr lang="en-US" sz="1500" dirty="0"/>
          </a:p>
        </p:txBody>
      </p:sp>
      <p:sp>
        <p:nvSpPr>
          <p:cNvPr id="10" name="Shape 7"/>
          <p:cNvSpPr/>
          <p:nvPr/>
        </p:nvSpPr>
        <p:spPr>
          <a:xfrm>
            <a:off x="777240" y="3886200"/>
            <a:ext cx="3383280" cy="1097280"/>
          </a:xfrm>
          <a:prstGeom prst="roundRect">
            <a:avLst>
              <a:gd name="adj" fmla="val 8333"/>
            </a:avLst>
          </a:prstGeom>
          <a:solidFill>
            <a:srgbClr val="13395F"/>
          </a:solidFill>
          <a:ln w="12700">
            <a:solidFill>
              <a:srgbClr val="27496B"/>
            </a:solidFill>
            <a:prstDash val="solid"/>
          </a:ln>
        </p:spPr>
        <p:txBody>
          <a:bodyPr/>
          <a:lstStyle/>
          <a:p>
            <a:endParaRPr lang="en-US"/>
          </a:p>
        </p:txBody>
      </p:sp>
      <p:sp>
        <p:nvSpPr>
          <p:cNvPr id="11" name="Text 8"/>
          <p:cNvSpPr/>
          <p:nvPr/>
        </p:nvSpPr>
        <p:spPr>
          <a:xfrm>
            <a:off x="1005840" y="4023360"/>
            <a:ext cx="3017520" cy="502920"/>
          </a:xfrm>
          <a:prstGeom prst="rect">
            <a:avLst/>
          </a:prstGeom>
          <a:noFill/>
          <a:ln/>
        </p:spPr>
        <p:txBody>
          <a:bodyPr wrap="square" lIns="0" tIns="0" rIns="0" bIns="0" rtlCol="0" anchor="ctr"/>
          <a:lstStyle/>
          <a:p>
            <a:pPr marL="0" indent="0">
              <a:buNone/>
            </a:pPr>
            <a:r>
              <a:rPr lang="en-US" sz="2200" b="1" dirty="0">
                <a:solidFill>
                  <a:srgbClr val="E0A82E"/>
                </a:solidFill>
                <a:latin typeface="Arial" pitchFamily="34" charset="0"/>
                <a:ea typeface="Arial" pitchFamily="34" charset="-122"/>
                <a:cs typeface="Arial" pitchFamily="34" charset="-120"/>
              </a:rPr>
              <a:t>Books &amp; pays</a:t>
            </a:r>
            <a:endParaRPr lang="en-US" sz="2200" dirty="0"/>
          </a:p>
        </p:txBody>
      </p:sp>
      <p:sp>
        <p:nvSpPr>
          <p:cNvPr id="12" name="Text 9"/>
          <p:cNvSpPr/>
          <p:nvPr/>
        </p:nvSpPr>
        <p:spPr>
          <a:xfrm>
            <a:off x="1005840" y="4526280"/>
            <a:ext cx="3017520" cy="365760"/>
          </a:xfrm>
          <a:prstGeom prst="rect">
            <a:avLst/>
          </a:prstGeom>
          <a:noFill/>
          <a:ln/>
        </p:spPr>
        <p:txBody>
          <a:bodyPr wrap="square" lIns="0" tIns="0" rIns="0" bIns="0" rtlCol="0" anchor="ctr"/>
          <a:lstStyle/>
          <a:p>
            <a:pPr marL="0" indent="0">
              <a:buNone/>
            </a:pPr>
            <a:r>
              <a:rPr lang="en-US" sz="1250" dirty="0">
                <a:solidFill>
                  <a:srgbClr val="DCE6EF"/>
                </a:solidFill>
                <a:latin typeface="Arial" pitchFamily="34" charset="0"/>
                <a:ea typeface="Arial" pitchFamily="34" charset="-122"/>
                <a:cs typeface="Arial" pitchFamily="34" charset="-120"/>
              </a:rPr>
              <a:t>end-to-end, in-house</a:t>
            </a:r>
            <a:endParaRPr lang="en-US" sz="1250" dirty="0"/>
          </a:p>
        </p:txBody>
      </p:sp>
      <p:sp>
        <p:nvSpPr>
          <p:cNvPr id="13" name="Shape 10"/>
          <p:cNvSpPr/>
          <p:nvPr/>
        </p:nvSpPr>
        <p:spPr>
          <a:xfrm>
            <a:off x="4434840" y="3886200"/>
            <a:ext cx="3383280" cy="1097280"/>
          </a:xfrm>
          <a:prstGeom prst="roundRect">
            <a:avLst>
              <a:gd name="adj" fmla="val 8333"/>
            </a:avLst>
          </a:prstGeom>
          <a:solidFill>
            <a:srgbClr val="13395F"/>
          </a:solidFill>
          <a:ln w="12700">
            <a:solidFill>
              <a:srgbClr val="27496B"/>
            </a:solidFill>
            <a:prstDash val="solid"/>
          </a:ln>
        </p:spPr>
        <p:txBody>
          <a:bodyPr/>
          <a:lstStyle/>
          <a:p>
            <a:endParaRPr lang="en-US"/>
          </a:p>
        </p:txBody>
      </p:sp>
      <p:sp>
        <p:nvSpPr>
          <p:cNvPr id="14" name="Text 11"/>
          <p:cNvSpPr/>
          <p:nvPr/>
        </p:nvSpPr>
        <p:spPr>
          <a:xfrm>
            <a:off x="4663440" y="4023360"/>
            <a:ext cx="3017520" cy="502920"/>
          </a:xfrm>
          <a:prstGeom prst="rect">
            <a:avLst/>
          </a:prstGeom>
          <a:noFill/>
          <a:ln/>
        </p:spPr>
        <p:txBody>
          <a:bodyPr wrap="square" lIns="0" tIns="0" rIns="0" bIns="0" rtlCol="0" anchor="ctr"/>
          <a:lstStyle/>
          <a:p>
            <a:pPr marL="0" indent="0">
              <a:buNone/>
            </a:pPr>
            <a:r>
              <a:rPr lang="en-US" sz="2200" b="1" dirty="0">
                <a:solidFill>
                  <a:srgbClr val="E0A82E"/>
                </a:solidFill>
                <a:latin typeface="Arial" pitchFamily="34" charset="0"/>
                <a:ea typeface="Arial" pitchFamily="34" charset="-122"/>
                <a:cs typeface="Arial" pitchFamily="34" charset="-120"/>
              </a:rPr>
              <a:t>DIKW loop</a:t>
            </a:r>
            <a:endParaRPr lang="en-US" sz="2200" dirty="0"/>
          </a:p>
        </p:txBody>
      </p:sp>
      <p:sp>
        <p:nvSpPr>
          <p:cNvPr id="15" name="Text 12"/>
          <p:cNvSpPr/>
          <p:nvPr/>
        </p:nvSpPr>
        <p:spPr>
          <a:xfrm>
            <a:off x="4663440" y="4526280"/>
            <a:ext cx="3017520" cy="365760"/>
          </a:xfrm>
          <a:prstGeom prst="rect">
            <a:avLst/>
          </a:prstGeom>
          <a:noFill/>
          <a:ln/>
        </p:spPr>
        <p:txBody>
          <a:bodyPr wrap="square" lIns="0" tIns="0" rIns="0" bIns="0" rtlCol="0" anchor="ctr"/>
          <a:lstStyle/>
          <a:p>
            <a:pPr marL="0" indent="0">
              <a:buNone/>
            </a:pPr>
            <a:r>
              <a:rPr lang="en-US" sz="1250" dirty="0">
                <a:solidFill>
                  <a:srgbClr val="DCE6EF"/>
                </a:solidFill>
                <a:latin typeface="Arial" pitchFamily="34" charset="0"/>
                <a:ea typeface="Arial" pitchFamily="34" charset="-122"/>
                <a:cs typeface="Arial" pitchFamily="34" charset="-120"/>
              </a:rPr>
              <a:t>data to decisions</a:t>
            </a:r>
            <a:endParaRPr lang="en-US" sz="1250" dirty="0"/>
          </a:p>
        </p:txBody>
      </p:sp>
      <p:sp>
        <p:nvSpPr>
          <p:cNvPr id="16" name="Shape 13"/>
          <p:cNvSpPr/>
          <p:nvPr/>
        </p:nvSpPr>
        <p:spPr>
          <a:xfrm>
            <a:off x="8092440" y="3886200"/>
            <a:ext cx="3383280" cy="1097280"/>
          </a:xfrm>
          <a:prstGeom prst="roundRect">
            <a:avLst>
              <a:gd name="adj" fmla="val 8333"/>
            </a:avLst>
          </a:prstGeom>
          <a:solidFill>
            <a:srgbClr val="13395F"/>
          </a:solidFill>
          <a:ln w="12700">
            <a:solidFill>
              <a:srgbClr val="27496B"/>
            </a:solidFill>
            <a:prstDash val="solid"/>
          </a:ln>
        </p:spPr>
        <p:txBody>
          <a:bodyPr/>
          <a:lstStyle/>
          <a:p>
            <a:endParaRPr lang="en-US"/>
          </a:p>
        </p:txBody>
      </p:sp>
      <p:sp>
        <p:nvSpPr>
          <p:cNvPr id="17" name="Text 14"/>
          <p:cNvSpPr/>
          <p:nvPr/>
        </p:nvSpPr>
        <p:spPr>
          <a:xfrm>
            <a:off x="8321040" y="4023360"/>
            <a:ext cx="3017520" cy="502920"/>
          </a:xfrm>
          <a:prstGeom prst="rect">
            <a:avLst/>
          </a:prstGeom>
          <a:noFill/>
          <a:ln/>
        </p:spPr>
        <p:txBody>
          <a:bodyPr wrap="square" lIns="0" tIns="0" rIns="0" bIns="0" rtlCol="0" anchor="ctr"/>
          <a:lstStyle/>
          <a:p>
            <a:pPr marL="0" indent="0">
              <a:buNone/>
            </a:pPr>
            <a:r>
              <a:rPr lang="en-US" sz="2200" b="1" dirty="0">
                <a:solidFill>
                  <a:srgbClr val="E0A82E"/>
                </a:solidFill>
                <a:latin typeface="Arial" pitchFamily="34" charset="0"/>
                <a:ea typeface="Arial" pitchFamily="34" charset="-122"/>
                <a:cs typeface="Arial" pitchFamily="34" charset="-120"/>
              </a:rPr>
              <a:t>$4M–$5M</a:t>
            </a:r>
            <a:endParaRPr lang="en-US" sz="2200" dirty="0"/>
          </a:p>
        </p:txBody>
      </p:sp>
      <p:sp>
        <p:nvSpPr>
          <p:cNvPr id="18" name="Text 15"/>
          <p:cNvSpPr/>
          <p:nvPr/>
        </p:nvSpPr>
        <p:spPr>
          <a:xfrm>
            <a:off x="8321040" y="4526280"/>
            <a:ext cx="3017520" cy="365760"/>
          </a:xfrm>
          <a:prstGeom prst="rect">
            <a:avLst/>
          </a:prstGeom>
          <a:noFill/>
          <a:ln/>
        </p:spPr>
        <p:txBody>
          <a:bodyPr wrap="square" lIns="0" tIns="0" rIns="0" bIns="0" rtlCol="0" anchor="ctr"/>
          <a:lstStyle/>
          <a:p>
            <a:pPr marL="0" indent="0">
              <a:buNone/>
            </a:pPr>
            <a:r>
              <a:rPr lang="en-US" sz="1250" dirty="0">
                <a:solidFill>
                  <a:srgbClr val="DCE6EF"/>
                </a:solidFill>
                <a:latin typeface="Arial" pitchFamily="34" charset="0"/>
                <a:ea typeface="Arial" pitchFamily="34" charset="-122"/>
                <a:cs typeface="Arial" pitchFamily="34" charset="-120"/>
              </a:rPr>
              <a:t>modeled annual savings</a:t>
            </a:r>
            <a:endParaRPr lang="en-US" sz="1250" dirty="0"/>
          </a:p>
        </p:txBody>
      </p:sp>
      <p:sp>
        <p:nvSpPr>
          <p:cNvPr id="19" name="Shape 16"/>
          <p:cNvSpPr/>
          <p:nvPr/>
        </p:nvSpPr>
        <p:spPr>
          <a:xfrm>
            <a:off x="777240" y="5257800"/>
            <a:ext cx="10607040" cy="1005840"/>
          </a:xfrm>
          <a:prstGeom prst="roundRect">
            <a:avLst>
              <a:gd name="adj" fmla="val 9091"/>
            </a:avLst>
          </a:prstGeom>
          <a:solidFill>
            <a:srgbClr val="0E7C86"/>
          </a:solidFill>
          <a:ln/>
          <a:effectLst>
            <a:outerShdw blurRad="114300" dist="38100" dir="5400000" algn="bl" rotWithShape="0">
              <a:srgbClr val="0B2D4D">
                <a:alpha val="16000"/>
              </a:srgbClr>
            </a:outerShdw>
          </a:effectLst>
        </p:spPr>
        <p:txBody>
          <a:bodyPr/>
          <a:lstStyle/>
          <a:p>
            <a:r>
              <a:rPr lang="en-US" dirty="0"/>
              <a:t>`</a:t>
            </a:r>
          </a:p>
        </p:txBody>
      </p:sp>
      <p:sp>
        <p:nvSpPr>
          <p:cNvPr id="20" name="Text 17"/>
          <p:cNvSpPr/>
          <p:nvPr/>
        </p:nvSpPr>
        <p:spPr>
          <a:xfrm>
            <a:off x="1051560" y="5349240"/>
            <a:ext cx="10058400" cy="457200"/>
          </a:xfrm>
          <a:prstGeom prst="rect">
            <a:avLst/>
          </a:prstGeom>
          <a:noFill/>
          <a:ln/>
        </p:spPr>
        <p:txBody>
          <a:bodyPr wrap="square" lIns="0" tIns="0" rIns="0" bIns="0" rtlCol="0" anchor="ctr"/>
          <a:lstStyle/>
          <a:p>
            <a:r>
              <a:rPr lang="en-US" sz="1500" b="1" dirty="0">
                <a:solidFill>
                  <a:srgbClr val="FFFFFF"/>
                </a:solidFill>
                <a:latin typeface="Arial" pitchFamily="34" charset="0"/>
                <a:cs typeface="Arial" pitchFamily="34" charset="-120"/>
              </a:rPr>
              <a:t>Live demo:  </a:t>
            </a:r>
            <a:r>
              <a:rPr lang="en-US" sz="1500" b="1" dirty="0">
                <a:solidFill>
                  <a:srgbClr val="002060"/>
                </a:solidFill>
                <a:latin typeface="Arial" pitchFamily="34" charset="0"/>
                <a:cs typeface="Arial" pitchFamily="34" charset="-120"/>
                <a:hlinkClick r:id="rId4">
                  <a:extLst>
                    <a:ext uri="{A12FA001-AC4F-418D-AE19-62706E023703}">
                      <ahyp:hlinkClr xmlns:ahyp="http://schemas.microsoft.com/office/drawing/2018/hyperlinkcolor" val="tx"/>
                    </a:ext>
                  </a:extLst>
                </a:hlinkClick>
              </a:rPr>
              <a:t>Voyage Command</a:t>
            </a:r>
            <a:endParaRPr lang="en-US" sz="1500" b="1" dirty="0">
              <a:solidFill>
                <a:srgbClr val="002060"/>
              </a:solidFill>
              <a:latin typeface="Arial" pitchFamily="34" charset="0"/>
              <a:cs typeface="Arial" pitchFamily="34" charset="-120"/>
            </a:endParaRPr>
          </a:p>
          <a:p>
            <a:pPr marL="0" indent="0">
              <a:buNone/>
            </a:pPr>
            <a:endParaRPr lang="en-US" sz="1500" dirty="0"/>
          </a:p>
        </p:txBody>
      </p:sp>
      <p:sp>
        <p:nvSpPr>
          <p:cNvPr id="21" name="Text 18"/>
          <p:cNvSpPr/>
          <p:nvPr/>
        </p:nvSpPr>
        <p:spPr>
          <a:xfrm>
            <a:off x="1051560" y="5760720"/>
            <a:ext cx="10058400" cy="41148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Thank you.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928717D8D7CDF4DA62FD78C8B51D4BE" ma:contentTypeVersion="4" ma:contentTypeDescription="Create a new document." ma:contentTypeScope="" ma:versionID="280897ae1f14ea45e3003fc51032779a">
  <xsd:schema xmlns:xsd="http://www.w3.org/2001/XMLSchema" xmlns:xs="http://www.w3.org/2001/XMLSchema" xmlns:p="http://schemas.microsoft.com/office/2006/metadata/properties" xmlns:ns3="e3a14683-bc5e-4c2a-af21-543dcbb55feb" targetNamespace="http://schemas.microsoft.com/office/2006/metadata/properties" ma:root="true" ma:fieldsID="0f299904b6c661813af2642e8954bea8" ns3:_="">
    <xsd:import namespace="e3a14683-bc5e-4c2a-af21-543dcbb55feb"/>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a14683-bc5e-4c2a-af21-543dcbb55feb"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4067446-CC2B-44D0-89CF-4EB4E6FFDCF5}">
  <ds:schemaRefs>
    <ds:schemaRef ds:uri="http://schemas.microsoft.com/sharepoint/v3/contenttype/forms"/>
  </ds:schemaRefs>
</ds:datastoreItem>
</file>

<file path=customXml/itemProps2.xml><?xml version="1.0" encoding="utf-8"?>
<ds:datastoreItem xmlns:ds="http://schemas.openxmlformats.org/officeDocument/2006/customXml" ds:itemID="{22618052-DD42-4C67-91EA-F0C1CF74837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3a14683-bc5e-4c2a-af21-543dcbb55fe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3748C2-4BE6-413F-81D4-EC853FFC11D4}">
  <ds:schemaRefs>
    <ds:schemaRef ds:uri="http://purl.org/dc/elements/1.1/"/>
    <ds:schemaRef ds:uri="http://www.w3.org/XML/1998/namespace"/>
    <ds:schemaRef ds:uri="http://schemas.openxmlformats.org/package/2006/metadata/core-properties"/>
    <ds:schemaRef ds:uri="http://schemas.microsoft.com/office/infopath/2007/PartnerControls"/>
    <ds:schemaRef ds:uri="http://purl.org/dc/dcmitype/"/>
    <ds:schemaRef ds:uri="http://schemas.microsoft.com/office/2006/documentManagement/types"/>
    <ds:schemaRef ds:uri="http://purl.org/dc/terms/"/>
    <ds:schemaRef ds:uri="e3a14683-bc5e-4c2a-af21-543dcbb55feb"/>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76</TotalTime>
  <Words>3256</Words>
  <Application>Microsoft Office PowerPoint</Application>
  <PresentationFormat>Widescreen</PresentationFormat>
  <Paragraphs>365</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ABC Cruise Lines Decision Support System</dc:title>
  <dc:subject>PptxGenJS Presentation</dc:subject>
  <dc:creator>Team 1 — SSIE 510</dc:creator>
  <cp:lastModifiedBy>Mohammad El Frieh</cp:lastModifiedBy>
  <cp:revision>4</cp:revision>
  <dcterms:created xsi:type="dcterms:W3CDTF">2026-06-27T19:45:20Z</dcterms:created>
  <dcterms:modified xsi:type="dcterms:W3CDTF">2026-06-27T21:22:27Z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0x010100D928717D8D7CDF4DA62FD78C8B51D4BE</vt:lpwstr>
  </property>
</Properties>
</file>